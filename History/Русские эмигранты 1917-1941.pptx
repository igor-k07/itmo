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2C2C2C"/>
    <a:srgbClr val="8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30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73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20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65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57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69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83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87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512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7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169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36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4A2721C-545C-4AAB-9E33-669BD9A533DC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7FD8ACA6-EBAB-4952-9724-BB3DAC039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94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2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97D04-96A4-460D-94BC-091207830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5040" y="1500632"/>
            <a:ext cx="10073640" cy="1619504"/>
          </a:xfrm>
        </p:spPr>
        <p:txBody>
          <a:bodyPr/>
          <a:lstStyle/>
          <a:p>
            <a:r>
              <a:rPr lang="ru-RU" sz="6000" dirty="0"/>
              <a:t>Русские эмигранты 1917-1941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AD3170-F311-46CB-BEE3-8EAE9DC9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7760" y="3429000"/>
            <a:ext cx="3749040" cy="706120"/>
          </a:xfrm>
        </p:spPr>
        <p:txBody>
          <a:bodyPr/>
          <a:lstStyle/>
          <a:p>
            <a:r>
              <a:rPr lang="ru-RU" dirty="0"/>
              <a:t>Выполнил: Кучерявый И.Д. </a:t>
            </a:r>
            <a:r>
              <a:rPr lang="en-US" dirty="0"/>
              <a:t>P3109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650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142240"/>
            <a:ext cx="9486392" cy="122936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Абрикосов Дмитрий Иванович (1876 – 1951)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2754331"/>
            <a:ext cx="8257032" cy="3961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Происхождение: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b="0" i="0" dirty="0">
                <a:solidFill>
                  <a:srgbClr val="A50021"/>
                </a:solidFill>
                <a:effectLst/>
              </a:rPr>
              <a:t>Родился в знаменитой и богатой московской купеческой семье Абрикосовых, владельцев крупнейшей в России кондитерской фабрики (ныне концерн «Бабаевский»).</a:t>
            </a:r>
          </a:p>
          <a:p>
            <a:pPr>
              <a:lnSpc>
                <a:spcPct val="10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Карьера: 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Выпускник Александровского лицея. Поступил на службу в Министерство иностранных дел Российской Империи. Сделал блестящую карьеру дипломата.</a:t>
            </a:r>
          </a:p>
          <a:p>
            <a:pPr>
              <a:lnSpc>
                <a:spcPct val="10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Должность перед революцией: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К 1917 году занимал ответственные посты в центральном аппарате МИДа в Петрограде.</a:t>
            </a:r>
          </a:p>
          <a:p>
            <a:pPr>
              <a:lnSpc>
                <a:spcPct val="10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После 1917 года: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Не принял советскую власть, продолжил работу в белых правительствах.</a:t>
            </a:r>
            <a:endParaRPr lang="ru-RU" b="0" i="0" dirty="0">
              <a:solidFill>
                <a:srgbClr val="A50021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Биография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F9CDE44C-3D83-417A-88A7-5DC35C53B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377" y="939755"/>
            <a:ext cx="2908935" cy="467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061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142240"/>
            <a:ext cx="9486392" cy="122936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Абрикосов Дмитрий Иванович (1876 – 1951)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2754331"/>
            <a:ext cx="3685032" cy="396142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ru-RU" sz="2200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Участие в Белом движении:</a:t>
            </a:r>
            <a:r>
              <a:rPr lang="ru-RU" sz="2200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sz="2200" b="0" i="0" dirty="0">
                <a:solidFill>
                  <a:srgbClr val="A50021"/>
                </a:solidFill>
                <a:effectLst/>
              </a:rPr>
              <a:t>После Октябрьской революции 1917 года Дмитрий Иванович не признал власть большевиков и присоединился к Белому движению. Он служил в политических и дипломатических структурах Белых правительств</a:t>
            </a:r>
            <a:endParaRPr lang="ru-RU" b="0" i="0" dirty="0">
              <a:solidFill>
                <a:srgbClr val="A50021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3528818" y="1686559"/>
            <a:ext cx="5022596" cy="632968"/>
          </a:xfrm>
          <a:prstGeom prst="rect">
            <a:avLst/>
          </a:prstGeom>
          <a:effectLst>
            <a:softEdge rad="635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Причины Эмиграции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D98AC3A-0326-413C-982F-393950A762FE}"/>
              </a:ext>
            </a:extLst>
          </p:cNvPr>
          <p:cNvSpPr txBox="1">
            <a:spLocks/>
          </p:cNvSpPr>
          <p:nvPr/>
        </p:nvSpPr>
        <p:spPr>
          <a:xfrm>
            <a:off x="4197603" y="2754330"/>
            <a:ext cx="3685025" cy="27015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Противник советской власти: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Как убежденный монархист и государственник-имперец, он видел в большевизме угрозу исторической России и её традиционным ценностям.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D78DE33-905C-4A11-BFF2-14BC692F3DC2}"/>
              </a:ext>
            </a:extLst>
          </p:cNvPr>
          <p:cNvSpPr txBox="1">
            <a:spLocks/>
          </p:cNvSpPr>
          <p:nvPr/>
        </p:nvSpPr>
        <p:spPr>
          <a:xfrm>
            <a:off x="7994395" y="2754330"/>
            <a:ext cx="3685025" cy="39614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Поражение Белого движения:</a:t>
            </a:r>
            <a:r>
              <a:rPr lang="ru-RU" sz="2200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sz="2200" b="0" i="0" dirty="0">
                <a:solidFill>
                  <a:srgbClr val="A50021"/>
                </a:solidFill>
                <a:effectLst/>
              </a:rPr>
              <a:t>Эмиграция стала для него вынужденным шахом после разгрома армий адмирала Колчака и других белых сил на Дальнем Востоке в 1920 году. Он был вынужден бежать от наступающей Красной армии, чтобы избежать неминуемых репрессий.</a:t>
            </a:r>
            <a:endParaRPr lang="ru-RU" sz="2200" dirty="0">
              <a:solidFill>
                <a:srgbClr val="A50021"/>
              </a:solidFill>
            </a:endParaRPr>
          </a:p>
          <a:p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7036838-8A06-4C95-8242-3897DDDC783D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flipH="1">
            <a:off x="2140204" y="2319527"/>
            <a:ext cx="3899912" cy="434804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5C59161-FC89-4E2B-8461-7803449155F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040116" y="2319527"/>
            <a:ext cx="0" cy="434803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094763DC-EB6E-4454-A210-B2613DD9DFB7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40116" y="2319527"/>
            <a:ext cx="3796792" cy="434803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445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142240"/>
            <a:ext cx="9486392" cy="122936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Абрикосов Дмитрий Иванович (1876 – 1951)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2492249"/>
            <a:ext cx="8257032" cy="42235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Китай (Харбин):</a:t>
            </a:r>
            <a:r>
              <a:rPr lang="ru-RU" b="0" i="0" dirty="0">
                <a:solidFill>
                  <a:srgbClr val="A50021"/>
                </a:solidFill>
                <a:effectLst/>
              </a:rPr>
              <a:t> После поражения Белого движения эмигрировал в Китай, где осел в Харбине — крупном центре русской эмиграции на Дальнем Востоке. Прожил там около двух десятилетий.</a:t>
            </a:r>
            <a:endParaRPr lang="ru-RU" b="0" i="0" dirty="0">
              <a:solidFill>
                <a:srgbClr val="F9FAFB"/>
              </a:solidFill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b="0" i="0" dirty="0">
              <a:solidFill>
                <a:srgbClr val="F9FAFB"/>
              </a:solidFill>
              <a:effectLst/>
            </a:endParaRPr>
          </a:p>
          <a:p>
            <a:pPr algn="l">
              <a:lnSpc>
                <a:spcPct val="10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Япония (Токио):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В 1939 году переехал в Токио, где работал в посольстве </a:t>
            </a:r>
            <a:r>
              <a:rPr lang="ru-RU" b="0" i="0" dirty="0" err="1">
                <a:solidFill>
                  <a:srgbClr val="A50021"/>
                </a:solidFill>
                <a:effectLst/>
              </a:rPr>
              <a:t>Маньчжоу</a:t>
            </a:r>
            <a:r>
              <a:rPr lang="ru-RU" b="0" i="0" dirty="0">
                <a:solidFill>
                  <a:srgbClr val="A50021"/>
                </a:solidFill>
                <a:effectLst/>
              </a:rPr>
              <a:t>-го.</a:t>
            </a:r>
            <a:endParaRPr lang="en-US" b="0" i="0" dirty="0">
              <a:solidFill>
                <a:srgbClr val="F9FAFB"/>
              </a:solidFill>
              <a:effectLst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dirty="0">
              <a:solidFill>
                <a:srgbClr val="F9FAFB"/>
              </a:solidFill>
            </a:endParaRPr>
          </a:p>
          <a:p>
            <a:pPr>
              <a:lnSpc>
                <a:spcPct val="10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США (Сан-Франциско):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После Второй мировой войны, в 1946 году, перебрался в США, где и провел последние годы жизни.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rgbClr val="F9FAFB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В каких странах проживал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7974FAF-7DC7-43D6-93B5-66EAEAB81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0777" y="2187958"/>
            <a:ext cx="2018537" cy="134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58D2EA12-36A0-438A-97A9-3B214C9CD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0777" y="3857280"/>
            <a:ext cx="2019901" cy="134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CC5728B6-5A2B-45AC-84C6-60E9687BC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0777" y="5526602"/>
            <a:ext cx="2018331" cy="113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6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142240"/>
            <a:ext cx="9486392" cy="122936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Абрикосов Дмитрий Иванович (1876 – 1951)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3021331"/>
            <a:ext cx="7535672" cy="33388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Место погребения: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Дмитрий Иванович Абрикосов скончался 13 ноября 1951 года в Сан-Франциско, США.</a:t>
            </a:r>
          </a:p>
          <a:p>
            <a:pPr marL="0" indent="0">
              <a:lnSpc>
                <a:spcPct val="100000"/>
              </a:lnSpc>
              <a:buNone/>
            </a:pPr>
            <a:endParaRPr lang="ru-RU" b="0" i="0" dirty="0">
              <a:solidFill>
                <a:srgbClr val="A50021"/>
              </a:solidFill>
              <a:effectLst/>
            </a:endParaRPr>
          </a:p>
          <a:p>
            <a:pPr algn="l">
              <a:lnSpc>
                <a:spcPct val="10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Кладбище: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Он был похоронен на сербском участке исторического </a:t>
            </a:r>
            <a:r>
              <a:rPr lang="ru-RU" b="1" i="0" dirty="0">
                <a:solidFill>
                  <a:srgbClr val="A50021"/>
                </a:solidFill>
                <a:effectLst/>
              </a:rPr>
              <a:t>кладбища «Оливер Мемориал Парк» (</a:t>
            </a:r>
            <a:r>
              <a:rPr lang="ru-RU" b="1" i="0" dirty="0" err="1">
                <a:solidFill>
                  <a:srgbClr val="A50021"/>
                </a:solidFill>
                <a:effectLst/>
              </a:rPr>
              <a:t>Olivet</a:t>
            </a:r>
            <a:r>
              <a:rPr lang="ru-RU" b="1" i="0" dirty="0">
                <a:solidFill>
                  <a:srgbClr val="A50021"/>
                </a:solidFill>
                <a:effectLst/>
              </a:rPr>
              <a:t> </a:t>
            </a:r>
            <a:r>
              <a:rPr lang="ru-RU" b="1" i="0" dirty="0" err="1">
                <a:solidFill>
                  <a:srgbClr val="A50021"/>
                </a:solidFill>
                <a:effectLst/>
              </a:rPr>
              <a:t>Memorial</a:t>
            </a:r>
            <a:r>
              <a:rPr lang="ru-RU" b="1" i="0" dirty="0">
                <a:solidFill>
                  <a:srgbClr val="A50021"/>
                </a:solidFill>
                <a:effectLst/>
              </a:rPr>
              <a:t> Park)</a:t>
            </a:r>
            <a:r>
              <a:rPr lang="ru-RU" b="0" i="0" dirty="0">
                <a:solidFill>
                  <a:srgbClr val="A50021"/>
                </a:solidFill>
                <a:effectLst/>
              </a:rPr>
              <a:t> в </a:t>
            </a:r>
            <a:r>
              <a:rPr lang="ru-RU" b="0" i="0" dirty="0" err="1">
                <a:solidFill>
                  <a:srgbClr val="A50021"/>
                </a:solidFill>
                <a:effectLst/>
              </a:rPr>
              <a:t>Колме</a:t>
            </a:r>
            <a:r>
              <a:rPr lang="ru-RU" b="0" i="0" dirty="0">
                <a:solidFill>
                  <a:srgbClr val="A50021"/>
                </a:solidFill>
                <a:effectLst/>
              </a:rPr>
              <a:t>, пригороде Сан-Франциско. Его могила находится рядом с могилой другой известной фигуры русской эмиграции — генерала Викторина Молчанова.</a:t>
            </a:r>
            <a:endParaRPr lang="en-US" dirty="0">
              <a:solidFill>
                <a:srgbClr val="A5002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Где похоронен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E6EA8120-09ED-423E-9261-4D9564284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122677"/>
            <a:ext cx="3413760" cy="256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04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0"/>
            <a:ext cx="10228072" cy="147320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Долгополов Николай  </a:t>
            </a:r>
            <a:r>
              <a:rPr lang="ru-RU" sz="4400" dirty="0" err="1"/>
              <a:t>саввич</a:t>
            </a:r>
            <a:br>
              <a:rPr lang="ru-RU" sz="4400" dirty="0"/>
            </a:br>
            <a:r>
              <a:rPr lang="ru-RU" sz="4400" dirty="0"/>
              <a:t>(1876 – 1951)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2248408"/>
            <a:ext cx="8084312" cy="236118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Происхождение: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Из дворянской семьи</a:t>
            </a:r>
          </a:p>
          <a:p>
            <a:pPr>
              <a:lnSpc>
                <a:spcPct val="11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Образование: 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Получил классическое образование, окончил гимназию в Воронеже с серебряной медалью (1897). После нескольких переводов и исключений за участие в студенческих волнениях окончил медицинский факультет Московского университета (1906).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Биография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404A30C-7C40-47FF-9356-F6B923492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375" y="839241"/>
            <a:ext cx="3393585" cy="348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11B1E0-A123-4E2D-B441-D5D1DAE66516}"/>
              </a:ext>
            </a:extLst>
          </p:cNvPr>
          <p:cNvSpPr txBox="1"/>
          <p:nvPr/>
        </p:nvSpPr>
        <p:spPr>
          <a:xfrm>
            <a:off x="269240" y="4609592"/>
            <a:ext cx="113487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defTabSz="914400">
              <a:lnSpc>
                <a:spcPct val="11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ru-RU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Карьера в России: </a:t>
            </a:r>
            <a:r>
              <a:rPr lang="ru-RU" sz="2000" dirty="0">
                <a:solidFill>
                  <a:srgbClr val="A50021"/>
                </a:solidFill>
              </a:rPr>
              <a:t>Земский врач, депутат II Государственной думы от партии эсеров, основатель завода противогазов (1914), комиссар Временного правительства (1917).</a:t>
            </a:r>
          </a:p>
          <a:p>
            <a:pPr marL="182880" indent="-182880" defTabSz="914400">
              <a:lnSpc>
                <a:spcPct val="11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ru-RU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Общественная деятельность: </a:t>
            </a:r>
            <a:r>
              <a:rPr lang="ru-RU" sz="2000" dirty="0">
                <a:solidFill>
                  <a:srgbClr val="A50021"/>
                </a:solidFill>
              </a:rPr>
              <a:t>Активный участник русской эмиграции во Франции, председатель </a:t>
            </a:r>
            <a:r>
              <a:rPr lang="ru-RU" sz="2000" dirty="0" err="1">
                <a:solidFill>
                  <a:srgbClr val="A50021"/>
                </a:solidFill>
              </a:rPr>
              <a:t>Земгора</a:t>
            </a:r>
            <a:r>
              <a:rPr lang="ru-RU" sz="2000" dirty="0">
                <a:solidFill>
                  <a:srgbClr val="A50021"/>
                </a:solidFill>
              </a:rPr>
              <a:t>, организатор благотворительных учреждений. Кавалер ордена Почётного Легиона (1955).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896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48768"/>
            <a:ext cx="9486392" cy="145288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Долгополов Николай  </a:t>
            </a:r>
            <a:r>
              <a:rPr lang="ru-RU" sz="4400" dirty="0" err="1"/>
              <a:t>саввич</a:t>
            </a:r>
            <a:br>
              <a:rPr lang="ru-RU" sz="4400" dirty="0"/>
            </a:br>
            <a:r>
              <a:rPr lang="ru-RU" sz="4400" dirty="0"/>
              <a:t>(1876 – 1951)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1174" y="2754331"/>
            <a:ext cx="2436878" cy="39614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Участие в Белом движении: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b="0" i="0" dirty="0">
                <a:solidFill>
                  <a:srgbClr val="A50021"/>
                </a:solidFill>
                <a:effectLst/>
              </a:rPr>
              <a:t>Был активным участником Гражданской войны на стороне Белой армии. Участвовал в 1-м Кубанском «Ледяном» походе.</a:t>
            </a:r>
            <a:endParaRPr lang="ru-RU" dirty="0">
              <a:solidFill>
                <a:srgbClr val="A5002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3636262" y="1686559"/>
            <a:ext cx="5022596" cy="632968"/>
          </a:xfrm>
          <a:prstGeom prst="rect">
            <a:avLst/>
          </a:prstGeom>
          <a:effectLst>
            <a:softEdge rad="635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Причины Эмиграции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D98AC3A-0326-413C-982F-393950A762FE}"/>
              </a:ext>
            </a:extLst>
          </p:cNvPr>
          <p:cNvSpPr txBox="1">
            <a:spLocks/>
          </p:cNvSpPr>
          <p:nvPr/>
        </p:nvSpPr>
        <p:spPr>
          <a:xfrm>
            <a:off x="6221981" y="2797882"/>
            <a:ext cx="2436877" cy="3715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Поражение Белого движения: </a:t>
            </a:r>
            <a:r>
              <a:rPr lang="ru-RU" dirty="0">
                <a:solidFill>
                  <a:srgbClr val="A50021"/>
                </a:solidFill>
              </a:rPr>
              <a:t>После разгрома Белой армии в Крыму его эвакуация осенью 1920 года стала вынужденной мерой для спасения жизни.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D78DE33-905C-4A11-BFF2-14BC692F3DC2}"/>
              </a:ext>
            </a:extLst>
          </p:cNvPr>
          <p:cNvSpPr txBox="1">
            <a:spLocks/>
          </p:cNvSpPr>
          <p:nvPr/>
        </p:nvSpPr>
        <p:spPr>
          <a:xfrm>
            <a:off x="9234679" y="2795941"/>
            <a:ext cx="2436877" cy="3961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Бежал от репрессий: </a:t>
            </a:r>
            <a:r>
              <a:rPr lang="ru-RU" dirty="0">
                <a:solidFill>
                  <a:srgbClr val="A50021"/>
                </a:solidFill>
              </a:rPr>
              <a:t>Как видный деятель антибольшевистского движения, он неминуемо подвергся бы репрессиям в случае захвата Красной армией.</a:t>
            </a:r>
          </a:p>
          <a:p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7036838-8A06-4C95-8242-3897DDDC783D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flipH="1">
            <a:off x="1419613" y="2319527"/>
            <a:ext cx="4727947" cy="434804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5C59161-FC89-4E2B-8461-7803449155F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147560" y="2319527"/>
            <a:ext cx="1292860" cy="478355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094763DC-EB6E-4454-A210-B2613DD9DFB7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147560" y="2319527"/>
            <a:ext cx="4305558" cy="476414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бъект 2">
            <a:extLst>
              <a:ext uri="{FF2B5EF4-FFF2-40B4-BE49-F238E27FC236}">
                <a16:creationId xmlns:a16="http://schemas.microsoft.com/office/drawing/2014/main" id="{0758238B-A45D-4F4C-8CE2-69827B03F072}"/>
              </a:ext>
            </a:extLst>
          </p:cNvPr>
          <p:cNvSpPr txBox="1">
            <a:spLocks/>
          </p:cNvSpPr>
          <p:nvPr/>
        </p:nvSpPr>
        <p:spPr>
          <a:xfrm>
            <a:off x="3213872" y="2795942"/>
            <a:ext cx="2436878" cy="39614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Высокий пост у белых: </a:t>
            </a:r>
            <a:r>
              <a:rPr lang="ru-RU" dirty="0">
                <a:solidFill>
                  <a:srgbClr val="A50021"/>
                </a:solidFill>
              </a:rPr>
              <a:t>Занимал должность Министра народного здравоохранения в правительстве генерала А.И. Деникина (декабрь 1919 – март 1920).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B59F7B7A-6875-4044-A0FE-34B9AC17EFDF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 flipH="1">
            <a:off x="4432311" y="2319527"/>
            <a:ext cx="1715249" cy="476415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479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142240"/>
            <a:ext cx="9486392" cy="122936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Долгополов Николай  </a:t>
            </a:r>
            <a:r>
              <a:rPr lang="ru-RU" sz="4400" dirty="0" err="1"/>
              <a:t>саввич</a:t>
            </a:r>
            <a:br>
              <a:rPr lang="ru-RU" sz="4400" dirty="0"/>
            </a:br>
            <a:r>
              <a:rPr lang="ru-RU" sz="4400" dirty="0"/>
              <a:t>(1876 – 1951)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3091215"/>
            <a:ext cx="8257032" cy="42235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Турция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Крым</a:t>
            </a: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:</a:t>
            </a:r>
            <a:r>
              <a:rPr lang="ru-RU" b="0" i="0" dirty="0">
                <a:solidFill>
                  <a:srgbClr val="A50021"/>
                </a:solidFill>
                <a:effectLst/>
              </a:rPr>
              <a:t> Был </a:t>
            </a:r>
            <a:r>
              <a:rPr lang="ru-RU" b="0" i="0" dirty="0" err="1">
                <a:solidFill>
                  <a:srgbClr val="A50021"/>
                </a:solidFill>
                <a:effectLst/>
              </a:rPr>
              <a:t>эфакуирован</a:t>
            </a:r>
            <a:r>
              <a:rPr lang="ru-RU" b="0" i="0" dirty="0">
                <a:solidFill>
                  <a:srgbClr val="A50021"/>
                </a:solidFill>
                <a:effectLst/>
              </a:rPr>
              <a:t> из </a:t>
            </a:r>
            <a:r>
              <a:rPr lang="ru-RU" dirty="0">
                <a:solidFill>
                  <a:srgbClr val="A50021"/>
                </a:solidFill>
              </a:rPr>
              <a:t>К</a:t>
            </a:r>
            <a:r>
              <a:rPr lang="ru-RU" b="0" i="0" dirty="0">
                <a:solidFill>
                  <a:srgbClr val="A50021"/>
                </a:solidFill>
                <a:effectLst/>
              </a:rPr>
              <a:t>рыма в ноябре 1920 года</a:t>
            </a:r>
            <a:endParaRPr lang="ru-RU" b="0" i="0" dirty="0">
              <a:solidFill>
                <a:srgbClr val="F9FAFB"/>
              </a:solidFill>
              <a:effectLst/>
            </a:endParaRPr>
          </a:p>
          <a:p>
            <a:pPr>
              <a:lnSpc>
                <a:spcPct val="10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Франция(Париж и г. По)</a:t>
            </a: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dirty="0">
                <a:solidFill>
                  <a:srgbClr val="A50021"/>
                </a:solidFill>
              </a:rPr>
              <a:t>Основное место жизни в эмиграции. Проживал в Париже. Во время Второй мировой войны бежал из Парижа в город По, куда перевёл детскую колонию, продолжая управлять делами </a:t>
            </a:r>
            <a:r>
              <a:rPr lang="ru-RU" dirty="0" err="1">
                <a:solidFill>
                  <a:srgbClr val="A50021"/>
                </a:solidFill>
              </a:rPr>
              <a:t>Земгора</a:t>
            </a:r>
            <a:r>
              <a:rPr lang="ru-RU" dirty="0">
                <a:solidFill>
                  <a:srgbClr val="A50021"/>
                </a:solidFill>
              </a:rPr>
              <a:t>.</a:t>
            </a:r>
            <a:endParaRPr lang="en-US" dirty="0">
              <a:solidFill>
                <a:srgbClr val="A50021"/>
              </a:solidFill>
            </a:endParaRPr>
          </a:p>
          <a:p>
            <a:pPr>
              <a:lnSpc>
                <a:spcPct val="10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Франция (</a:t>
            </a:r>
            <a:r>
              <a:rPr lang="ru-RU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Кормей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-ан-</a:t>
            </a:r>
            <a:r>
              <a:rPr lang="ru-RU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Паризи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): </a:t>
            </a:r>
            <a:r>
              <a:rPr lang="ru-RU" dirty="0">
                <a:solidFill>
                  <a:srgbClr val="A50021"/>
                </a:solidFill>
              </a:rPr>
              <a:t>Последние годы жизни провёл в основанном им Русском доме для престарелых в пригороде Парижа, </a:t>
            </a:r>
            <a:r>
              <a:rPr lang="ru-RU" dirty="0" err="1">
                <a:solidFill>
                  <a:srgbClr val="A50021"/>
                </a:solidFill>
              </a:rPr>
              <a:t>Кормей</a:t>
            </a:r>
            <a:r>
              <a:rPr lang="ru-RU" dirty="0">
                <a:solidFill>
                  <a:srgbClr val="A50021"/>
                </a:solidFill>
              </a:rPr>
              <a:t>-ан-</a:t>
            </a:r>
            <a:r>
              <a:rPr lang="ru-RU" dirty="0" err="1">
                <a:solidFill>
                  <a:srgbClr val="A50021"/>
                </a:solidFill>
              </a:rPr>
              <a:t>Паризи</a:t>
            </a:r>
            <a:r>
              <a:rPr lang="ru-RU" dirty="0">
                <a:solidFill>
                  <a:srgbClr val="A50021"/>
                </a:solidFill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rgbClr val="F9FAFB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В каких странах проживал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58CC53F5-FB5E-49E3-93C2-F7B683FB8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202" y="2233168"/>
            <a:ext cx="3034030" cy="173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4BFEDB01-F11B-486B-9DFC-884801D58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3284" y="4307840"/>
            <a:ext cx="3028948" cy="2019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0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142240"/>
            <a:ext cx="9486392" cy="122936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Долгополов Николай  </a:t>
            </a:r>
            <a:r>
              <a:rPr lang="ru-RU" sz="4400" dirty="0" err="1"/>
              <a:t>саввич</a:t>
            </a:r>
            <a:br>
              <a:rPr lang="ru-RU" sz="4400" dirty="0"/>
            </a:br>
            <a:r>
              <a:rPr lang="ru-RU" sz="4400" dirty="0"/>
              <a:t>(1876 – 1951)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3021331"/>
            <a:ext cx="6021832" cy="1662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Последние годы жизни </a:t>
            </a:r>
            <a:r>
              <a:rPr lang="ru-RU" dirty="0">
                <a:solidFill>
                  <a:srgbClr val="A50021"/>
                </a:solidFill>
              </a:rPr>
              <a:t>провел в основанном им Русском доме в </a:t>
            </a:r>
            <a:r>
              <a:rPr lang="ru-RU" dirty="0" err="1">
                <a:solidFill>
                  <a:srgbClr val="A50021"/>
                </a:solidFill>
              </a:rPr>
              <a:t>Кормей</a:t>
            </a:r>
            <a:r>
              <a:rPr lang="ru-RU" dirty="0">
                <a:solidFill>
                  <a:srgbClr val="A50021"/>
                </a:solidFill>
              </a:rPr>
              <a:t>-ан-</a:t>
            </a:r>
            <a:r>
              <a:rPr lang="ru-RU" dirty="0" err="1">
                <a:solidFill>
                  <a:srgbClr val="A50021"/>
                </a:solidFill>
              </a:rPr>
              <a:t>Паризи</a:t>
            </a:r>
            <a:r>
              <a:rPr lang="ru-RU" dirty="0">
                <a:solidFill>
                  <a:srgbClr val="A5002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ru-RU" dirty="0">
              <a:solidFill>
                <a:srgbClr val="A50021"/>
              </a:solidFill>
            </a:endParaRPr>
          </a:p>
          <a:p>
            <a:pPr algn="l">
              <a:lnSpc>
                <a:spcPct val="10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Кладбище: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dirty="0">
                <a:solidFill>
                  <a:srgbClr val="A50021"/>
                </a:solidFill>
              </a:rPr>
              <a:t>Сент-Женевьев де </a:t>
            </a:r>
            <a:r>
              <a:rPr lang="ru-RU" dirty="0" err="1">
                <a:solidFill>
                  <a:srgbClr val="A50021"/>
                </a:solidFill>
              </a:rPr>
              <a:t>Буа</a:t>
            </a:r>
            <a:endParaRPr lang="en-US" dirty="0">
              <a:solidFill>
                <a:srgbClr val="A5002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Где похоронен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3029926D-5EEE-4731-89E2-95F35FF5C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2031365"/>
            <a:ext cx="4856480" cy="364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041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0"/>
            <a:ext cx="10228072" cy="147320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Пётр </a:t>
            </a:r>
            <a:r>
              <a:rPr lang="ru-RU" sz="4400" dirty="0" err="1"/>
              <a:t>николаевич</a:t>
            </a:r>
            <a:r>
              <a:rPr lang="ru-RU" sz="4400" dirty="0"/>
              <a:t> </a:t>
            </a:r>
            <a:r>
              <a:rPr lang="ru-RU" sz="4400" dirty="0" err="1"/>
              <a:t>врангель</a:t>
            </a:r>
            <a:br>
              <a:rPr lang="ru-RU" sz="4400" dirty="0"/>
            </a:br>
            <a:r>
              <a:rPr lang="ru-RU" sz="4400" dirty="0"/>
              <a:t>(1878 – 1928)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2248408"/>
            <a:ext cx="8470392" cy="429463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Происхождение: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r>
              <a:rPr lang="ru-RU" dirty="0">
                <a:solidFill>
                  <a:srgbClr val="A50021"/>
                </a:solidFill>
              </a:rPr>
              <a:t>Из знатного рода баронов Врангелей.</a:t>
            </a:r>
          </a:p>
          <a:p>
            <a:pPr>
              <a:lnSpc>
                <a:spcPct val="110000"/>
              </a:lnSpc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Образование: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dirty="0">
                <a:solidFill>
                  <a:srgbClr val="A50021"/>
                </a:solidFill>
              </a:rPr>
              <a:t>Окончил Горный институт (1901) и Николаевскую академию Генерального штаба (1910).</a:t>
            </a:r>
          </a:p>
          <a:p>
            <a:pPr>
              <a:lnSpc>
                <a:spcPct val="11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Военная карьера: </a:t>
            </a:r>
            <a:r>
              <a:rPr lang="ru-RU" dirty="0">
                <a:solidFill>
                  <a:srgbClr val="A50021"/>
                </a:solidFill>
              </a:rPr>
              <a:t>Участник Русско-японской и Первой мировой войн. Гвардейский кавалерист, георгиевский кавалер.</a:t>
            </a:r>
          </a:p>
          <a:p>
            <a:pPr>
              <a:lnSpc>
                <a:spcPct val="11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Роль в Гражданской войне: </a:t>
            </a:r>
            <a:r>
              <a:rPr lang="ru-RU" dirty="0">
                <a:solidFill>
                  <a:srgbClr val="A50021"/>
                </a:solidFill>
              </a:rPr>
              <a:t>Один из главных руководителей Белого движения на Юге России. Главнокомандующий Русской армией (1920).</a:t>
            </a:r>
          </a:p>
          <a:p>
            <a:pPr>
              <a:lnSpc>
                <a:spcPct val="11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Эмиграция: </a:t>
            </a:r>
            <a:r>
              <a:rPr lang="ru-RU" dirty="0">
                <a:solidFill>
                  <a:srgbClr val="A50021"/>
                </a:solidFill>
              </a:rPr>
              <a:t>Основатель и первый председатель Русского общевоинского союза (РОВС).</a:t>
            </a:r>
          </a:p>
          <a:p>
            <a:pPr>
              <a:lnSpc>
                <a:spcPct val="110000"/>
              </a:lnSpc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lnSpc>
                <a:spcPct val="110000"/>
              </a:lnSpc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lnSpc>
                <a:spcPct val="110000"/>
              </a:lnSpc>
            </a:pPr>
            <a:endParaRPr lang="ru-RU" dirty="0">
              <a:solidFill>
                <a:srgbClr val="A5002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Биография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923B7AE-F092-4F23-A533-AFDE7542A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682" y="2248408"/>
            <a:ext cx="2881630" cy="421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749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48768"/>
            <a:ext cx="9486392" cy="145288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Пётр </a:t>
            </a:r>
            <a:r>
              <a:rPr lang="ru-RU" sz="4400" dirty="0" err="1"/>
              <a:t>николаевич</a:t>
            </a:r>
            <a:r>
              <a:rPr lang="ru-RU" sz="4400" dirty="0"/>
              <a:t> </a:t>
            </a:r>
            <a:r>
              <a:rPr lang="ru-RU" sz="4400" dirty="0" err="1"/>
              <a:t>врангель</a:t>
            </a:r>
            <a:br>
              <a:rPr lang="ru-RU" sz="4400" dirty="0"/>
            </a:br>
            <a:r>
              <a:rPr lang="ru-RU" sz="4400" dirty="0"/>
              <a:t>(1878 – 1928)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1174" y="2754331"/>
            <a:ext cx="2436878" cy="3961429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Участие в Белом движении: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 </a:t>
            </a:r>
            <a:r>
              <a:rPr lang="ru-RU" dirty="0">
                <a:solidFill>
                  <a:srgbClr val="A50021"/>
                </a:solidFill>
              </a:rPr>
              <a:t>Один из ключевых командующих Добровольческой армией, а затем Главнокомандующий Вооруженными Силами Юга России (ВСЮР), переименованных в Русскую армию.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3636262" y="1686559"/>
            <a:ext cx="5022596" cy="632968"/>
          </a:xfrm>
          <a:prstGeom prst="rect">
            <a:avLst/>
          </a:prstGeom>
          <a:effectLst>
            <a:softEdge rad="635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Причины Эмиграции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D98AC3A-0326-413C-982F-393950A762FE}"/>
              </a:ext>
            </a:extLst>
          </p:cNvPr>
          <p:cNvSpPr txBox="1">
            <a:spLocks/>
          </p:cNvSpPr>
          <p:nvPr/>
        </p:nvSpPr>
        <p:spPr>
          <a:xfrm>
            <a:off x="6221981" y="2797882"/>
            <a:ext cx="2436877" cy="3715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Поражение в Гражданской войне: </a:t>
            </a:r>
            <a:r>
              <a:rPr lang="ru-RU" dirty="0">
                <a:solidFill>
                  <a:srgbClr val="A50021"/>
                </a:solidFill>
              </a:rPr>
              <a:t>После прорыва Красной армии на Перекопе осенью 1920 года организовал и возглавил масштабную эвакуацию Русской армии и гражданских лиц из Крыма.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D78DE33-905C-4A11-BFF2-14BC692F3DC2}"/>
              </a:ext>
            </a:extLst>
          </p:cNvPr>
          <p:cNvSpPr txBox="1">
            <a:spLocks/>
          </p:cNvSpPr>
          <p:nvPr/>
        </p:nvSpPr>
        <p:spPr>
          <a:xfrm>
            <a:off x="9234679" y="2795941"/>
            <a:ext cx="2436877" cy="3961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Бежал от репрессий: </a:t>
            </a:r>
            <a:r>
              <a:rPr lang="ru-RU" dirty="0">
                <a:solidFill>
                  <a:srgbClr val="A50021"/>
                </a:solidFill>
              </a:rPr>
              <a:t>Оставался заклятым врагом советской власти, возвращение на родину было невозможно и означало неминуемый расстрел.</a:t>
            </a:r>
          </a:p>
          <a:p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7036838-8A06-4C95-8242-3897DDDC783D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flipH="1">
            <a:off x="1419613" y="2319527"/>
            <a:ext cx="4727947" cy="434804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5C59161-FC89-4E2B-8461-7803449155F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147560" y="2319527"/>
            <a:ext cx="1292860" cy="478355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094763DC-EB6E-4454-A210-B2613DD9DFB7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147560" y="2319527"/>
            <a:ext cx="4305558" cy="476414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бъект 2">
            <a:extLst>
              <a:ext uri="{FF2B5EF4-FFF2-40B4-BE49-F238E27FC236}">
                <a16:creationId xmlns:a16="http://schemas.microsoft.com/office/drawing/2014/main" id="{0758238B-A45D-4F4C-8CE2-69827B03F072}"/>
              </a:ext>
            </a:extLst>
          </p:cNvPr>
          <p:cNvSpPr txBox="1">
            <a:spLocks/>
          </p:cNvSpPr>
          <p:nvPr/>
        </p:nvSpPr>
        <p:spPr>
          <a:xfrm>
            <a:off x="3213872" y="2795942"/>
            <a:ext cx="2436878" cy="39614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Непримиримый противник советской власти: </a:t>
            </a:r>
            <a:r>
              <a:rPr lang="ru-RU" dirty="0">
                <a:solidFill>
                  <a:srgbClr val="A50021"/>
                </a:solidFill>
              </a:rPr>
              <a:t>Боролся за свержение большевиков до конца.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B59F7B7A-6875-4044-A0FE-34B9AC17EFDF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 flipH="1">
            <a:off x="4432311" y="2319527"/>
            <a:ext cx="1715249" cy="476415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18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142240"/>
            <a:ext cx="9486392" cy="122936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Пётр </a:t>
            </a:r>
            <a:r>
              <a:rPr lang="ru-RU" sz="4400" dirty="0" err="1"/>
              <a:t>николаевич</a:t>
            </a:r>
            <a:r>
              <a:rPr lang="ru-RU" sz="4400" dirty="0"/>
              <a:t> </a:t>
            </a:r>
            <a:r>
              <a:rPr lang="ru-RU" sz="4400" dirty="0" err="1"/>
              <a:t>врангель</a:t>
            </a:r>
            <a:br>
              <a:rPr lang="ru-RU" sz="4400" dirty="0"/>
            </a:br>
            <a:r>
              <a:rPr lang="ru-RU" sz="4400" dirty="0"/>
              <a:t>(1878 – 1928)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2634488"/>
            <a:ext cx="8257032" cy="42235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Турция (Константинополь, Галлиполи): </a:t>
            </a:r>
            <a:r>
              <a:rPr lang="ru-RU" dirty="0">
                <a:solidFill>
                  <a:srgbClr val="A50021"/>
                </a:solidFill>
              </a:rPr>
              <a:t>После эвакуации из Крыма в ноябре 1920 года разместил остатки Русской армии в военных лагерях в Турции. Проживал в Константинополе.</a:t>
            </a:r>
          </a:p>
          <a:p>
            <a:pPr marL="0" indent="0">
              <a:lnSpc>
                <a:spcPct val="100000"/>
              </a:lnSpc>
              <a:buNone/>
            </a:pPr>
            <a:endParaRPr lang="ru-RU" dirty="0">
              <a:solidFill>
                <a:srgbClr val="A50021"/>
              </a:solidFill>
            </a:endParaRPr>
          </a:p>
          <a:p>
            <a:pPr algn="l"/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Королевство СХС (</a:t>
            </a:r>
            <a:r>
              <a:rPr lang="ru-RU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Сремски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ru-RU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Карловцы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): </a:t>
            </a:r>
            <a:r>
              <a:rPr lang="ru-RU" dirty="0">
                <a:solidFill>
                  <a:srgbClr val="A50021"/>
                </a:solidFill>
              </a:rPr>
              <a:t>После перевода армии в славянские страны переехал в Королевство сербов, хорватов и словенцев, которое стало центром русской военной эмиграции.</a:t>
            </a:r>
          </a:p>
          <a:p>
            <a:pPr marL="0" indent="0" algn="l">
              <a:buNone/>
            </a:pPr>
            <a:endParaRPr lang="ru-RU" dirty="0">
              <a:solidFill>
                <a:srgbClr val="A50021"/>
              </a:solidFill>
            </a:endParaRPr>
          </a:p>
          <a:p>
            <a:pPr algn="l"/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Бельгия (Брюссель): </a:t>
            </a:r>
            <a:r>
              <a:rPr lang="ru-RU" dirty="0">
                <a:solidFill>
                  <a:srgbClr val="A50021"/>
                </a:solidFill>
              </a:rPr>
              <a:t>В 1926 году переехал в Брюссель, где работал инженером и где скончался в 1928 году.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rgbClr val="F9FAFB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В каких странах проживал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58CC53F5-FB5E-49E3-93C2-F7B683FB8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436" y="1687949"/>
            <a:ext cx="2369820" cy="135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Picture background">
            <a:extLst>
              <a:ext uri="{FF2B5EF4-FFF2-40B4-BE49-F238E27FC236}">
                <a16:creationId xmlns:a16="http://schemas.microsoft.com/office/drawing/2014/main" id="{1AAE7B79-D645-4AAC-B066-349F94381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436" y="3276601"/>
            <a:ext cx="2369820" cy="157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Picture background">
            <a:extLst>
              <a:ext uri="{FF2B5EF4-FFF2-40B4-BE49-F238E27FC236}">
                <a16:creationId xmlns:a16="http://schemas.microsoft.com/office/drawing/2014/main" id="{BE8F9CFE-59D0-4E22-87BE-9A8CF8FDF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436" y="5090951"/>
            <a:ext cx="2369822" cy="157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2993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142240"/>
            <a:ext cx="9486392" cy="122936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Пётр </a:t>
            </a:r>
            <a:r>
              <a:rPr lang="ru-RU" sz="4400" dirty="0" err="1"/>
              <a:t>николаевич</a:t>
            </a:r>
            <a:r>
              <a:rPr lang="ru-RU" sz="4400" dirty="0"/>
              <a:t> </a:t>
            </a:r>
            <a:r>
              <a:rPr lang="ru-RU" sz="4400" dirty="0" err="1"/>
              <a:t>врангель</a:t>
            </a:r>
            <a:br>
              <a:rPr lang="ru-RU" sz="4400" dirty="0"/>
            </a:br>
            <a:r>
              <a:rPr lang="ru-RU" sz="4400" dirty="0"/>
              <a:t>(1878 – 1928)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2492248"/>
            <a:ext cx="7169912" cy="429463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Место погребения: </a:t>
            </a:r>
            <a:r>
              <a:rPr lang="ru-RU" dirty="0">
                <a:solidFill>
                  <a:srgbClr val="A50021"/>
                </a:solidFill>
              </a:rPr>
              <a:t>Пётр Николаевич Врангель скончался от туберкулёза 25 апреля 1928 года в Брюсселе, Бельгия.</a:t>
            </a:r>
          </a:p>
          <a:p>
            <a:pPr algn="l">
              <a:lnSpc>
                <a:spcPct val="10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История захоронения</a:t>
            </a:r>
            <a:r>
              <a:rPr lang="ru-RU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:</a:t>
            </a:r>
            <a:r>
              <a:rPr lang="ru-RU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 </a:t>
            </a:r>
            <a:endParaRPr lang="ru-RU" b="0" i="0" dirty="0">
              <a:solidFill>
                <a:srgbClr val="A50021"/>
              </a:solidFill>
              <a:effectLst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solidFill>
                  <a:srgbClr val="A50021"/>
                </a:solidFill>
              </a:rPr>
              <a:t>Первоначально похоронен на кладбище </a:t>
            </a:r>
            <a:r>
              <a:rPr lang="ru-RU" dirty="0" err="1">
                <a:solidFill>
                  <a:srgbClr val="A50021"/>
                </a:solidFill>
              </a:rPr>
              <a:t>Иксель</a:t>
            </a:r>
            <a:r>
              <a:rPr lang="ru-RU" dirty="0">
                <a:solidFill>
                  <a:srgbClr val="A50021"/>
                </a:solidFill>
              </a:rPr>
              <a:t> в Брюсселе (28.04.1928).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solidFill>
                  <a:srgbClr val="A50021"/>
                </a:solidFill>
              </a:rPr>
              <a:t>Затем его прах был перенесён на кладбище Сен-</a:t>
            </a:r>
            <a:r>
              <a:rPr lang="ru-RU" dirty="0" err="1">
                <a:solidFill>
                  <a:srgbClr val="A50021"/>
                </a:solidFill>
              </a:rPr>
              <a:t>Жилль</a:t>
            </a:r>
            <a:r>
              <a:rPr lang="ru-RU" dirty="0">
                <a:solidFill>
                  <a:srgbClr val="A50021"/>
                </a:solidFill>
              </a:rPr>
              <a:t> в Брюсселе (22.07.1928).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solidFill>
                  <a:srgbClr val="A50021"/>
                </a:solidFill>
              </a:rPr>
              <a:t>Окончательное место упокоения: 6 октября 1928 года гроб с телом Врангеля был торжественно перезахоронен в Белграде (Королевство СХС) в русской церкви Святой Троицы, где он находится и поныне.</a:t>
            </a:r>
          </a:p>
          <a:p>
            <a:pPr algn="l">
              <a:lnSpc>
                <a:spcPct val="100000"/>
              </a:lnSpc>
            </a:pPr>
            <a:endParaRPr lang="en-US" dirty="0">
              <a:solidFill>
                <a:srgbClr val="A5002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Где похоронен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C1A79FB5-C46B-491B-8931-E01A30DA4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400" y="2684780"/>
            <a:ext cx="4277360" cy="320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064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0"/>
            <a:ext cx="10228072" cy="147320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Сергей </a:t>
            </a:r>
            <a:r>
              <a:rPr lang="ru-RU" sz="4400" dirty="0" err="1"/>
              <a:t>степанович</a:t>
            </a:r>
            <a:r>
              <a:rPr lang="ru-RU" sz="4400" dirty="0"/>
              <a:t> </a:t>
            </a:r>
            <a:r>
              <a:rPr lang="ru-RU" sz="4400" dirty="0" err="1"/>
              <a:t>чахотин</a:t>
            </a:r>
            <a:br>
              <a:rPr lang="ru-RU" sz="4400" dirty="0"/>
            </a:br>
            <a:r>
              <a:rPr lang="ru-RU" sz="4400" dirty="0"/>
              <a:t>(1883 – 1973)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2248408"/>
            <a:ext cx="8470392" cy="429463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Образование: </a:t>
            </a:r>
            <a:r>
              <a:rPr lang="ru-RU" dirty="0">
                <a:solidFill>
                  <a:srgbClr val="A50021"/>
                </a:solidFill>
              </a:rPr>
              <a:t>Блестяще образованный ученый. Окончил гимназию с золотой медалью, учился в Московском университете. Доктор зоологии и философии </a:t>
            </a:r>
            <a:r>
              <a:rPr lang="ru-RU" dirty="0" err="1">
                <a:solidFill>
                  <a:srgbClr val="A50021"/>
                </a:solidFill>
              </a:rPr>
              <a:t>Гейдельбергского</a:t>
            </a:r>
            <a:r>
              <a:rPr lang="ru-RU" dirty="0">
                <a:solidFill>
                  <a:srgbClr val="A50021"/>
                </a:solidFill>
              </a:rPr>
              <a:t> университета (Германия).</a:t>
            </a:r>
          </a:p>
          <a:p>
            <a:pPr>
              <a:lnSpc>
                <a:spcPct val="120000"/>
              </a:lnSpc>
            </a:pPr>
            <a:r>
              <a:rPr lang="ru-RU" sz="21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Научная деятельность: </a:t>
            </a:r>
            <a:r>
              <a:rPr lang="ru-RU" sz="2100" dirty="0">
                <a:solidFill>
                  <a:srgbClr val="A50021"/>
                </a:solidFill>
              </a:rPr>
              <a:t>Биолог, физиолог, изобретатель. Работал с академиком И.П. Павловым. Создатель первого в мире микроманипулятора (1911) для операций на живой клетке.</a:t>
            </a:r>
          </a:p>
          <a:p>
            <a:pPr>
              <a:lnSpc>
                <a:spcPct val="120000"/>
              </a:lnSpc>
            </a:pPr>
            <a:r>
              <a:rPr lang="ru-RU" sz="21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Разносторонность: </a:t>
            </a:r>
            <a:r>
              <a:rPr lang="ru-RU" sz="2100" dirty="0">
                <a:solidFill>
                  <a:srgbClr val="A50021"/>
                </a:solidFill>
              </a:rPr>
              <a:t>Ученый-энциклопедист: занимался биологией, физиологией, биофизикой, а также был крупным специалистом по пропаганде и социальной психологии.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lnSpc>
                <a:spcPct val="110000"/>
              </a:lnSpc>
            </a:pP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lnSpc>
                <a:spcPct val="110000"/>
              </a:lnSpc>
            </a:pPr>
            <a:endParaRPr lang="ru-RU" dirty="0">
              <a:solidFill>
                <a:srgbClr val="A5002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Биография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D7A95E54-EE1A-41A6-84C6-4600BC18F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930" y="2248408"/>
            <a:ext cx="2867659" cy="370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449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48768"/>
            <a:ext cx="9486392" cy="145288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Сергей </a:t>
            </a:r>
            <a:r>
              <a:rPr lang="ru-RU" sz="4400" dirty="0" err="1"/>
              <a:t>степанович</a:t>
            </a:r>
            <a:r>
              <a:rPr lang="ru-RU" sz="4400" dirty="0"/>
              <a:t> </a:t>
            </a:r>
            <a:r>
              <a:rPr lang="ru-RU" sz="4400" dirty="0" err="1"/>
              <a:t>чахотин</a:t>
            </a:r>
            <a:br>
              <a:rPr lang="ru-RU" sz="4400" dirty="0"/>
            </a:br>
            <a:r>
              <a:rPr lang="ru-RU" sz="4400" dirty="0"/>
              <a:t>(1883 – 1973)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1174" y="2754331"/>
            <a:ext cx="3284218" cy="3961429"/>
          </a:xfrm>
        </p:spPr>
        <p:txBody>
          <a:bodyPr>
            <a:noAutofit/>
          </a:bodyPr>
          <a:lstStyle/>
          <a:p>
            <a:pPr algn="l"/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Участие в Белом движении: </a:t>
            </a:r>
            <a:r>
              <a:rPr lang="ru-RU" dirty="0">
                <a:solidFill>
                  <a:srgbClr val="A50021"/>
                </a:solidFill>
              </a:rPr>
              <a:t>Участник Гражданской войны на стороне Белой армии.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3792481" y="1715652"/>
            <a:ext cx="5022596" cy="632968"/>
          </a:xfrm>
          <a:prstGeom prst="rect">
            <a:avLst/>
          </a:prstGeom>
          <a:effectLst>
            <a:softEdge rad="635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Причины Эмиграции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D98AC3A-0326-413C-982F-393950A762FE}"/>
              </a:ext>
            </a:extLst>
          </p:cNvPr>
          <p:cNvSpPr txBox="1">
            <a:spLocks/>
          </p:cNvSpPr>
          <p:nvPr/>
        </p:nvSpPr>
        <p:spPr>
          <a:xfrm>
            <a:off x="4661670" y="2746112"/>
            <a:ext cx="3284218" cy="3715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Поражение Белого движения: </a:t>
            </a:r>
            <a:r>
              <a:rPr lang="ru-RU" dirty="0">
                <a:solidFill>
                  <a:srgbClr val="A50021"/>
                </a:solidFill>
              </a:rPr>
              <a:t>Эмиграция была прямым следствием военного поражения. В 1919 году он был вынужден эвакуироваться из Новороссийска вместе с отступающими белыми войсками и бежать от репрессий со стороны победивших большевиков.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D78DE33-905C-4A11-BFF2-14BC692F3DC2}"/>
              </a:ext>
            </a:extLst>
          </p:cNvPr>
          <p:cNvSpPr txBox="1">
            <a:spLocks/>
          </p:cNvSpPr>
          <p:nvPr/>
        </p:nvSpPr>
        <p:spPr>
          <a:xfrm>
            <a:off x="8387339" y="2795941"/>
            <a:ext cx="3284218" cy="3961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Изначально — политический эмигрант: </a:t>
            </a:r>
            <a:r>
              <a:rPr lang="ru-RU" dirty="0">
                <a:solidFill>
                  <a:srgbClr val="A50021"/>
                </a:solidFill>
              </a:rPr>
              <a:t>Первые годы за границей провел как противник советской власти.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7036838-8A06-4C95-8242-3897DDDC783D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flipH="1">
            <a:off x="1843283" y="2348620"/>
            <a:ext cx="4460496" cy="405711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5C59161-FC89-4E2B-8461-7803449155F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303779" y="2348620"/>
            <a:ext cx="0" cy="397492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094763DC-EB6E-4454-A210-B2613DD9DFB7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303779" y="2348620"/>
            <a:ext cx="3725669" cy="447321"/>
          </a:xfrm>
          <a:prstGeom prst="straightConnector1">
            <a:avLst/>
          </a:prstGeom>
          <a:ln w="44450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848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142240"/>
            <a:ext cx="9486392" cy="122936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Сергей </a:t>
            </a:r>
            <a:r>
              <a:rPr lang="ru-RU" sz="4400" dirty="0" err="1"/>
              <a:t>степанович</a:t>
            </a:r>
            <a:r>
              <a:rPr lang="ru-RU" sz="4400" dirty="0"/>
              <a:t> </a:t>
            </a:r>
            <a:r>
              <a:rPr lang="ru-RU" sz="4400" dirty="0" err="1"/>
              <a:t>чахотин</a:t>
            </a:r>
            <a:br>
              <a:rPr lang="ru-RU" sz="4400" dirty="0"/>
            </a:br>
            <a:r>
              <a:rPr lang="ru-RU" sz="4400" dirty="0"/>
              <a:t>(1883 – 1973)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2634488"/>
            <a:ext cx="7566152" cy="4036344"/>
          </a:xfrm>
        </p:spPr>
        <p:txBody>
          <a:bodyPr>
            <a:normAutofit/>
          </a:bodyPr>
          <a:lstStyle/>
          <a:p>
            <a:pPr algn="l"/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Королевство СХС (Югославия): </a:t>
            </a:r>
            <a:r>
              <a:rPr lang="ru-RU" dirty="0">
                <a:solidFill>
                  <a:srgbClr val="A50021"/>
                </a:solidFill>
              </a:rPr>
              <a:t>Загреб (преподавал в университете с 1920).</a:t>
            </a:r>
            <a:endParaRPr lang="ru-RU" dirty="0">
              <a:solidFill>
                <a:srgbClr val="F9FAFB"/>
              </a:solidFill>
            </a:endParaRPr>
          </a:p>
          <a:p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Монако: </a:t>
            </a:r>
            <a:r>
              <a:rPr lang="ru-RU" dirty="0">
                <a:solidFill>
                  <a:srgbClr val="A50021"/>
                </a:solidFill>
              </a:rPr>
              <a:t>Работал в Океанографическом музее.</a:t>
            </a:r>
          </a:p>
          <a:p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Германия: </a:t>
            </a:r>
            <a:r>
              <a:rPr lang="ru-RU" dirty="0">
                <a:solidFill>
                  <a:srgbClr val="A50021"/>
                </a:solidFill>
              </a:rPr>
              <a:t>Берлин, Гейдельберг.</a:t>
            </a:r>
          </a:p>
          <a:p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Италия: </a:t>
            </a:r>
            <a:r>
              <a:rPr lang="ru-RU" dirty="0">
                <a:solidFill>
                  <a:srgbClr val="A50021"/>
                </a:solidFill>
              </a:rPr>
              <a:t>Генуя.</a:t>
            </a:r>
          </a:p>
          <a:p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Дания</a:t>
            </a:r>
          </a:p>
          <a:p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Франция: </a:t>
            </a:r>
            <a:r>
              <a:rPr lang="ru-RU" dirty="0">
                <a:solidFill>
                  <a:srgbClr val="A50021"/>
                </a:solidFill>
              </a:rPr>
              <a:t>Париж (с 1934, участник Сопротивления).</a:t>
            </a:r>
          </a:p>
          <a:p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Италия: </a:t>
            </a:r>
            <a:r>
              <a:rPr lang="ru-RU" dirty="0">
                <a:solidFill>
                  <a:srgbClr val="A50021"/>
                </a:solidFill>
              </a:rPr>
              <a:t>С 1955 года.</a:t>
            </a:r>
          </a:p>
          <a:p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СССР: </a:t>
            </a:r>
            <a:r>
              <a:rPr lang="ru-RU" dirty="0">
                <a:solidFill>
                  <a:srgbClr val="A50021"/>
                </a:solidFill>
              </a:rPr>
              <a:t>Вернулся на родину в 1958 году и работал в Москве до конца жизни.</a:t>
            </a:r>
          </a:p>
          <a:p>
            <a:pPr algn="l"/>
            <a:endParaRPr lang="ru-RU" dirty="0">
              <a:solidFill>
                <a:srgbClr val="A5002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В каких странах проживал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198" name="Picture 6" descr="Picture background">
            <a:extLst>
              <a:ext uri="{FF2B5EF4-FFF2-40B4-BE49-F238E27FC236}">
                <a16:creationId xmlns:a16="http://schemas.microsoft.com/office/drawing/2014/main" id="{1AAE7B79-D645-4AAC-B066-349F94381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1956" y="2659888"/>
            <a:ext cx="1252364" cy="83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5812E901-6E84-4252-9310-A9C8634CE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197" y="5612900"/>
            <a:ext cx="1391515" cy="83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Picture background">
            <a:extLst>
              <a:ext uri="{FF2B5EF4-FFF2-40B4-BE49-F238E27FC236}">
                <a16:creationId xmlns:a16="http://schemas.microsoft.com/office/drawing/2014/main" id="{A9994EF1-8160-4F7B-9433-418F9037B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955" y="2709665"/>
            <a:ext cx="1391073" cy="83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icture background">
            <a:extLst>
              <a:ext uri="{FF2B5EF4-FFF2-40B4-BE49-F238E27FC236}">
                <a16:creationId xmlns:a16="http://schemas.microsoft.com/office/drawing/2014/main" id="{8589891E-77A5-4B20-8F83-04DC26047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8960" y="5539096"/>
            <a:ext cx="1336545" cy="89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Picture background">
            <a:extLst>
              <a:ext uri="{FF2B5EF4-FFF2-40B4-BE49-F238E27FC236}">
                <a16:creationId xmlns:a16="http://schemas.microsoft.com/office/drawing/2014/main" id="{5523E8DA-9B33-4B2B-9BAC-8D7145EDF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233" y="4016258"/>
            <a:ext cx="1781810" cy="1001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Picture background">
            <a:extLst>
              <a:ext uri="{FF2B5EF4-FFF2-40B4-BE49-F238E27FC236}">
                <a16:creationId xmlns:a16="http://schemas.microsoft.com/office/drawing/2014/main" id="{FA6D1CD8-0107-4414-83C4-945208982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158" y="4065653"/>
            <a:ext cx="1626870" cy="108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6" name="Picture 12" descr="Picture background">
            <a:extLst>
              <a:ext uri="{FF2B5EF4-FFF2-40B4-BE49-F238E27FC236}">
                <a16:creationId xmlns:a16="http://schemas.microsoft.com/office/drawing/2014/main" id="{FBE3481D-656C-4A0A-BDFA-803464743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633" y="3842327"/>
            <a:ext cx="2052320" cy="102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748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91000">
              <a:schemeClr val="tx1">
                <a:lumMod val="95000"/>
                <a:lumOff val="5000"/>
              </a:schemeClr>
            </a:gs>
            <a:gs pos="40000">
              <a:srgbClr val="2C2C2C"/>
            </a:gs>
            <a:gs pos="25000">
              <a:srgbClr val="860000"/>
            </a:gs>
            <a:gs pos="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6D7F4-8CFB-4213-80DE-5A89F0D5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8" y="142240"/>
            <a:ext cx="9486392" cy="1229360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ru-RU" sz="4400" dirty="0"/>
              <a:t>Пётр </a:t>
            </a:r>
            <a:r>
              <a:rPr lang="ru-RU" sz="4400" dirty="0" err="1"/>
              <a:t>николаевич</a:t>
            </a:r>
            <a:r>
              <a:rPr lang="ru-RU" sz="4400" dirty="0"/>
              <a:t> </a:t>
            </a:r>
            <a:r>
              <a:rPr lang="ru-RU" sz="4400" dirty="0" err="1"/>
              <a:t>врангель</a:t>
            </a:r>
            <a:br>
              <a:rPr lang="ru-RU" sz="4400" dirty="0"/>
            </a:br>
            <a:r>
              <a:rPr lang="ru-RU" sz="4400" dirty="0"/>
              <a:t>(1878 – 1928)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BA5FD-E2AF-4657-8B9D-7C91467F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688" y="2959609"/>
            <a:ext cx="7169912" cy="30957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Место погребения: </a:t>
            </a:r>
            <a:r>
              <a:rPr lang="ru-RU" dirty="0">
                <a:solidFill>
                  <a:srgbClr val="A50021"/>
                </a:solidFill>
              </a:rPr>
              <a:t>Скончался в 1973 году.</a:t>
            </a:r>
          </a:p>
          <a:p>
            <a:pPr>
              <a:lnSpc>
                <a:spcPct val="100000"/>
              </a:lnSpc>
            </a:pPr>
            <a:endParaRPr lang="ru-RU" dirty="0">
              <a:solidFill>
                <a:srgbClr val="A5002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ru-RU" dirty="0">
              <a:solidFill>
                <a:srgbClr val="A50021"/>
              </a:solidFill>
            </a:endParaRP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rgbClr val="A50021"/>
                </a:solidFill>
              </a:rPr>
              <a:t>Похоронен на острове Корсика (Франция).</a:t>
            </a: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rgbClr val="A50021"/>
                </a:solidFill>
              </a:rPr>
              <a:t>Прах был развеян, согласно его воле, что символизирует его связь с миром и свободой.</a:t>
            </a:r>
          </a:p>
          <a:p>
            <a:pPr>
              <a:lnSpc>
                <a:spcPct val="100000"/>
              </a:lnSpc>
            </a:pPr>
            <a:endParaRPr lang="ru-RU" dirty="0">
              <a:solidFill>
                <a:srgbClr val="A5002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2B3A6A-CB05-41ED-BFD9-E635F3DC9EE1}"/>
              </a:ext>
            </a:extLst>
          </p:cNvPr>
          <p:cNvSpPr txBox="1">
            <a:spLocks/>
          </p:cNvSpPr>
          <p:nvPr/>
        </p:nvSpPr>
        <p:spPr>
          <a:xfrm>
            <a:off x="297688" y="1615440"/>
            <a:ext cx="8084312" cy="632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• </a:t>
            </a:r>
            <a:r>
              <a:rPr lang="ru-RU" sz="3600" dirty="0">
                <a:solidFill>
                  <a:schemeClr val="tx1"/>
                </a:solidFill>
              </a:rPr>
              <a:t>Где похоронен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327FEA45-74C7-4A45-9797-6BC1FE21C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0491C233-DC24-4121-A876-C532D411B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1" y="2602865"/>
            <a:ext cx="4028757" cy="292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765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351</TotalTime>
  <Words>1321</Words>
  <Application>Microsoft Office PowerPoint</Application>
  <PresentationFormat>Широкоэкранный</PresentationFormat>
  <Paragraphs>102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Cambria</vt:lpstr>
      <vt:lpstr>quote-cjk-patch</vt:lpstr>
      <vt:lpstr>Rockwell</vt:lpstr>
      <vt:lpstr>Rockwell Condensed</vt:lpstr>
      <vt:lpstr>Wingdings</vt:lpstr>
      <vt:lpstr>Дерево</vt:lpstr>
      <vt:lpstr>Русские эмигранты 1917-1941</vt:lpstr>
      <vt:lpstr>Абрикосов Дмитрий Иванович (1876 – 1951)</vt:lpstr>
      <vt:lpstr>Абрикосов Дмитрий Иванович (1876 – 1951)</vt:lpstr>
      <vt:lpstr>Абрикосов Дмитрий Иванович (1876 – 1951)</vt:lpstr>
      <vt:lpstr>Абрикосов Дмитрий Иванович (1876 – 1951)</vt:lpstr>
      <vt:lpstr>Долгополов Николай  саввич (1876 – 1951)</vt:lpstr>
      <vt:lpstr>Долгополов Николай  саввич (1876 – 1951)</vt:lpstr>
      <vt:lpstr>Долгополов Николай  саввич (1876 – 1951)</vt:lpstr>
      <vt:lpstr>Долгополов Николай  саввич (1876 – 1951)</vt:lpstr>
      <vt:lpstr>Пётр николаевич врангель (1878 – 1928)</vt:lpstr>
      <vt:lpstr>Пётр николаевич врангель (1878 – 1928)</vt:lpstr>
      <vt:lpstr>Пётр николаевич врангель (1878 – 1928)</vt:lpstr>
      <vt:lpstr>Пётр николаевич врангель (1878 – 1928)</vt:lpstr>
      <vt:lpstr>Сергей степанович чахотин (1883 – 1973)</vt:lpstr>
      <vt:lpstr>Сергей степанович чахотин (1883 – 1973)</vt:lpstr>
      <vt:lpstr>Сергей степанович чахотин (1883 – 1973)</vt:lpstr>
      <vt:lpstr>Пётр николаевич врангель (1878 – 1928)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Игорь Кучерявый</dc:creator>
  <cp:lastModifiedBy>Игорь Кучерявый</cp:lastModifiedBy>
  <cp:revision>19</cp:revision>
  <dcterms:created xsi:type="dcterms:W3CDTF">2025-11-23T13:34:59Z</dcterms:created>
  <dcterms:modified xsi:type="dcterms:W3CDTF">2025-11-23T19:26:29Z</dcterms:modified>
</cp:coreProperties>
</file>