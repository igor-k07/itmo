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57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6A9E-A588-43AD-A050-F82ABEB49FE1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8EBE3-05E5-467F-9010-F69FB730731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7162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A8EBE3-05E5-467F-9010-F69FB730731B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6581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1A7A2-B428-421C-BD7E-E9CFE7BC50FC}" type="datetimeFigureOut">
              <a:rPr lang="ru-RU" smtClean="0"/>
              <a:pPr/>
              <a:t>02.03.2022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FEDD3-EC07-4A89-A829-5E832744D8A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980728"/>
            <a:ext cx="76328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smtClean="0">
                <a:solidFill>
                  <a:srgbClr val="FF0000"/>
                </a:solidFill>
              </a:rPr>
              <a:t>ДЗ </a:t>
            </a:r>
            <a:r>
              <a:rPr lang="ru-RU" sz="3600" b="1" dirty="0" smtClean="0">
                <a:solidFill>
                  <a:srgbClr val="FF0000"/>
                </a:solidFill>
              </a:rPr>
              <a:t>№</a:t>
            </a:r>
            <a:r>
              <a:rPr lang="en-US" sz="3600" b="1" smtClean="0">
                <a:solidFill>
                  <a:srgbClr val="FF0000"/>
                </a:solidFill>
              </a:rPr>
              <a:t>4</a:t>
            </a:r>
            <a:endParaRPr lang="ru-RU" sz="3600" b="1" dirty="0" smtClean="0">
              <a:solidFill>
                <a:srgbClr val="FF0000"/>
              </a:solidFill>
            </a:endParaRPr>
          </a:p>
          <a:p>
            <a:pPr algn="ctr"/>
            <a:r>
              <a:rPr lang="ru-RU" sz="3600" b="1" dirty="0" err="1" smtClean="0">
                <a:solidFill>
                  <a:srgbClr val="FF0000"/>
                </a:solidFill>
              </a:rPr>
              <a:t>Планаризация</a:t>
            </a:r>
            <a:r>
              <a:rPr lang="ru-RU" sz="3600" b="1" dirty="0" smtClean="0">
                <a:solidFill>
                  <a:srgbClr val="FF0000"/>
                </a:solidFill>
              </a:rPr>
              <a:t> графа</a:t>
            </a:r>
            <a:endParaRPr lang="ru-RU" sz="36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7544" y="2348880"/>
            <a:ext cx="84969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Граф называют </a:t>
            </a:r>
            <a:r>
              <a:rPr lang="ru-RU" sz="2800" b="1" dirty="0" smtClean="0">
                <a:solidFill>
                  <a:srgbClr val="FF0000"/>
                </a:solidFill>
              </a:rPr>
              <a:t>плоским</a:t>
            </a:r>
            <a:r>
              <a:rPr lang="ru-RU" sz="2800" dirty="0" smtClean="0"/>
              <a:t> тогда и только тогда, когда он  геометрически реализован на плоскости так, что все его ребра пересекаются только в вершинах графа.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536" y="4005064"/>
            <a:ext cx="83529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Граф называют </a:t>
            </a:r>
            <a:r>
              <a:rPr lang="ru-RU" sz="2800" b="1" dirty="0" smtClean="0">
                <a:solidFill>
                  <a:srgbClr val="FF0000"/>
                </a:solidFill>
              </a:rPr>
              <a:t>планарным</a:t>
            </a:r>
            <a:r>
              <a:rPr lang="ru-RU" sz="2800" dirty="0" smtClean="0"/>
              <a:t>, если он может быть геометрически реализован на плоскости без пересечения ребер.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7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Одной из основных топологических задач проектирования коммутации является возможность разложения соединений на плоскости без пересечений. Эта задача связана с определением планарности графа.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2873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Среди критериев планарности графа наиболее известен </a:t>
            </a:r>
            <a:r>
              <a:rPr lang="ru-RU" sz="2400" b="1" i="1" dirty="0"/>
              <a:t>критерий </a:t>
            </a:r>
            <a:r>
              <a:rPr lang="ru-RU" sz="2400" b="1" i="1" dirty="0" err="1"/>
              <a:t>Понтрягина-Куратовского</a:t>
            </a:r>
            <a:r>
              <a:rPr lang="ru-RU" sz="2400" dirty="0" smtClean="0"/>
              <a:t>: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14311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Граф</a:t>
            </a:r>
            <a:r>
              <a:rPr lang="ru-RU" sz="2400" i="1" dirty="0"/>
              <a:t> G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dirty="0"/>
              <a:t>, </a:t>
            </a:r>
            <a:r>
              <a:rPr lang="en-US" sz="2400" i="1" dirty="0"/>
              <a:t>U</a:t>
            </a:r>
            <a:r>
              <a:rPr lang="ru-RU" sz="2400" dirty="0"/>
              <a:t>) – </a:t>
            </a:r>
            <a:r>
              <a:rPr lang="ru-RU" sz="2400" dirty="0" err="1"/>
              <a:t>планарен</a:t>
            </a:r>
            <a:r>
              <a:rPr lang="ru-RU" sz="2400" dirty="0"/>
              <a:t> тогда и только тогда, когда он не содержит подграфов гомеоморфных полному графу </a:t>
            </a:r>
            <a:r>
              <a:rPr lang="ru-RU" sz="2400" i="1" dirty="0"/>
              <a:t>K</a:t>
            </a:r>
            <a:r>
              <a:rPr lang="ru-RU" sz="2400" i="1" baseline="-25000" dirty="0"/>
              <a:t>5</a:t>
            </a:r>
            <a:r>
              <a:rPr lang="ru-RU" sz="2400" dirty="0"/>
              <a:t> или полному двудольному графу </a:t>
            </a:r>
            <a:r>
              <a:rPr lang="ru-RU" sz="2400" i="1" dirty="0"/>
              <a:t>K</a:t>
            </a:r>
            <a:r>
              <a:rPr lang="ru-RU" sz="2400" i="1" baseline="-25000" dirty="0"/>
              <a:t>3,3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214686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Однако он неконструктивен (требует перебора). Известны другие критерии, но их также трудно использовать. Разработан ряд алгоритмов определения планарности графа удобных для реализации на ЭВМ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471488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/>
              <a:t>Критерий </a:t>
            </a:r>
            <a:r>
              <a:rPr lang="ru-RU" sz="2400" b="1" i="1" dirty="0" err="1"/>
              <a:t>Бадера</a:t>
            </a:r>
            <a:r>
              <a:rPr lang="ru-RU" sz="2400" i="1" dirty="0"/>
              <a:t>.</a:t>
            </a:r>
            <a:r>
              <a:rPr lang="ru-RU" sz="2400" dirty="0"/>
              <a:t> Граф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</a:t>
            </a:r>
            <a:r>
              <a:rPr lang="ru-RU" sz="2400" dirty="0"/>
              <a:t> </a:t>
            </a:r>
            <a:r>
              <a:rPr lang="ru-RU" sz="2400" dirty="0" err="1"/>
              <a:t>планарен</a:t>
            </a:r>
            <a:r>
              <a:rPr lang="ru-RU" sz="2400" dirty="0"/>
              <a:t>, если его граф пересечений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 является </a:t>
            </a:r>
            <a:r>
              <a:rPr lang="ru-RU" sz="2400" dirty="0" err="1"/>
              <a:t>бихроматическим</a:t>
            </a:r>
            <a:r>
              <a:rPr lang="ru-RU" sz="2400" dirty="0"/>
              <a:t> (двудольным) графом. Критерий справедлив для графов, имеющих гамильтонов цикл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429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Разбиение графа на планарные суграфы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5716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 разработке топологии возникает задача выделения из графа, описывающего схему, максимальных планарных суграфов (добавление любого ребра делает его </a:t>
            </a:r>
            <a:r>
              <a:rPr lang="ru-RU" sz="2400" dirty="0" smtClean="0"/>
              <a:t>не</a:t>
            </a:r>
            <a:r>
              <a:rPr lang="en-US" sz="2400" dirty="0" smtClean="0"/>
              <a:t> </a:t>
            </a:r>
            <a:r>
              <a:rPr lang="ru-RU" sz="2400" dirty="0" smtClean="0"/>
              <a:t>планарным).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428736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Граф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 </a:t>
            </a:r>
            <a:r>
              <a:rPr lang="ru-RU" sz="2400" dirty="0"/>
              <a:t>называется </a:t>
            </a:r>
            <a:r>
              <a:rPr lang="en-US" sz="2400" i="1" dirty="0"/>
              <a:t>m</a:t>
            </a:r>
            <a:r>
              <a:rPr lang="ru-RU" sz="2400" dirty="0"/>
              <a:t>-планарным, если существует </a:t>
            </a:r>
            <a:r>
              <a:rPr lang="en-US" sz="2400" i="1" dirty="0"/>
              <a:t>m</a:t>
            </a:r>
            <a:r>
              <a:rPr lang="ru-RU" sz="2400" dirty="0"/>
              <a:t> </a:t>
            </a:r>
            <a:r>
              <a:rPr lang="ru-RU" sz="2400" dirty="0" err="1" smtClean="0"/>
              <a:t>планар</a:t>
            </a:r>
            <a:r>
              <a:rPr lang="en-US" sz="2400" dirty="0" smtClean="0"/>
              <a:t>-</a:t>
            </a:r>
            <a:r>
              <a:rPr lang="ru-RU" sz="2400" dirty="0" err="1" smtClean="0"/>
              <a:t>ных</a:t>
            </a:r>
            <a:r>
              <a:rPr lang="ru-RU" sz="2400" dirty="0" smtClean="0"/>
              <a:t> </a:t>
            </a:r>
            <a:r>
              <a:rPr lang="ru-RU" sz="2400" dirty="0"/>
              <a:t>суграфов </a:t>
            </a:r>
            <a:r>
              <a:rPr lang="en-US" sz="2400" i="1" dirty="0"/>
              <a:t>L</a:t>
            </a:r>
            <a:r>
              <a:rPr lang="ru-RU" sz="2400" i="1" baseline="-25000" dirty="0"/>
              <a:t>1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Z</a:t>
            </a:r>
            <a:r>
              <a:rPr lang="ru-RU" sz="2400" i="1" baseline="-25000" dirty="0"/>
              <a:t>1</a:t>
            </a:r>
            <a:r>
              <a:rPr lang="ru-RU" sz="2400" i="1" dirty="0"/>
              <a:t>), </a:t>
            </a:r>
            <a:r>
              <a:rPr lang="en-US" sz="2400" i="1" dirty="0"/>
              <a:t>L</a:t>
            </a:r>
            <a:r>
              <a:rPr lang="ru-RU" sz="2400" i="1" baseline="-25000" dirty="0"/>
              <a:t>2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Z</a:t>
            </a:r>
            <a:r>
              <a:rPr lang="ru-RU" sz="2400" i="1" baseline="-25000" dirty="0"/>
              <a:t>2</a:t>
            </a:r>
            <a:r>
              <a:rPr lang="ru-RU" sz="2400" i="1" dirty="0"/>
              <a:t>),…, </a:t>
            </a:r>
            <a:r>
              <a:rPr lang="en-US" sz="2400" i="1" dirty="0"/>
              <a:t>L</a:t>
            </a:r>
            <a:r>
              <a:rPr lang="en-US" sz="2400" i="1" baseline="-25000" dirty="0"/>
              <a:t>m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 err="1"/>
              <a:t>Z</a:t>
            </a:r>
            <a:r>
              <a:rPr lang="en-US" sz="2400" i="1" baseline="-25000" dirty="0" err="1"/>
              <a:t>m</a:t>
            </a:r>
            <a:r>
              <a:rPr lang="ru-RU" sz="2400" i="1" dirty="0"/>
              <a:t>),</a:t>
            </a:r>
            <a:r>
              <a:rPr lang="ru-RU" sz="2400" dirty="0"/>
              <a:t> таких, что  </a:t>
            </a:r>
            <a:endParaRPr lang="en-US" sz="2400" dirty="0" smtClean="0"/>
          </a:p>
          <a:p>
            <a:r>
              <a:rPr lang="ru-RU" sz="2400" dirty="0" smtClean="0"/>
              <a:t>Наименьшее </a:t>
            </a:r>
            <a:r>
              <a:rPr lang="en-US" sz="2400" i="1" dirty="0"/>
              <a:t>m</a:t>
            </a:r>
            <a:r>
              <a:rPr lang="ru-RU" sz="2400" dirty="0"/>
              <a:t> называется </a:t>
            </a:r>
            <a:r>
              <a:rPr lang="ru-RU" sz="2400" i="1" dirty="0"/>
              <a:t>толщиной графа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296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9697" name="Object 1"/>
          <p:cNvGraphicFramePr>
            <a:graphicFrameLocks noChangeAspect="1"/>
          </p:cNvGraphicFramePr>
          <p:nvPr/>
        </p:nvGraphicFramePr>
        <p:xfrm>
          <a:off x="7000892" y="1714487"/>
          <a:ext cx="1214446" cy="827231"/>
        </p:xfrm>
        <a:graphic>
          <a:graphicData uri="http://schemas.openxmlformats.org/presentationml/2006/ole">
            <p:oleObj spid="_x0000_s29699" name="Формула" r:id="rId4" imgW="647700" imgH="431800" progId="Equation.3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0" y="257174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Построение графа пересечений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r>
              <a:rPr lang="ru-RU" sz="2400" b="1" i="1" dirty="0" smtClean="0">
                <a:solidFill>
                  <a:srgbClr val="FF0000"/>
                </a:solidFill>
              </a:rPr>
              <a:t>’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3000372"/>
            <a:ext cx="9144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ru-RU" sz="2400" dirty="0"/>
              <a:t>Приняты следующие допущения: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Граф </a:t>
            </a:r>
            <a:r>
              <a:rPr lang="en-US" sz="2400" i="1" dirty="0"/>
              <a:t>G</a:t>
            </a:r>
            <a:r>
              <a:rPr lang="ru-RU" sz="2400" dirty="0"/>
              <a:t> имеет гамильтонов цикл;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Два ребра пересекаются только один раз;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Ребра, инцидентные одной вершине, не пересекаются;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Ребра графа не пересекают ребер гамильтонова цикла;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sz="2400" dirty="0"/>
              <a:t>Ребра вершины </a:t>
            </a:r>
            <a:r>
              <a:rPr lang="ru-RU" sz="2400" i="1" dirty="0" err="1"/>
              <a:t>х</a:t>
            </a:r>
            <a:r>
              <a:rPr lang="en-US" sz="2400" i="1" baseline="-25000" dirty="0"/>
              <a:t>j</a:t>
            </a:r>
            <a:r>
              <a:rPr lang="ru-RU" sz="2400" dirty="0"/>
              <a:t> могут пересекать ребра вершины</a:t>
            </a:r>
            <a:r>
              <a:rPr lang="ru-RU" sz="2400" i="1" dirty="0"/>
              <a:t> 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 при условии, что </a:t>
            </a:r>
            <a:r>
              <a:rPr lang="ru-RU" sz="2400" i="1" dirty="0" smtClean="0"/>
              <a:t> </a:t>
            </a:r>
            <a:r>
              <a:rPr lang="en-US" sz="2400" i="1" dirty="0"/>
              <a:t>j</a:t>
            </a:r>
            <a:r>
              <a:rPr lang="ru-RU" sz="2400" i="1" dirty="0"/>
              <a:t> &gt;</a:t>
            </a:r>
            <a:r>
              <a:rPr lang="en-US" sz="2400" i="1" dirty="0" err="1"/>
              <a:t>i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78645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Рассмотрим некоторый граф </a:t>
            </a:r>
            <a:r>
              <a:rPr lang="en-US" sz="2400" i="1" dirty="0"/>
              <a:t>G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0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3" name="Group 1"/>
          <p:cNvGrpSpPr>
            <a:grpSpLocks noChangeAspect="1"/>
          </p:cNvGrpSpPr>
          <p:nvPr/>
        </p:nvGrpSpPr>
        <p:grpSpPr bwMode="auto">
          <a:xfrm>
            <a:off x="-714412" y="0"/>
            <a:ext cx="6013314" cy="2714620"/>
            <a:chOff x="2413" y="5794"/>
            <a:chExt cx="5803" cy="3031"/>
          </a:xfrm>
        </p:grpSpPr>
        <p:sp>
          <p:nvSpPr>
            <p:cNvPr id="28674" name="AutoShape 2"/>
            <p:cNvSpPr>
              <a:spLocks noChangeAspect="1" noChangeArrowheads="1"/>
            </p:cNvSpPr>
            <p:nvPr/>
          </p:nvSpPr>
          <p:spPr bwMode="auto">
            <a:xfrm>
              <a:off x="2413" y="5794"/>
              <a:ext cx="5803" cy="303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75" name="Line 3"/>
            <p:cNvSpPr>
              <a:spLocks noChangeShapeType="1"/>
            </p:cNvSpPr>
            <p:nvPr/>
          </p:nvSpPr>
          <p:spPr bwMode="auto">
            <a:xfrm>
              <a:off x="5903" y="6128"/>
              <a:ext cx="588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76" name="Line 4"/>
            <p:cNvSpPr>
              <a:spLocks noChangeShapeType="1"/>
            </p:cNvSpPr>
            <p:nvPr/>
          </p:nvSpPr>
          <p:spPr bwMode="auto">
            <a:xfrm flipV="1">
              <a:off x="4791" y="6194"/>
              <a:ext cx="507" cy="1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>
              <a:off x="7042" y="6577"/>
              <a:ext cx="211" cy="3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 flipH="1">
              <a:off x="7323" y="7548"/>
              <a:ext cx="7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79" name="Line 7"/>
            <p:cNvSpPr>
              <a:spLocks noChangeShapeType="1"/>
            </p:cNvSpPr>
            <p:nvPr/>
          </p:nvSpPr>
          <p:spPr bwMode="auto">
            <a:xfrm flipH="1">
              <a:off x="4009" y="6718"/>
              <a:ext cx="309" cy="3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3783" y="7528"/>
              <a:ext cx="87" cy="44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5790" y="6369"/>
              <a:ext cx="1295" cy="1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2" name="Line 10"/>
            <p:cNvSpPr>
              <a:spLocks noChangeShapeType="1"/>
            </p:cNvSpPr>
            <p:nvPr/>
          </p:nvSpPr>
          <p:spPr bwMode="auto">
            <a:xfrm flipH="1">
              <a:off x="4180" y="6464"/>
              <a:ext cx="1316" cy="15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3" name="Line 11"/>
            <p:cNvSpPr>
              <a:spLocks noChangeShapeType="1"/>
            </p:cNvSpPr>
            <p:nvPr/>
          </p:nvSpPr>
          <p:spPr bwMode="auto">
            <a:xfrm flipH="1">
              <a:off x="4238" y="6718"/>
              <a:ext cx="2454" cy="14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4" name="Line 12"/>
            <p:cNvSpPr>
              <a:spLocks noChangeShapeType="1"/>
            </p:cNvSpPr>
            <p:nvPr/>
          </p:nvSpPr>
          <p:spPr bwMode="auto">
            <a:xfrm>
              <a:off x="4685" y="6768"/>
              <a:ext cx="2252" cy="14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5" name="Line 13"/>
            <p:cNvSpPr>
              <a:spLocks noChangeShapeType="1"/>
            </p:cNvSpPr>
            <p:nvPr/>
          </p:nvSpPr>
          <p:spPr bwMode="auto">
            <a:xfrm flipH="1">
              <a:off x="4009" y="6798"/>
              <a:ext cx="433" cy="115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6" name="Line 14"/>
            <p:cNvSpPr>
              <a:spLocks noChangeShapeType="1"/>
            </p:cNvSpPr>
            <p:nvPr/>
          </p:nvSpPr>
          <p:spPr bwMode="auto">
            <a:xfrm>
              <a:off x="4136" y="7426"/>
              <a:ext cx="294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7" name="Line 15"/>
            <p:cNvSpPr>
              <a:spLocks noChangeShapeType="1"/>
            </p:cNvSpPr>
            <p:nvPr/>
          </p:nvSpPr>
          <p:spPr bwMode="auto">
            <a:xfrm>
              <a:off x="5883" y="6293"/>
              <a:ext cx="1202" cy="7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8" name="Line 16"/>
            <p:cNvSpPr>
              <a:spLocks noChangeShapeType="1"/>
            </p:cNvSpPr>
            <p:nvPr/>
          </p:nvSpPr>
          <p:spPr bwMode="auto">
            <a:xfrm>
              <a:off x="6829" y="6718"/>
              <a:ext cx="354" cy="12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89" name="Line 17"/>
            <p:cNvSpPr>
              <a:spLocks noChangeShapeType="1"/>
            </p:cNvSpPr>
            <p:nvPr/>
          </p:nvSpPr>
          <p:spPr bwMode="auto">
            <a:xfrm flipH="1">
              <a:off x="4136" y="6369"/>
              <a:ext cx="1229" cy="8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90" name="Line 18"/>
            <p:cNvSpPr>
              <a:spLocks noChangeShapeType="1"/>
            </p:cNvSpPr>
            <p:nvPr/>
          </p:nvSpPr>
          <p:spPr bwMode="auto">
            <a:xfrm flipV="1">
              <a:off x="4250" y="8379"/>
              <a:ext cx="268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91" name="Line 19"/>
            <p:cNvSpPr>
              <a:spLocks noChangeShapeType="1"/>
            </p:cNvSpPr>
            <p:nvPr/>
          </p:nvSpPr>
          <p:spPr bwMode="auto">
            <a:xfrm flipH="1">
              <a:off x="4180" y="6642"/>
              <a:ext cx="2391" cy="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92" name="Line 20"/>
            <p:cNvSpPr>
              <a:spLocks noChangeShapeType="1"/>
            </p:cNvSpPr>
            <p:nvPr/>
          </p:nvSpPr>
          <p:spPr bwMode="auto">
            <a:xfrm flipH="1" flipV="1">
              <a:off x="4009" y="7528"/>
              <a:ext cx="2902" cy="76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93" name="Line 21"/>
            <p:cNvSpPr>
              <a:spLocks noChangeShapeType="1"/>
            </p:cNvSpPr>
            <p:nvPr/>
          </p:nvSpPr>
          <p:spPr bwMode="auto">
            <a:xfrm>
              <a:off x="4811" y="6642"/>
              <a:ext cx="2231" cy="54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sp>
          <p:nvSpPr>
            <p:cNvPr id="28694" name="Line 22"/>
            <p:cNvSpPr>
              <a:spLocks noChangeShapeType="1"/>
            </p:cNvSpPr>
            <p:nvPr/>
          </p:nvSpPr>
          <p:spPr bwMode="auto">
            <a:xfrm flipH="1">
              <a:off x="4270" y="7548"/>
              <a:ext cx="2943" cy="7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  <p:grpSp>
          <p:nvGrpSpPr>
            <p:cNvPr id="28695" name="Group 23"/>
            <p:cNvGrpSpPr>
              <a:grpSpLocks/>
            </p:cNvGrpSpPr>
            <p:nvPr/>
          </p:nvGrpSpPr>
          <p:grpSpPr bwMode="auto">
            <a:xfrm>
              <a:off x="4136" y="6128"/>
              <a:ext cx="835" cy="750"/>
              <a:chOff x="3976" y="6128"/>
              <a:chExt cx="835" cy="750"/>
            </a:xfrm>
          </p:grpSpPr>
          <p:sp>
            <p:nvSpPr>
              <p:cNvPr id="28696" name="Oval 24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697" name="Text Box 25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n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698" name="Group 26"/>
            <p:cNvGrpSpPr>
              <a:grpSpLocks/>
            </p:cNvGrpSpPr>
            <p:nvPr/>
          </p:nvGrpSpPr>
          <p:grpSpPr bwMode="auto">
            <a:xfrm>
              <a:off x="5196" y="5794"/>
              <a:ext cx="835" cy="750"/>
              <a:chOff x="3976" y="6128"/>
              <a:chExt cx="835" cy="750"/>
            </a:xfrm>
          </p:grpSpPr>
          <p:sp>
            <p:nvSpPr>
              <p:cNvPr id="28699" name="Oval 27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00" name="Text Box 28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1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701" name="Group 29"/>
            <p:cNvGrpSpPr>
              <a:grpSpLocks/>
            </p:cNvGrpSpPr>
            <p:nvPr/>
          </p:nvGrpSpPr>
          <p:grpSpPr bwMode="auto">
            <a:xfrm>
              <a:off x="6378" y="6048"/>
              <a:ext cx="835" cy="750"/>
              <a:chOff x="3976" y="6128"/>
              <a:chExt cx="835" cy="750"/>
            </a:xfrm>
          </p:grpSpPr>
          <p:sp>
            <p:nvSpPr>
              <p:cNvPr id="28702" name="Oval 30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03" name="Text Box 31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2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704" name="Group 32"/>
            <p:cNvGrpSpPr>
              <a:grpSpLocks/>
            </p:cNvGrpSpPr>
            <p:nvPr/>
          </p:nvGrpSpPr>
          <p:grpSpPr bwMode="auto">
            <a:xfrm>
              <a:off x="6937" y="6878"/>
              <a:ext cx="835" cy="750"/>
              <a:chOff x="3976" y="6128"/>
              <a:chExt cx="835" cy="750"/>
            </a:xfrm>
          </p:grpSpPr>
          <p:sp>
            <p:nvSpPr>
              <p:cNvPr id="28705" name="Oval 33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06" name="Text Box 34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3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707" name="Group 35"/>
            <p:cNvGrpSpPr>
              <a:grpSpLocks/>
            </p:cNvGrpSpPr>
            <p:nvPr/>
          </p:nvGrpSpPr>
          <p:grpSpPr bwMode="auto">
            <a:xfrm>
              <a:off x="6809" y="7941"/>
              <a:ext cx="835" cy="750"/>
              <a:chOff x="3976" y="6128"/>
              <a:chExt cx="835" cy="750"/>
            </a:xfrm>
          </p:grpSpPr>
          <p:sp>
            <p:nvSpPr>
              <p:cNvPr id="28708" name="Oval 36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09" name="Text Box 37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4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710" name="Group 38"/>
            <p:cNvGrpSpPr>
              <a:grpSpLocks/>
            </p:cNvGrpSpPr>
            <p:nvPr/>
          </p:nvGrpSpPr>
          <p:grpSpPr bwMode="auto">
            <a:xfrm>
              <a:off x="3473" y="6874"/>
              <a:ext cx="835" cy="750"/>
              <a:chOff x="3976" y="6128"/>
              <a:chExt cx="835" cy="750"/>
            </a:xfrm>
          </p:grpSpPr>
          <p:sp>
            <p:nvSpPr>
              <p:cNvPr id="28711" name="Oval 39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12" name="Text Box 40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n-1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grpSp>
          <p:nvGrpSpPr>
            <p:cNvPr id="28713" name="Group 41"/>
            <p:cNvGrpSpPr>
              <a:grpSpLocks/>
            </p:cNvGrpSpPr>
            <p:nvPr/>
          </p:nvGrpSpPr>
          <p:grpSpPr bwMode="auto">
            <a:xfrm>
              <a:off x="3563" y="7887"/>
              <a:ext cx="835" cy="750"/>
              <a:chOff x="3976" y="6128"/>
              <a:chExt cx="835" cy="750"/>
            </a:xfrm>
          </p:grpSpPr>
          <p:sp>
            <p:nvSpPr>
              <p:cNvPr id="28714" name="Oval 42"/>
              <p:cNvSpPr>
                <a:spLocks noChangeArrowheads="1"/>
              </p:cNvSpPr>
              <p:nvPr/>
            </p:nvSpPr>
            <p:spPr bwMode="auto">
              <a:xfrm>
                <a:off x="4078" y="6194"/>
                <a:ext cx="605" cy="604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000"/>
              </a:p>
            </p:txBody>
          </p:sp>
          <p:sp>
            <p:nvSpPr>
              <p:cNvPr id="28715" name="Text Box 43"/>
              <p:cNvSpPr txBox="1">
                <a:spLocks noChangeArrowheads="1"/>
              </p:cNvSpPr>
              <p:nvPr/>
            </p:nvSpPr>
            <p:spPr bwMode="auto">
              <a:xfrm>
                <a:off x="3976" y="6128"/>
                <a:ext cx="835" cy="750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</a:rPr>
                  <a:t> </a:t>
                </a:r>
                <a:r>
                  <a:rPr kumimoji="0" lang="en-US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  </a:t>
                </a:r>
                <a:r>
                  <a:rPr kumimoji="0" lang="ru-RU" sz="20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en-US" sz="20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n-2</a:t>
                </a:r>
                <a:endParaRPr kumimoji="0" lang="ru-RU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</p:grpSp>
        <p:sp>
          <p:nvSpPr>
            <p:cNvPr id="28716" name="Line 44"/>
            <p:cNvSpPr>
              <a:spLocks noChangeShapeType="1"/>
            </p:cNvSpPr>
            <p:nvPr/>
          </p:nvSpPr>
          <p:spPr bwMode="auto">
            <a:xfrm>
              <a:off x="4843" y="6544"/>
              <a:ext cx="1648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000"/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4929190" y="1428736"/>
            <a:ext cx="400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dirty="0"/>
              <a:t> </a:t>
            </a:r>
            <a:r>
              <a:rPr lang="en-US" sz="2400" i="1" dirty="0"/>
              <a:t>p</a:t>
            </a:r>
            <a:r>
              <a:rPr lang="en-US" sz="2400" i="1" baseline="-25000" dirty="0"/>
              <a:t>i</a:t>
            </a:r>
            <a:r>
              <a:rPr lang="ru-RU" sz="2400" dirty="0"/>
              <a:t> – число пересечений </a:t>
            </a:r>
          </a:p>
          <a:p>
            <a:r>
              <a:rPr lang="ru-RU" sz="2400" dirty="0"/>
              <a:t>ребер  </a:t>
            </a:r>
            <a:r>
              <a:rPr lang="en-US" sz="2400" i="1" dirty="0" err="1"/>
              <a:t>i</a:t>
            </a:r>
            <a:r>
              <a:rPr lang="ru-RU" sz="2400" dirty="0"/>
              <a:t>-ой вершины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2428860" y="2428868"/>
            <a:ext cx="571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. . </a:t>
            </a:r>
            <a:r>
              <a:rPr lang="en-US" sz="2400" dirty="0" smtClean="0"/>
              <a:t>.</a:t>
            </a:r>
            <a:endParaRPr lang="ru-RU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0" y="2786058"/>
            <a:ext cx="6858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Согласно п. 5 принятых допущений </a:t>
            </a:r>
            <a:r>
              <a:rPr lang="en-US" sz="2400" i="1" dirty="0"/>
              <a:t>p</a:t>
            </a:r>
            <a:r>
              <a:rPr lang="ru-RU" sz="2400" i="1" baseline="-25000" dirty="0"/>
              <a:t>1</a:t>
            </a:r>
            <a:r>
              <a:rPr lang="ru-RU" sz="2400" dirty="0"/>
              <a:t>=0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9" name="TextBox 48"/>
          <p:cNvSpPr txBox="1"/>
          <p:nvPr/>
        </p:nvSpPr>
        <p:spPr>
          <a:xfrm>
            <a:off x="0" y="321468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Рассмотрим ребро 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ru-RU" sz="2400" dirty="0"/>
              <a:t>). Число его пересечений с ребрами вершины </a:t>
            </a:r>
            <a:r>
              <a:rPr lang="en-US" sz="2400" i="1" dirty="0"/>
              <a:t>x</a:t>
            </a:r>
            <a:r>
              <a:rPr lang="ru-RU" sz="2400" i="1" baseline="-25000" dirty="0" smtClean="0"/>
              <a:t>1</a:t>
            </a:r>
            <a:endParaRPr lang="ru-RU" sz="2400" dirty="0"/>
          </a:p>
        </p:txBody>
      </p:sp>
      <p:sp>
        <p:nvSpPr>
          <p:cNvPr id="28718" name="Rectangle 4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717" name="Object 45"/>
          <p:cNvGraphicFramePr>
            <a:graphicFrameLocks noChangeAspect="1"/>
          </p:cNvGraphicFramePr>
          <p:nvPr/>
        </p:nvGraphicFramePr>
        <p:xfrm>
          <a:off x="2509229" y="3500438"/>
          <a:ext cx="2034190" cy="957266"/>
        </p:xfrm>
        <a:graphic>
          <a:graphicData uri="http://schemas.openxmlformats.org/presentationml/2006/ole">
            <p:oleObj spid="_x0000_s28731" name="Формула" r:id="rId3" imgW="901309" imgH="431613" progId="Equation.3">
              <p:embed/>
            </p:oleObj>
          </a:graphicData>
        </a:graphic>
      </p:graphicFrame>
      <p:sp>
        <p:nvSpPr>
          <p:cNvPr id="52" name="TextBox 51"/>
          <p:cNvSpPr txBox="1"/>
          <p:nvPr/>
        </p:nvSpPr>
        <p:spPr>
          <a:xfrm>
            <a:off x="0" y="428625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Ребро (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n</a:t>
            </a:r>
            <a:r>
              <a:rPr lang="ru-RU" sz="2400" i="1" baseline="-25000" dirty="0"/>
              <a:t>-1</a:t>
            </a:r>
            <a:r>
              <a:rPr lang="ru-RU" sz="2400" dirty="0"/>
              <a:t>) </a:t>
            </a:r>
            <a:r>
              <a:rPr lang="ru-RU" sz="2400" dirty="0" smtClean="0"/>
              <a:t>пересекает</a:t>
            </a:r>
            <a:endParaRPr lang="ru-RU" sz="2400" dirty="0"/>
          </a:p>
        </p:txBody>
      </p:sp>
      <p:sp>
        <p:nvSpPr>
          <p:cNvPr id="28720" name="Rectangle 4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719" name="Object 47"/>
          <p:cNvGraphicFramePr>
            <a:graphicFrameLocks noChangeAspect="1"/>
          </p:cNvGraphicFramePr>
          <p:nvPr/>
        </p:nvGraphicFramePr>
        <p:xfrm>
          <a:off x="3500430" y="4000504"/>
          <a:ext cx="2957807" cy="1046299"/>
        </p:xfrm>
        <a:graphic>
          <a:graphicData uri="http://schemas.openxmlformats.org/presentationml/2006/ole">
            <p:oleObj spid="_x0000_s28732" name="Формула" r:id="rId4" imgW="1193800" imgH="431800" progId="Equation.3">
              <p:embed/>
            </p:oleObj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6929454" y="4286256"/>
            <a:ext cx="1357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ребер.</a:t>
            </a:r>
            <a:endParaRPr lang="ru-RU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0" y="4929198"/>
            <a:ext cx="6357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Общее число пересечений ребер вершины </a:t>
            </a:r>
            <a:r>
              <a:rPr lang="en-US" sz="2400" i="1" dirty="0"/>
              <a:t>x</a:t>
            </a:r>
            <a:r>
              <a:rPr lang="ru-RU" sz="2400" i="1" baseline="-25000" dirty="0"/>
              <a:t>2</a:t>
            </a:r>
            <a:endParaRPr lang="ru-RU" sz="2400" dirty="0"/>
          </a:p>
        </p:txBody>
      </p:sp>
      <p:sp>
        <p:nvSpPr>
          <p:cNvPr id="28722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721" name="Object 49"/>
          <p:cNvGraphicFramePr>
            <a:graphicFrameLocks noChangeAspect="1"/>
          </p:cNvGraphicFramePr>
          <p:nvPr/>
        </p:nvGraphicFramePr>
        <p:xfrm>
          <a:off x="6297613" y="4775200"/>
          <a:ext cx="1603375" cy="914400"/>
        </p:xfrm>
        <a:graphic>
          <a:graphicData uri="http://schemas.openxmlformats.org/presentationml/2006/ole">
            <p:oleObj spid="_x0000_s28733" name="Формула" r:id="rId5" imgW="774360" imgH="444240" progId="Equation.3">
              <p:embed/>
            </p:oleObj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0" y="5500702"/>
            <a:ext cx="2571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вершины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k</a:t>
            </a:r>
            <a:r>
              <a:rPr lang="en-US" sz="2400" dirty="0"/>
              <a:t> </a:t>
            </a:r>
            <a:endParaRPr lang="ru-RU" sz="2400" dirty="0"/>
          </a:p>
        </p:txBody>
      </p:sp>
      <p:sp>
        <p:nvSpPr>
          <p:cNvPr id="28724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723" name="Object 51"/>
          <p:cNvGraphicFramePr>
            <a:graphicFrameLocks noChangeAspect="1"/>
          </p:cNvGraphicFramePr>
          <p:nvPr/>
        </p:nvGraphicFramePr>
        <p:xfrm>
          <a:off x="2276475" y="5346699"/>
          <a:ext cx="1503437" cy="843307"/>
        </p:xfrm>
        <a:graphic>
          <a:graphicData uri="http://schemas.openxmlformats.org/presentationml/2006/ole">
            <p:oleObj spid="_x0000_s28734" name="Формула" r:id="rId6" imgW="799920" imgH="444240" progId="Equation.3">
              <p:embed/>
            </p:oleObj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0" y="6215082"/>
            <a:ext cx="53578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Общее число пересечений ребер </a:t>
            </a:r>
            <a:r>
              <a:rPr lang="ru-RU" sz="2400" dirty="0" smtClean="0"/>
              <a:t>графа</a:t>
            </a:r>
            <a:endParaRPr lang="ru-RU" sz="2400" dirty="0"/>
          </a:p>
        </p:txBody>
      </p:sp>
      <p:sp>
        <p:nvSpPr>
          <p:cNvPr id="28726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8725" name="Object 53"/>
          <p:cNvGraphicFramePr>
            <a:graphicFrameLocks noChangeAspect="1"/>
          </p:cNvGraphicFramePr>
          <p:nvPr/>
        </p:nvGraphicFramePr>
        <p:xfrm>
          <a:off x="5643570" y="6072206"/>
          <a:ext cx="1643074" cy="813067"/>
        </p:xfrm>
        <a:graphic>
          <a:graphicData uri="http://schemas.openxmlformats.org/presentationml/2006/ole">
            <p:oleObj spid="_x0000_s28735" name="Формула" r:id="rId7" imgW="888614" imgH="431613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8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8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0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utoUpdateAnimBg="0"/>
      <p:bldP spid="48" grpId="0" autoUpdateAnimBg="0"/>
      <p:bldP spid="49" grpId="0" autoUpdateAnimBg="0"/>
      <p:bldP spid="52" grpId="0" autoUpdateAnimBg="0"/>
      <p:bldP spid="55" grpId="0" autoUpdateAnimBg="0"/>
      <p:bldP spid="56" grpId="0" autoUpdateAnimBg="0"/>
      <p:bldP spid="59" grpId="0" autoUpdateAnimBg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Проще определять число пересечений по матрице соединений </a:t>
            </a:r>
            <a:r>
              <a:rPr lang="en-US" sz="2400" i="1" dirty="0"/>
              <a:t>R</a:t>
            </a:r>
            <a:r>
              <a:rPr lang="ru-RU" sz="2400" dirty="0"/>
              <a:t>. Будем использовать треугольную часть матрицы. Учитывая, что ребра графа не пересекают ребер гамильтонова цикла, в матрице "1", соответствующие гамильтонову циклу, заменим на </a:t>
            </a:r>
            <a:r>
              <a:rPr lang="ru-RU" sz="2400" dirty="0" smtClean="0"/>
              <a:t>"</a:t>
            </a:r>
            <a:r>
              <a:rPr lang="ru-RU" sz="2400" b="1" dirty="0" smtClean="0"/>
              <a:t>×</a:t>
            </a:r>
            <a:r>
              <a:rPr lang="ru-RU" sz="2400" dirty="0" smtClean="0"/>
              <a:t>".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285983" y="1428736"/>
          <a:ext cx="4962869" cy="3178962"/>
        </p:xfrm>
        <a:graphic>
          <a:graphicData uri="http://schemas.openxmlformats.org/drawingml/2006/table">
            <a:tbl>
              <a:tblPr/>
              <a:tblGrid>
                <a:gridCol w="1039769"/>
                <a:gridCol w="690664"/>
                <a:gridCol w="501028"/>
                <a:gridCol w="506415"/>
                <a:gridCol w="457928"/>
                <a:gridCol w="612008"/>
                <a:gridCol w="660494"/>
                <a:gridCol w="494563"/>
              </a:tblGrid>
              <a:tr h="37062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…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n-</a:t>
                      </a: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792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R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2n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92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r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2n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62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R(G)=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7062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..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62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-1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062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0" y="471488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Определим </a:t>
            </a:r>
            <a:r>
              <a:rPr lang="en-US" sz="2400" i="1" dirty="0"/>
              <a:t>p</a:t>
            </a:r>
            <a:r>
              <a:rPr lang="ru-RU" sz="2400" i="1" baseline="-25000" dirty="0"/>
              <a:t>2</a:t>
            </a:r>
            <a:r>
              <a:rPr lang="en-US" sz="2400" i="1" baseline="-25000" dirty="0"/>
              <a:t>n</a:t>
            </a:r>
            <a:r>
              <a:rPr lang="ru-RU" sz="2400" dirty="0"/>
              <a:t>, для чего в матрице</a:t>
            </a:r>
            <a:r>
              <a:rPr lang="ru-RU" sz="2400" i="1" baseline="-25000" dirty="0"/>
              <a:t> </a:t>
            </a:r>
            <a:r>
              <a:rPr lang="en-US" sz="2400" i="1" dirty="0"/>
              <a:t>R</a:t>
            </a:r>
            <a:r>
              <a:rPr lang="ru-RU" sz="2400" dirty="0"/>
              <a:t> выделим подматрицу </a:t>
            </a:r>
            <a:r>
              <a:rPr lang="ru-RU" sz="2400" i="1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en-US" sz="2400" i="1" baseline="-25000" dirty="0"/>
              <a:t>n</a:t>
            </a:r>
            <a:r>
              <a:rPr lang="ru-RU" sz="2400" dirty="0"/>
              <a:t>. Сумма единиц подматрицы 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en-US" sz="2400" i="1" baseline="-25000" dirty="0"/>
              <a:t>n</a:t>
            </a:r>
            <a:r>
              <a:rPr lang="ru-RU" sz="2400" dirty="0"/>
              <a:t>  соответствует </a:t>
            </a:r>
            <a:r>
              <a:rPr lang="en-US" sz="2400" i="1" dirty="0"/>
              <a:t>p</a:t>
            </a:r>
            <a:r>
              <a:rPr lang="ru-RU" sz="2400" i="1" baseline="-25000" dirty="0"/>
              <a:t>2</a:t>
            </a:r>
            <a:r>
              <a:rPr lang="en-US" sz="2400" i="1" baseline="-25000" dirty="0"/>
              <a:t>n</a:t>
            </a:r>
            <a:r>
              <a:rPr lang="ru-RU" sz="2400" dirty="0"/>
              <a:t>. Для </a:t>
            </a:r>
            <a:r>
              <a:rPr lang="en-US" sz="2400" i="1" dirty="0"/>
              <a:t>p</a:t>
            </a:r>
            <a:r>
              <a:rPr lang="ru-RU" sz="2400" i="1" baseline="-25000" dirty="0"/>
              <a:t>2(</a:t>
            </a:r>
            <a:r>
              <a:rPr lang="en-US" sz="2400" i="1" baseline="-25000" dirty="0"/>
              <a:t>n</a:t>
            </a:r>
            <a:r>
              <a:rPr lang="ru-RU" sz="2400" i="1" baseline="-25000" dirty="0"/>
              <a:t>-1)</a:t>
            </a:r>
            <a:r>
              <a:rPr lang="ru-RU" sz="2400" dirty="0"/>
              <a:t> выделим </a:t>
            </a:r>
            <a:r>
              <a:rPr lang="en-US" sz="2400" i="1" dirty="0"/>
              <a:t>R</a:t>
            </a:r>
            <a:r>
              <a:rPr lang="ru-RU" sz="2400" i="1" baseline="-25000" dirty="0"/>
              <a:t>2(</a:t>
            </a:r>
            <a:r>
              <a:rPr lang="en-US" sz="2400" i="1" baseline="-25000" dirty="0"/>
              <a:t>n</a:t>
            </a:r>
            <a:r>
              <a:rPr lang="ru-RU" sz="2400" i="1" baseline="-25000" dirty="0"/>
              <a:t>-1)</a:t>
            </a:r>
            <a:r>
              <a:rPr lang="ru-RU" sz="2400" dirty="0"/>
              <a:t> и т.д. от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en-US" sz="2400" i="1" baseline="-25000" dirty="0"/>
              <a:t>n</a:t>
            </a:r>
            <a:r>
              <a:rPr lang="en-US" sz="2400" i="1" dirty="0"/>
              <a:t> </a:t>
            </a:r>
            <a:r>
              <a:rPr lang="ru-RU" sz="2400" dirty="0"/>
              <a:t> до </a:t>
            </a:r>
            <a:r>
              <a:rPr lang="en-US" sz="2400" i="1" dirty="0"/>
              <a:t>R</a:t>
            </a:r>
            <a:r>
              <a:rPr lang="ru-RU" sz="2400" i="1" baseline="-25000" dirty="0"/>
              <a:t>(</a:t>
            </a:r>
            <a:r>
              <a:rPr lang="en-US" sz="2400" i="1" baseline="-25000" dirty="0"/>
              <a:t>n</a:t>
            </a:r>
            <a:r>
              <a:rPr lang="ru-RU" sz="2400" i="1" baseline="-25000" dirty="0"/>
              <a:t>-2)</a:t>
            </a:r>
            <a:r>
              <a:rPr lang="en-US" sz="2400" i="1" baseline="-25000" dirty="0"/>
              <a:t>n</a:t>
            </a:r>
            <a:r>
              <a:rPr lang="ru-RU" sz="2400" dirty="0"/>
              <a:t>. Одновременно строим граф пересечений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. Ребра графа </a:t>
            </a:r>
            <a:r>
              <a:rPr lang="en-US" sz="2400" i="1" dirty="0"/>
              <a:t>G</a:t>
            </a:r>
            <a:r>
              <a:rPr lang="ru-RU" sz="2400" i="1" dirty="0"/>
              <a:t>,</a:t>
            </a:r>
            <a:r>
              <a:rPr lang="ru-RU" sz="2400" dirty="0"/>
              <a:t> не имеющие пересечений в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 не учитываются.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определения </a:t>
            </a:r>
            <a:r>
              <a:rPr lang="ru-RU" sz="2400" dirty="0" err="1"/>
              <a:t>двудольности</a:t>
            </a:r>
            <a:r>
              <a:rPr lang="ru-RU" sz="2400" dirty="0"/>
              <a:t>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 используем максимальные внутренне устойчивые множества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7857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Нахождение максимальных внутренне устойчивых  множеств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14298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нахождения МВУМ при раскраске графа применялся метод Магу. Рассмотрим другой алгоритм, а именно - модифицированный алгоритм </a:t>
            </a:r>
            <a:r>
              <a:rPr lang="ru-RU" sz="2400" i="1" dirty="0"/>
              <a:t>Г.А. Петухова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21455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1. </a:t>
            </a:r>
            <a:r>
              <a:rPr lang="ru-RU" sz="2400" dirty="0"/>
              <a:t>В матрице </a:t>
            </a:r>
            <a:r>
              <a:rPr lang="en-US" sz="2400" i="1" dirty="0"/>
              <a:t>R</a:t>
            </a:r>
            <a:r>
              <a:rPr lang="ru-RU" sz="2400" dirty="0"/>
              <a:t> заменим все диагональные элементы на "1", 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jj</a:t>
            </a:r>
            <a:r>
              <a:rPr lang="ru-RU" sz="2400" i="1" dirty="0"/>
              <a:t> =</a:t>
            </a:r>
            <a:r>
              <a:rPr lang="ru-RU" sz="2400" dirty="0"/>
              <a:t>1. Положим </a:t>
            </a:r>
            <a:r>
              <a:rPr lang="en-US" sz="2400" i="1" dirty="0" err="1"/>
              <a:t>i</a:t>
            </a:r>
            <a:r>
              <a:rPr lang="ru-RU" sz="2400" i="1" dirty="0"/>
              <a:t>=</a:t>
            </a:r>
            <a:r>
              <a:rPr lang="ru-RU" sz="2400" dirty="0"/>
              <a:t>1, </a:t>
            </a:r>
            <a:r>
              <a:rPr lang="ru-RU" sz="2400" i="1" dirty="0" err="1"/>
              <a:t>α</a:t>
            </a:r>
            <a:r>
              <a:rPr lang="ru-RU" sz="2400" dirty="0" err="1"/>
              <a:t>=1</a:t>
            </a:r>
            <a:r>
              <a:rPr lang="ru-RU" sz="2400" dirty="0" err="1" smtClean="0"/>
              <a:t>;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928934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2. </a:t>
            </a:r>
            <a:r>
              <a:rPr lang="ru-RU" sz="2400" dirty="0"/>
              <a:t>В </a:t>
            </a:r>
            <a:r>
              <a:rPr lang="en-US" sz="2400" i="1" dirty="0" err="1"/>
              <a:t>i</a:t>
            </a:r>
            <a:r>
              <a:rPr lang="ru-RU" sz="2400" dirty="0"/>
              <a:t>-той строке находим элементы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ij</a:t>
            </a:r>
            <a:r>
              <a:rPr lang="ru-RU" sz="2400" i="1" dirty="0"/>
              <a:t> = </a:t>
            </a:r>
            <a:r>
              <a:rPr lang="ru-RU" sz="2400" dirty="0"/>
              <a:t>0 (</a:t>
            </a:r>
            <a:r>
              <a:rPr lang="en-US" sz="2400" i="1" dirty="0"/>
              <a:t>j</a:t>
            </a:r>
            <a:r>
              <a:rPr lang="ru-RU" sz="2400" i="1" dirty="0"/>
              <a:t>&gt;</a:t>
            </a:r>
            <a:r>
              <a:rPr lang="en-US" sz="2400" i="1" dirty="0" err="1"/>
              <a:t>i</a:t>
            </a:r>
            <a:r>
              <a:rPr lang="ru-RU" sz="2400" i="1" dirty="0"/>
              <a:t>). </a:t>
            </a:r>
            <a:r>
              <a:rPr lang="ru-RU" sz="2400" dirty="0"/>
              <a:t>Номера нулевых элементов помещаем в список  </a:t>
            </a:r>
            <a:r>
              <a:rPr lang="en-US" sz="2400" i="1" dirty="0"/>
              <a:t>J</a:t>
            </a:r>
            <a:r>
              <a:rPr lang="ru-RU" sz="2400" dirty="0"/>
              <a:t>(</a:t>
            </a:r>
            <a:r>
              <a:rPr lang="en-US" sz="2400" i="1" dirty="0"/>
              <a:t>j</a:t>
            </a:r>
            <a:r>
              <a:rPr lang="ru-RU" sz="2400" dirty="0"/>
              <a:t>). Если все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ij</a:t>
            </a:r>
            <a:r>
              <a:rPr lang="ru-RU" sz="2400" i="1" dirty="0"/>
              <a:t> =</a:t>
            </a:r>
            <a:r>
              <a:rPr lang="ru-RU" sz="2400" dirty="0"/>
              <a:t>1, то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α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dirty="0"/>
              <a:t>}, </a:t>
            </a:r>
            <a:r>
              <a:rPr lang="ru-RU" sz="2400" i="1" dirty="0" err="1"/>
              <a:t>α= α+</a:t>
            </a:r>
            <a:r>
              <a:rPr lang="ru-RU" sz="2400" dirty="0" err="1"/>
              <a:t>1, </a:t>
            </a:r>
            <a:r>
              <a:rPr lang="ru-RU" sz="2400" dirty="0"/>
              <a:t>перейти к п.7</a:t>
            </a:r>
            <a:r>
              <a:rPr lang="ru-RU" sz="2400" dirty="0" smtClean="0"/>
              <a:t>;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40005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3. </a:t>
            </a:r>
            <a:r>
              <a:rPr lang="ru-RU" sz="2400" dirty="0"/>
              <a:t>Записываем дизъюнкцию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</a:t>
            </a:r>
            <a:r>
              <a:rPr lang="ru-RU" sz="2400" i="1" dirty="0"/>
              <a:t>=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i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j</a:t>
            </a:r>
            <a:r>
              <a:rPr lang="ru-RU" sz="2400" dirty="0" smtClean="0"/>
              <a:t>;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43576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4. </a:t>
            </a:r>
            <a:r>
              <a:rPr lang="ru-RU" sz="2400" dirty="0"/>
              <a:t>В строке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</a:t>
            </a:r>
            <a:r>
              <a:rPr lang="ru-RU" sz="2400" dirty="0"/>
              <a:t> находим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k</a:t>
            </a:r>
            <a:r>
              <a:rPr lang="ru-RU" sz="2400" i="1" dirty="0"/>
              <a:t>=</a:t>
            </a:r>
            <a:r>
              <a:rPr lang="ru-RU" sz="2400" dirty="0"/>
              <a:t>0 (</a:t>
            </a:r>
            <a:r>
              <a:rPr lang="en-US" sz="2400" i="1" dirty="0"/>
              <a:t>k</a:t>
            </a:r>
            <a:r>
              <a:rPr lang="ru-RU" sz="2400" i="1" dirty="0"/>
              <a:t> &gt;</a:t>
            </a:r>
            <a:r>
              <a:rPr lang="en-US" sz="2400" i="1" dirty="0"/>
              <a:t>j</a:t>
            </a:r>
            <a:r>
              <a:rPr lang="ru-RU" sz="2400" i="1" dirty="0"/>
              <a:t>)</a:t>
            </a:r>
            <a:r>
              <a:rPr lang="ru-RU" sz="2400" dirty="0"/>
              <a:t>, если все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k</a:t>
            </a:r>
            <a:r>
              <a:rPr lang="ru-RU" sz="2400" i="1" dirty="0"/>
              <a:t>=</a:t>
            </a:r>
            <a:r>
              <a:rPr lang="ru-RU" sz="2400" dirty="0"/>
              <a:t>1, то перейти к п. 6</a:t>
            </a:r>
            <a:r>
              <a:rPr lang="ru-RU" sz="2400" dirty="0" smtClean="0"/>
              <a:t>;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78632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5. </a:t>
            </a:r>
            <a:r>
              <a:rPr lang="ru-RU" sz="2400" dirty="0"/>
              <a:t>Записываем дизъюнкцию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ijk</a:t>
            </a:r>
            <a:r>
              <a:rPr lang="ru-RU" sz="2400" i="1" dirty="0"/>
              <a:t>= </a:t>
            </a:r>
            <a:r>
              <a:rPr lang="en-US" sz="2400" i="1" dirty="0" err="1"/>
              <a:t>M</a:t>
            </a:r>
            <a:r>
              <a:rPr lang="en-US" sz="2400" i="1" baseline="-25000" dirty="0" err="1"/>
              <a:t>ij</a:t>
            </a:r>
            <a:r>
              <a:rPr lang="en-US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 err="1"/>
              <a:t>r</a:t>
            </a:r>
            <a:r>
              <a:rPr lang="en-US" sz="2400" i="1" baseline="-25000" dirty="0" err="1"/>
              <a:t>k</a:t>
            </a:r>
            <a:r>
              <a:rPr lang="ru-RU" sz="2400" dirty="0"/>
              <a:t>; Переходим к п. 4.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21495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6. Если </a:t>
            </a:r>
            <a:r>
              <a:rPr lang="ru-RU" sz="2400" dirty="0"/>
              <a:t>в дизъюнкции нет ни одного нулевого элемента</a:t>
            </a:r>
            <a:r>
              <a:rPr lang="ru-RU" sz="2400" dirty="0" smtClean="0"/>
              <a:t>,</a:t>
            </a:r>
          </a:p>
          <a:p>
            <a:pPr lvl="0"/>
            <a:r>
              <a:rPr lang="ru-RU" sz="2400" dirty="0" smtClean="0"/>
              <a:t>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α</a:t>
            </a:r>
            <a:r>
              <a:rPr lang="ru-RU" sz="2400" i="1" dirty="0" err="1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en-US" sz="2400" i="1" baseline="-25000" dirty="0"/>
              <a:t>i</a:t>
            </a:r>
            <a:r>
              <a:rPr lang="ru-RU" sz="2400" i="1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j</a:t>
            </a:r>
            <a:r>
              <a:rPr lang="ru-RU" sz="2400" i="1" dirty="0"/>
              <a:t>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k</a:t>
            </a:r>
            <a:r>
              <a:rPr lang="ru-RU" sz="2400" i="1" dirty="0"/>
              <a:t>…</a:t>
            </a:r>
            <a:r>
              <a:rPr lang="ru-RU" sz="2400" dirty="0"/>
              <a:t>}</a:t>
            </a:r>
            <a:r>
              <a:rPr lang="ru-RU" sz="2400" i="1" dirty="0"/>
              <a:t>, </a:t>
            </a:r>
            <a:r>
              <a:rPr lang="ru-RU" sz="2400" i="1" dirty="0" err="1" smtClean="0"/>
              <a:t>α </a:t>
            </a:r>
            <a:r>
              <a:rPr lang="ru-RU" sz="2400" i="1" dirty="0"/>
              <a:t>= </a:t>
            </a:r>
            <a:r>
              <a:rPr lang="ru-RU" sz="2400" i="1" dirty="0" err="1"/>
              <a:t>α+</a:t>
            </a:r>
            <a:r>
              <a:rPr lang="ru-RU" sz="2400" dirty="0" err="1"/>
              <a:t>1</a:t>
            </a:r>
            <a:r>
              <a:rPr lang="ru-RU" sz="2400" dirty="0" err="1" smtClean="0"/>
              <a:t>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60270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Пока в списке </a:t>
            </a:r>
            <a:r>
              <a:rPr lang="en-US" sz="2400" i="1" dirty="0"/>
              <a:t>J</a:t>
            </a:r>
            <a:r>
              <a:rPr lang="ru-RU" sz="2400" dirty="0"/>
              <a:t>(</a:t>
            </a:r>
            <a:r>
              <a:rPr lang="en-US" sz="2400" i="1" dirty="0"/>
              <a:t>j</a:t>
            </a:r>
            <a:r>
              <a:rPr lang="ru-RU" sz="2400" dirty="0"/>
              <a:t>) есть не рассмотренные элементы, выбрать следующий нулевой элемент и перейти к п. 3</a:t>
            </a:r>
            <a:r>
              <a:rPr lang="ru-RU" sz="2400" dirty="0" smtClean="0"/>
              <a:t>;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7. </a:t>
            </a:r>
            <a:r>
              <a:rPr lang="ru-RU" sz="2400" dirty="0"/>
              <a:t>Положить </a:t>
            </a:r>
            <a:r>
              <a:rPr lang="en-US" sz="2400" i="1" dirty="0" err="1"/>
              <a:t>i</a:t>
            </a:r>
            <a:r>
              <a:rPr lang="ru-RU" sz="2400" i="1" dirty="0"/>
              <a:t>= </a:t>
            </a:r>
            <a:r>
              <a:rPr lang="en-US" sz="2400" i="1" dirty="0" err="1"/>
              <a:t>i</a:t>
            </a:r>
            <a:r>
              <a:rPr lang="ru-RU" sz="2400" i="1" dirty="0"/>
              <a:t>+</a:t>
            </a:r>
            <a:r>
              <a:rPr lang="ru-RU" sz="2400" dirty="0"/>
              <a:t>1, пока </a:t>
            </a:r>
            <a:r>
              <a:rPr lang="en-US" sz="2400" i="1" dirty="0" err="1"/>
              <a:t>i</a:t>
            </a:r>
            <a:r>
              <a:rPr lang="ru-RU" sz="2400" i="1" dirty="0"/>
              <a:t>&lt;</a:t>
            </a:r>
            <a:r>
              <a:rPr lang="en-US" sz="2400" i="1" dirty="0"/>
              <a:t>n </a:t>
            </a:r>
            <a:r>
              <a:rPr lang="ru-RU" sz="2400" dirty="0"/>
              <a:t>перейти к п.2</a:t>
            </a:r>
            <a:r>
              <a:rPr lang="ru-RU" sz="2400" dirty="0" smtClean="0"/>
              <a:t>;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42860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8. </a:t>
            </a:r>
            <a:r>
              <a:rPr lang="ru-RU" sz="2400" dirty="0"/>
              <a:t>Семейство внутренне устойчивых множеств </a:t>
            </a:r>
            <a:r>
              <a:rPr lang="ru-RU" sz="2400" i="1" dirty="0"/>
              <a:t>Ψ</a:t>
            </a:r>
            <a:r>
              <a:rPr lang="en-US" sz="2400" i="1" baseline="-25000" dirty="0"/>
              <a:t>G</a:t>
            </a:r>
            <a:r>
              <a:rPr lang="ru-RU" sz="2400" i="1" baseline="-25000" dirty="0"/>
              <a:t>' </a:t>
            </a:r>
            <a:r>
              <a:rPr lang="ru-RU" sz="2400" i="1" dirty="0"/>
              <a:t> </a:t>
            </a:r>
            <a:r>
              <a:rPr lang="ru-RU" sz="2400" dirty="0"/>
              <a:t>построено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85723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Выделение  из 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r>
              <a:rPr lang="ru-RU" sz="2400" b="1" dirty="0">
                <a:solidFill>
                  <a:srgbClr val="FF0000"/>
                </a:solidFill>
              </a:rPr>
              <a:t>'  максимального двудольного подграфа </a:t>
            </a:r>
            <a:r>
              <a:rPr lang="ru-RU" sz="2400" b="1" i="1" dirty="0">
                <a:solidFill>
                  <a:srgbClr val="FF0000"/>
                </a:solidFill>
              </a:rPr>
              <a:t> </a:t>
            </a:r>
            <a:r>
              <a:rPr lang="en-US" sz="2400" b="1" i="1" dirty="0">
                <a:solidFill>
                  <a:srgbClr val="FF0000"/>
                </a:solidFill>
              </a:rPr>
              <a:t>H</a:t>
            </a:r>
            <a:r>
              <a:rPr lang="ru-RU" sz="2400" b="1" dirty="0" smtClean="0">
                <a:solidFill>
                  <a:srgbClr val="FF0000"/>
                </a:solidFill>
              </a:rPr>
              <a:t>'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28586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Введем следующий критерий</a:t>
            </a:r>
          </a:p>
          <a:p>
            <a:pPr algn="ctr"/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i="1" dirty="0" err="1"/>
              <a:t>=</a:t>
            </a:r>
            <a:r>
              <a:rPr lang="he-IL" sz="2400" dirty="0"/>
              <a:t>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he-IL" sz="2400" dirty="0"/>
              <a:t>׀ + 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he-IL" sz="2400" dirty="0"/>
              <a:t>׀ - </a:t>
            </a:r>
            <a:r>
              <a:rPr lang="he-IL" sz="2400" dirty="0" smtClean="0"/>
              <a:t>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i="1" dirty="0" err="1"/>
              <a:t>∩ψ</a:t>
            </a:r>
            <a:r>
              <a:rPr lang="ru-RU" sz="2400" i="1" baseline="-25000" dirty="0" err="1"/>
              <a:t>δ</a:t>
            </a:r>
            <a:r>
              <a:rPr lang="he-IL" sz="2400" dirty="0"/>
              <a:t>׀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00024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Отсюда граф пересечений </a:t>
            </a:r>
            <a:r>
              <a:rPr lang="en-US" sz="2400" i="1" dirty="0"/>
              <a:t>G</a:t>
            </a:r>
            <a:r>
              <a:rPr lang="ru-RU" sz="2400" b="1" dirty="0"/>
              <a:t>'</a:t>
            </a:r>
            <a:r>
              <a:rPr lang="ru-RU" sz="2400" dirty="0"/>
              <a:t> двудольный, а соответствующий ему граф </a:t>
            </a:r>
            <a:r>
              <a:rPr lang="en-US" sz="2400" i="1" dirty="0"/>
              <a:t>G</a:t>
            </a:r>
            <a:r>
              <a:rPr lang="ru-RU" sz="2400" dirty="0"/>
              <a:t> – </a:t>
            </a:r>
            <a:r>
              <a:rPr lang="ru-RU" sz="2400" dirty="0" err="1"/>
              <a:t>планарен</a:t>
            </a:r>
            <a:r>
              <a:rPr lang="ru-RU" sz="2400" dirty="0"/>
              <a:t>, если </a:t>
            </a:r>
          </a:p>
          <a:p>
            <a:pPr algn="ctr"/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i="1" dirty="0" err="1"/>
              <a:t>=</a:t>
            </a:r>
            <a:r>
              <a:rPr lang="he-IL" sz="2400" dirty="0"/>
              <a:t>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he-IL" sz="2400" dirty="0"/>
              <a:t>׀ + 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he-IL" sz="2400" dirty="0"/>
              <a:t>׀</a:t>
            </a:r>
            <a:r>
              <a:rPr lang="ru-RU" sz="2400" i="1" dirty="0"/>
              <a:t> </a:t>
            </a:r>
            <a:r>
              <a:rPr lang="ru-RU" sz="2400" dirty="0" smtClean="0"/>
              <a:t>-</a:t>
            </a:r>
            <a:r>
              <a:rPr lang="ru-RU" sz="2400" i="1" dirty="0" smtClean="0"/>
              <a:t> </a:t>
            </a:r>
            <a:r>
              <a:rPr lang="he-IL" sz="2400" dirty="0" smtClean="0"/>
              <a:t>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i="1" dirty="0" err="1"/>
              <a:t>∩ψ</a:t>
            </a:r>
            <a:r>
              <a:rPr lang="ru-RU" sz="2400" i="1" baseline="-25000" dirty="0" err="1"/>
              <a:t>δ</a:t>
            </a:r>
            <a:r>
              <a:rPr lang="he-IL" sz="2400" dirty="0"/>
              <a:t> ׀</a:t>
            </a:r>
            <a:r>
              <a:rPr lang="ru-RU" sz="2400" i="1" dirty="0"/>
              <a:t> =</a:t>
            </a:r>
            <a:r>
              <a:rPr lang="ru-RU" sz="2400" dirty="0"/>
              <a:t> </a:t>
            </a:r>
            <a:r>
              <a:rPr lang="he-IL" sz="2400" dirty="0" smtClean="0"/>
              <a:t>׀</a:t>
            </a:r>
            <a:r>
              <a:rPr lang="ru-RU" sz="2400" i="1" dirty="0"/>
              <a:t>Х'</a:t>
            </a:r>
            <a:r>
              <a:rPr lang="he-IL" sz="2400" dirty="0" smtClean="0"/>
              <a:t>׀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07181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Естественно, что чем ближе  </a:t>
            </a:r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dirty="0" err="1"/>
              <a:t> </a:t>
            </a:r>
            <a:r>
              <a:rPr lang="ru-RU" sz="2400" dirty="0"/>
              <a:t>к </a:t>
            </a:r>
            <a:r>
              <a:rPr lang="he-IL" sz="2400" dirty="0"/>
              <a:t>׀</a:t>
            </a:r>
            <a:r>
              <a:rPr lang="ru-RU" sz="2400" i="1" dirty="0"/>
              <a:t>Х'</a:t>
            </a:r>
            <a:r>
              <a:rPr lang="he-IL" sz="2400" dirty="0"/>
              <a:t>׀</a:t>
            </a:r>
            <a:r>
              <a:rPr lang="ru-RU" sz="2400" i="1" dirty="0"/>
              <a:t>,</a:t>
            </a:r>
            <a:r>
              <a:rPr lang="ru-RU" sz="2400" dirty="0"/>
              <a:t> тем большее число вершин содержит выделяемый двудольный подграф </a:t>
            </a:r>
            <a:r>
              <a:rPr lang="en-US" sz="2400" i="1" dirty="0"/>
              <a:t>H</a:t>
            </a:r>
            <a:r>
              <a:rPr lang="ru-RU" sz="2400" i="1" dirty="0"/>
              <a:t>'</a:t>
            </a:r>
            <a:r>
              <a:rPr lang="ru-RU" sz="2400" dirty="0"/>
              <a:t>. Для его выделения необходимо определить </a:t>
            </a:r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dirty="0" err="1"/>
              <a:t> </a:t>
            </a:r>
            <a:r>
              <a:rPr lang="ru-RU" sz="2400" dirty="0"/>
              <a:t>для всех пар (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i="1" dirty="0"/>
              <a:t>,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ru-RU" sz="2400" dirty="0"/>
              <a:t>)</a:t>
            </a:r>
            <a:r>
              <a:rPr lang="ru-RU" sz="2400" i="1" dirty="0"/>
              <a:t>  Ψ</a:t>
            </a:r>
            <a:r>
              <a:rPr lang="ru-RU" sz="2400" dirty="0"/>
              <a:t> и выбрать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dirty="0" err="1"/>
              <a:t> </a:t>
            </a:r>
            <a:r>
              <a:rPr lang="ru-RU" sz="2400" dirty="0"/>
              <a:t>и</a:t>
            </a:r>
            <a:r>
              <a:rPr lang="ru-RU" sz="2400" i="1" dirty="0"/>
              <a:t>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ru-RU" sz="2400" dirty="0" err="1"/>
              <a:t> </a:t>
            </a:r>
            <a:r>
              <a:rPr lang="ru-RU" sz="2400" dirty="0"/>
              <a:t>с </a:t>
            </a:r>
            <a:r>
              <a:rPr lang="en-US" sz="2400" dirty="0"/>
              <a:t>max</a:t>
            </a:r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dirty="0" err="1"/>
              <a:t>.</a:t>
            </a:r>
            <a:r>
              <a:rPr lang="ru-RU" sz="2400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Максимальному </a:t>
            </a:r>
            <a:r>
              <a:rPr lang="en-US" sz="2400" i="1" dirty="0"/>
              <a:t>H</a:t>
            </a:r>
            <a:r>
              <a:rPr lang="ru-RU" sz="2400" i="1" dirty="0"/>
              <a:t>'</a:t>
            </a:r>
            <a:r>
              <a:rPr lang="ru-RU" sz="2400" dirty="0"/>
              <a:t> в исходном графе </a:t>
            </a:r>
            <a:r>
              <a:rPr lang="en-US" sz="2400" i="1" dirty="0"/>
              <a:t>G</a:t>
            </a:r>
            <a:r>
              <a:rPr lang="ru-RU" sz="2400" dirty="0"/>
              <a:t> соответствует суграф  </a:t>
            </a:r>
            <a:r>
              <a:rPr lang="en-US" sz="2400" i="1" dirty="0"/>
              <a:t>H</a:t>
            </a:r>
            <a:r>
              <a:rPr lang="ru-RU" sz="2400" dirty="0"/>
              <a:t>, содержащий максимальное число непересекающихся ребер. В графе </a:t>
            </a:r>
            <a:r>
              <a:rPr lang="en-US" sz="2400" i="1" dirty="0"/>
              <a:t>H</a:t>
            </a:r>
            <a:r>
              <a:rPr lang="ru-RU" sz="2400" dirty="0"/>
              <a:t> ребра, вошедшие в одно внутренне устойчивое множество, проводятся внутри гамильтонова цикла, а во второе – вне его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600076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множеств семейства </a:t>
            </a:r>
            <a:r>
              <a:rPr lang="ru-RU" sz="2400" i="1" dirty="0"/>
              <a:t>Ψ</a:t>
            </a:r>
            <a:r>
              <a:rPr lang="en-US" sz="2400" i="1" baseline="-25000" dirty="0"/>
              <a:t>G</a:t>
            </a:r>
            <a:r>
              <a:rPr lang="ru-RU" sz="2400" i="1" baseline="-25000" dirty="0"/>
              <a:t>'</a:t>
            </a:r>
            <a:r>
              <a:rPr lang="ru-RU" sz="2400" dirty="0"/>
              <a:t> исключаются ребра, вошедшие в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dirty="0" err="1"/>
              <a:t> </a:t>
            </a:r>
            <a:r>
              <a:rPr lang="ru-RU" sz="2400" dirty="0"/>
              <a:t>и</a:t>
            </a:r>
            <a:r>
              <a:rPr lang="ru-RU" sz="2400" i="1" dirty="0"/>
              <a:t> 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ru-RU" sz="2400" dirty="0"/>
              <a:t>. Одинаковые множества объединяются в одно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Описанная процедура повторяется до тех пор, пока </a:t>
            </a:r>
            <a:r>
              <a:rPr lang="ru-RU" sz="2400" i="1" dirty="0"/>
              <a:t>Ψ</a:t>
            </a:r>
            <a:r>
              <a:rPr lang="en-US" sz="2400" i="1" baseline="-25000" dirty="0"/>
              <a:t>G</a:t>
            </a:r>
            <a:r>
              <a:rPr lang="ru-RU" sz="2400" i="1" baseline="-25000" dirty="0"/>
              <a:t>'</a:t>
            </a:r>
            <a:r>
              <a:rPr lang="ru-RU" sz="2400" dirty="0"/>
              <a:t> не станет пусто.</a:t>
            </a:r>
          </a:p>
          <a:p>
            <a:r>
              <a:rPr lang="ru-RU" sz="2400" dirty="0"/>
              <a:t>Напомним, что критерий </a:t>
            </a:r>
            <a:r>
              <a:rPr lang="ru-RU" sz="2400" dirty="0" err="1"/>
              <a:t>Бадера</a:t>
            </a:r>
            <a:r>
              <a:rPr lang="ru-RU" sz="2400" dirty="0"/>
              <a:t> справедлив для графов, имеющих гамильтонов цикл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50017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Нахождение гамильтонова цикла. Алгоритм </a:t>
            </a:r>
            <a:r>
              <a:rPr lang="ru-RU" sz="2400" b="1" dirty="0" err="1">
                <a:solidFill>
                  <a:srgbClr val="FF0000"/>
                </a:solidFill>
              </a:rPr>
              <a:t>Робертса-Флореса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85736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Цикл, включающий все вершины один раз, называется гамильтоновым.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71744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Алгоритм </a:t>
            </a:r>
            <a:r>
              <a:rPr lang="ru-RU" sz="2400" dirty="0" err="1"/>
              <a:t>Робертса-Флореса</a:t>
            </a:r>
            <a:r>
              <a:rPr lang="ru-RU" sz="2400" dirty="0"/>
              <a:t> состоит в следующем. Некоторая </a:t>
            </a:r>
            <a:r>
              <a:rPr lang="ru-RU" sz="2400" dirty="0" err="1" smtClean="0"/>
              <a:t>на-чальная</a:t>
            </a:r>
            <a:r>
              <a:rPr lang="ru-RU" sz="2400" dirty="0" smtClean="0"/>
              <a:t> </a:t>
            </a:r>
            <a:r>
              <a:rPr lang="ru-RU" sz="2400" dirty="0"/>
              <a:t>вершина (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dirty="0"/>
              <a:t>) выбирается в качестве отправной и образует первый элемент множества </a:t>
            </a:r>
            <a:r>
              <a:rPr lang="en-US" sz="2400" i="1" dirty="0"/>
              <a:t>S</a:t>
            </a:r>
            <a:r>
              <a:rPr lang="ru-RU" sz="2400" dirty="0"/>
              <a:t>, которое будет хранить уже </a:t>
            </a:r>
            <a:r>
              <a:rPr lang="ru-RU" sz="2400" dirty="0" err="1" smtClean="0"/>
              <a:t>найден-ные</a:t>
            </a:r>
            <a:r>
              <a:rPr lang="ru-RU" sz="2400" dirty="0" smtClean="0"/>
              <a:t> </a:t>
            </a:r>
            <a:r>
              <a:rPr lang="ru-RU" sz="2400" dirty="0"/>
              <a:t>вершины цепи. К </a:t>
            </a:r>
            <a:r>
              <a:rPr lang="en-US" sz="2400" i="1" dirty="0"/>
              <a:t>S</a:t>
            </a:r>
            <a:r>
              <a:rPr lang="ru-RU" sz="2400" dirty="0"/>
              <a:t> добавляется первая вершина </a:t>
            </a:r>
            <a:r>
              <a:rPr lang="en-US" sz="2400" i="1" dirty="0"/>
              <a:t>a</a:t>
            </a:r>
            <a:r>
              <a:rPr lang="ru-RU" sz="2400" dirty="0"/>
              <a:t>, смежная с  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 smtClean="0"/>
              <a:t>a</a:t>
            </a:r>
            <a:r>
              <a:rPr lang="ru-RU" sz="2400" dirty="0" smtClean="0">
                <a:sym typeface="Symbol"/>
              </a:rPr>
              <a:t></a:t>
            </a:r>
            <a:r>
              <a:rPr lang="ru-RU" sz="2400" i="1" dirty="0" smtClean="0"/>
              <a:t>Гх</a:t>
            </a:r>
            <a:r>
              <a:rPr lang="ru-RU" sz="2400" i="1" baseline="-25000" dirty="0" smtClean="0"/>
              <a:t>1</a:t>
            </a:r>
            <a:r>
              <a:rPr lang="ru-RU" sz="2400" i="1" dirty="0"/>
              <a:t>.</a:t>
            </a:r>
            <a:r>
              <a:rPr lang="ru-RU" sz="2400" dirty="0"/>
              <a:t> Затем к множеству </a:t>
            </a:r>
            <a:r>
              <a:rPr lang="ru-RU" sz="2400" i="1" dirty="0"/>
              <a:t> </a:t>
            </a:r>
            <a:r>
              <a:rPr lang="en-US" sz="2400" i="1" dirty="0"/>
              <a:t>S</a:t>
            </a:r>
            <a:r>
              <a:rPr lang="ru-RU" sz="2400" dirty="0"/>
              <a:t> добавляется первая возможная вершина </a:t>
            </a:r>
            <a:r>
              <a:rPr lang="en-US" sz="2400" i="1" dirty="0"/>
              <a:t>b</a:t>
            </a:r>
            <a:r>
              <a:rPr lang="ru-RU" sz="2400" dirty="0"/>
              <a:t>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5776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Под "возможной" вершиной понимается вершина:</a:t>
            </a:r>
          </a:p>
          <a:p>
            <a:pPr lvl="0"/>
            <a:r>
              <a:rPr lang="ru-RU" sz="2400" dirty="0" smtClean="0"/>
              <a:t>1. </a:t>
            </a:r>
            <a:r>
              <a:rPr lang="en-US" sz="2400" i="1" dirty="0" smtClean="0"/>
              <a:t>b</a:t>
            </a:r>
            <a:r>
              <a:rPr lang="ru-RU" sz="2400" i="1" dirty="0" smtClean="0"/>
              <a:t> </a:t>
            </a:r>
            <a:r>
              <a:rPr lang="en-US" sz="2400" dirty="0" smtClean="0">
                <a:sym typeface="Symbol"/>
              </a:rPr>
              <a:t></a:t>
            </a:r>
            <a:r>
              <a:rPr lang="ru-RU" sz="2400" i="1" dirty="0" smtClean="0"/>
              <a:t> </a:t>
            </a:r>
            <a:r>
              <a:rPr lang="ru-RU" sz="2400" i="1" dirty="0"/>
              <a:t>Г</a:t>
            </a:r>
            <a:r>
              <a:rPr lang="en-US" sz="2400" i="1" dirty="0"/>
              <a:t>a;</a:t>
            </a:r>
            <a:endParaRPr lang="ru-RU" sz="2400" dirty="0"/>
          </a:p>
          <a:p>
            <a:pPr lvl="0"/>
            <a:r>
              <a:rPr lang="ru-RU" sz="2400" dirty="0" smtClean="0"/>
              <a:t>2</a:t>
            </a:r>
            <a:r>
              <a:rPr lang="ru-RU" sz="2400" i="1" dirty="0" smtClean="0"/>
              <a:t>. </a:t>
            </a:r>
            <a:r>
              <a:rPr lang="en-US" sz="2400" i="1" dirty="0" smtClean="0"/>
              <a:t>b</a:t>
            </a:r>
            <a:r>
              <a:rPr lang="ru-RU" sz="2400" i="1" dirty="0" smtClean="0"/>
              <a:t> </a:t>
            </a:r>
            <a:r>
              <a:rPr lang="ru-RU" sz="2400" dirty="0" smtClean="0">
                <a:sym typeface="Symbol"/>
              </a:rPr>
              <a:t> </a:t>
            </a:r>
            <a:r>
              <a:rPr lang="en-US" sz="2400" i="1" dirty="0" smtClean="0"/>
              <a:t>S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600076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Существует две причины, препятствующие включению некоторой вершины на шаге </a:t>
            </a:r>
            <a:r>
              <a:rPr lang="en-US" sz="2400" i="1" dirty="0"/>
              <a:t>r</a:t>
            </a:r>
            <a:r>
              <a:rPr lang="ru-RU" sz="2400" dirty="0"/>
              <a:t> в множество </a:t>
            </a:r>
            <a:r>
              <a:rPr lang="en-US" sz="2400" i="1" dirty="0"/>
              <a:t>S </a:t>
            </a:r>
            <a:r>
              <a:rPr lang="ru-RU" sz="2400" i="1" dirty="0"/>
              <a:t>=</a:t>
            </a:r>
            <a:r>
              <a:rPr lang="ru-RU" sz="2400" dirty="0"/>
              <a:t> {</a:t>
            </a:r>
            <a:r>
              <a:rPr lang="en-US" sz="2400" i="1" dirty="0"/>
              <a:t>x</a:t>
            </a:r>
            <a:r>
              <a:rPr lang="ru-RU" sz="2400" i="1" baseline="-25000" dirty="0"/>
              <a:t>1, </a:t>
            </a:r>
            <a:r>
              <a:rPr lang="en-US" sz="2400" i="1" dirty="0"/>
              <a:t>a</a:t>
            </a:r>
            <a:r>
              <a:rPr lang="ru-RU" sz="2400" i="1" dirty="0"/>
              <a:t>, </a:t>
            </a:r>
            <a:r>
              <a:rPr lang="en-US" sz="2400" i="1" dirty="0"/>
              <a:t>b</a:t>
            </a:r>
            <a:r>
              <a:rPr lang="ru-RU" sz="2400" i="1" dirty="0"/>
              <a:t>,…,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r</a:t>
            </a:r>
            <a:r>
              <a:rPr lang="ru-RU" sz="2400" dirty="0" smtClean="0"/>
              <a:t>}: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dirty="0" smtClean="0"/>
              <a:t>1. у 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r</a:t>
            </a:r>
            <a:r>
              <a:rPr lang="ru-RU" sz="2400" dirty="0"/>
              <a:t> нет "возможной" вершины;</a:t>
            </a:r>
          </a:p>
          <a:p>
            <a:pPr lvl="0"/>
            <a:r>
              <a:rPr lang="ru-RU" sz="2400" dirty="0" smtClean="0"/>
              <a:t>2. цепь </a:t>
            </a:r>
            <a:r>
              <a:rPr lang="en-US" sz="2400" i="1" dirty="0"/>
              <a:t>S</a:t>
            </a:r>
            <a:r>
              <a:rPr lang="ru-RU" sz="2400" dirty="0"/>
              <a:t> имеет длину </a:t>
            </a:r>
            <a:r>
              <a:rPr lang="he-IL" sz="2400" dirty="0"/>
              <a:t>׀</a:t>
            </a:r>
            <a:r>
              <a:rPr lang="en-US" sz="2400" i="1" dirty="0"/>
              <a:t>S</a:t>
            </a:r>
            <a:r>
              <a:rPr lang="he-IL" sz="2400" dirty="0"/>
              <a:t>׀</a:t>
            </a:r>
            <a:r>
              <a:rPr lang="ru-RU" sz="2400" i="1" dirty="0"/>
              <a:t>=</a:t>
            </a:r>
            <a:r>
              <a:rPr lang="en-US" sz="2400" i="1" dirty="0"/>
              <a:t>n</a:t>
            </a:r>
            <a:r>
              <a:rPr lang="ru-RU" sz="2400" dirty="0"/>
              <a:t>. В этом случае: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8579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а) есть ребро (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r</a:t>
            </a:r>
            <a:r>
              <a:rPr lang="ru-RU" sz="2400" i="1" dirty="0"/>
              <a:t>, 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/>
              <a:t>) и гамильтонов цикл найден; </a:t>
            </a:r>
          </a:p>
          <a:p>
            <a:r>
              <a:rPr lang="ru-RU" sz="2400" dirty="0"/>
              <a:t>б) такого ребра нет и найдена гамильтонова цепь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571612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случаях 1 и 2 б) следует прибегнуть к возвращению, которое заключается в удалении из </a:t>
            </a:r>
            <a:r>
              <a:rPr lang="en-US" sz="2400" i="1" dirty="0"/>
              <a:t>S</a:t>
            </a:r>
            <a:r>
              <a:rPr lang="ru-RU" sz="2400" dirty="0"/>
              <a:t> последней включенной вершины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r</a:t>
            </a:r>
            <a:r>
              <a:rPr lang="ru-RU" sz="2400" dirty="0"/>
              <a:t> и добавлении к  </a:t>
            </a:r>
            <a:r>
              <a:rPr lang="en-US" sz="2400" i="1" dirty="0"/>
              <a:t>S </a:t>
            </a:r>
            <a:r>
              <a:rPr lang="ru-RU" sz="2400" dirty="0"/>
              <a:t> новой первой "возможной", следующей за </a:t>
            </a:r>
            <a:r>
              <a:rPr lang="en-US" sz="2400" i="1" dirty="0" err="1"/>
              <a:t>x</a:t>
            </a:r>
            <a:r>
              <a:rPr lang="en-US" sz="2400" i="1" baseline="-25000" dirty="0" err="1"/>
              <a:t>r</a:t>
            </a:r>
            <a:r>
              <a:rPr lang="ru-RU" sz="2400" dirty="0"/>
              <a:t> вершины. Если не существует никакой возможной вершины, делается следующий шаг возвращения и т.д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Поиск заканчивается в случае когда </a:t>
            </a:r>
            <a:r>
              <a:rPr lang="en-US" sz="2400" i="1" dirty="0"/>
              <a:t>S</a:t>
            </a:r>
            <a:r>
              <a:rPr lang="ru-RU" sz="2400" dirty="0"/>
              <a:t> состоит из одной 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dirty="0"/>
              <a:t> и нет не рассмотренных "возможных" вершин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457200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/>
              <a:t>Планаризовать</a:t>
            </a:r>
            <a:r>
              <a:rPr lang="ru-RU" sz="2400" dirty="0"/>
              <a:t> граф </a:t>
            </a:r>
            <a:r>
              <a:rPr lang="en-US" sz="2400" i="1" dirty="0"/>
              <a:t>G</a:t>
            </a:r>
            <a:r>
              <a:rPr lang="ru-RU" sz="2400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0" name="Rectangle 3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2529" name="Group 1"/>
          <p:cNvGrpSpPr>
            <a:grpSpLocks noChangeAspect="1"/>
          </p:cNvGrpSpPr>
          <p:nvPr/>
        </p:nvGrpSpPr>
        <p:grpSpPr bwMode="auto">
          <a:xfrm>
            <a:off x="0" y="0"/>
            <a:ext cx="3143240" cy="2793991"/>
            <a:chOff x="2841" y="798"/>
            <a:chExt cx="2541" cy="2230"/>
          </a:xfrm>
        </p:grpSpPr>
        <p:sp>
          <p:nvSpPr>
            <p:cNvPr id="22559" name="AutoShape 31"/>
            <p:cNvSpPr>
              <a:spLocks noChangeAspect="1" noChangeArrowheads="1" noTextEdit="1"/>
            </p:cNvSpPr>
            <p:nvPr/>
          </p:nvSpPr>
          <p:spPr bwMode="auto">
            <a:xfrm>
              <a:off x="2841" y="798"/>
              <a:ext cx="2541" cy="22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58" name="Oval 30"/>
            <p:cNvSpPr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57" name="Text Box 29"/>
            <p:cNvSpPr txBox="1"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56" name="Oval 28"/>
            <p:cNvSpPr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55" name="Text Box 27"/>
            <p:cNvSpPr txBox="1"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54" name="Oval 26"/>
            <p:cNvSpPr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53" name="Text Box 25"/>
            <p:cNvSpPr txBox="1"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52" name="Oval 24"/>
            <p:cNvSpPr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51" name="Text Box 23"/>
            <p:cNvSpPr txBox="1"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50" name="Oval 22"/>
            <p:cNvSpPr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9" name="Text Box 21"/>
            <p:cNvSpPr txBox="1"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48" name="Oval 20"/>
            <p:cNvSpPr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7" name="Text Box 19"/>
            <p:cNvSpPr txBox="1"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46" name="Oval 18"/>
            <p:cNvSpPr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5" name="Text Box 17"/>
            <p:cNvSpPr txBox="1"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2544" name="Line 16"/>
            <p:cNvSpPr>
              <a:spLocks noChangeShapeType="1"/>
            </p:cNvSpPr>
            <p:nvPr/>
          </p:nvSpPr>
          <p:spPr bwMode="auto">
            <a:xfrm>
              <a:off x="4252" y="1216"/>
              <a:ext cx="283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3" name="Line 15"/>
            <p:cNvSpPr>
              <a:spLocks noChangeShapeType="1"/>
            </p:cNvSpPr>
            <p:nvPr/>
          </p:nvSpPr>
          <p:spPr bwMode="auto">
            <a:xfrm>
              <a:off x="4817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2" name="Line 14"/>
            <p:cNvSpPr>
              <a:spLocks noChangeShapeType="1"/>
            </p:cNvSpPr>
            <p:nvPr/>
          </p:nvSpPr>
          <p:spPr bwMode="auto">
            <a:xfrm flipH="1">
              <a:off x="4676" y="2331"/>
              <a:ext cx="282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1" name="Line 13"/>
            <p:cNvSpPr>
              <a:spLocks noChangeShapeType="1"/>
            </p:cNvSpPr>
            <p:nvPr/>
          </p:nvSpPr>
          <p:spPr bwMode="auto">
            <a:xfrm flipH="1">
              <a:off x="3829" y="2749"/>
              <a:ext cx="42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40" name="Line 12"/>
            <p:cNvSpPr>
              <a:spLocks noChangeShapeType="1"/>
            </p:cNvSpPr>
            <p:nvPr/>
          </p:nvSpPr>
          <p:spPr bwMode="auto">
            <a:xfrm flipH="1" flipV="1">
              <a:off x="3264" y="2331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9" name="Line 11"/>
            <p:cNvSpPr>
              <a:spLocks noChangeShapeType="1"/>
            </p:cNvSpPr>
            <p:nvPr/>
          </p:nvSpPr>
          <p:spPr bwMode="auto">
            <a:xfrm flipV="1">
              <a:off x="3123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8" name="Line 10"/>
            <p:cNvSpPr>
              <a:spLocks noChangeShapeType="1"/>
            </p:cNvSpPr>
            <p:nvPr/>
          </p:nvSpPr>
          <p:spPr bwMode="auto">
            <a:xfrm>
              <a:off x="4054" y="1368"/>
              <a:ext cx="763" cy="6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7" name="Line 9"/>
            <p:cNvSpPr>
              <a:spLocks noChangeShapeType="1"/>
            </p:cNvSpPr>
            <p:nvPr/>
          </p:nvSpPr>
          <p:spPr bwMode="auto">
            <a:xfrm>
              <a:off x="4054" y="1368"/>
              <a:ext cx="340" cy="110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6" name="Line 8"/>
            <p:cNvSpPr>
              <a:spLocks noChangeShapeType="1"/>
            </p:cNvSpPr>
            <p:nvPr/>
          </p:nvSpPr>
          <p:spPr bwMode="auto">
            <a:xfrm>
              <a:off x="3534" y="1539"/>
              <a:ext cx="1097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5" name="Line 7"/>
            <p:cNvSpPr>
              <a:spLocks noChangeShapeType="1"/>
            </p:cNvSpPr>
            <p:nvPr/>
          </p:nvSpPr>
          <p:spPr bwMode="auto">
            <a:xfrm flipV="1">
              <a:off x="3688" y="1596"/>
              <a:ext cx="885" cy="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4" name="Line 6"/>
            <p:cNvSpPr>
              <a:spLocks noChangeShapeType="1"/>
            </p:cNvSpPr>
            <p:nvPr/>
          </p:nvSpPr>
          <p:spPr bwMode="auto">
            <a:xfrm flipH="1">
              <a:off x="3688" y="2052"/>
              <a:ext cx="1129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3" name="Line 5"/>
            <p:cNvSpPr>
              <a:spLocks noChangeShapeType="1"/>
            </p:cNvSpPr>
            <p:nvPr/>
          </p:nvSpPr>
          <p:spPr bwMode="auto">
            <a:xfrm flipH="1">
              <a:off x="3405" y="2052"/>
              <a:ext cx="14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2" name="Line 4"/>
            <p:cNvSpPr>
              <a:spLocks noChangeShapeType="1"/>
            </p:cNvSpPr>
            <p:nvPr/>
          </p:nvSpPr>
          <p:spPr bwMode="auto">
            <a:xfrm>
              <a:off x="3476" y="1596"/>
              <a:ext cx="1341" cy="4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1" name="Line 3"/>
            <p:cNvSpPr>
              <a:spLocks noChangeShapeType="1"/>
            </p:cNvSpPr>
            <p:nvPr/>
          </p:nvSpPr>
          <p:spPr bwMode="auto">
            <a:xfrm flipH="1" flipV="1">
              <a:off x="3405" y="2052"/>
              <a:ext cx="989" cy="4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2530" name="Line 2"/>
            <p:cNvSpPr>
              <a:spLocks noChangeShapeType="1"/>
            </p:cNvSpPr>
            <p:nvPr/>
          </p:nvSpPr>
          <p:spPr bwMode="auto">
            <a:xfrm flipH="1" flipV="1">
              <a:off x="3476" y="1596"/>
              <a:ext cx="918" cy="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graphicFrame>
        <p:nvGraphicFramePr>
          <p:cNvPr id="34" name="Таблица 33"/>
          <p:cNvGraphicFramePr>
            <a:graphicFrameLocks noGrp="1"/>
          </p:cNvGraphicFramePr>
          <p:nvPr/>
        </p:nvGraphicFramePr>
        <p:xfrm>
          <a:off x="3428992" y="37328"/>
          <a:ext cx="4873968" cy="2804160"/>
        </p:xfrm>
        <a:graphic>
          <a:graphicData uri="http://schemas.openxmlformats.org/drawingml/2006/table">
            <a:tbl>
              <a:tblPr/>
              <a:tblGrid>
                <a:gridCol w="1087235"/>
                <a:gridCol w="452921"/>
                <a:gridCol w="459681"/>
                <a:gridCol w="478834"/>
                <a:gridCol w="478834"/>
                <a:gridCol w="478834"/>
                <a:gridCol w="479961"/>
                <a:gridCol w="478834"/>
                <a:gridCol w="478834"/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0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i="1">
                          <a:latin typeface="Times New Roman"/>
                          <a:ea typeface="Calibri"/>
                          <a:cs typeface="Times New Roman"/>
                        </a:rPr>
                        <a:t>R(G)=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en-US" sz="20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0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-32" y="2928934"/>
            <a:ext cx="87154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ctr"/>
            <a:r>
              <a:rPr lang="ru-RU" sz="2400" b="1" dirty="0">
                <a:solidFill>
                  <a:srgbClr val="FF0000"/>
                </a:solidFill>
              </a:rPr>
              <a:t>Нахождение гамильтонова </a:t>
            </a:r>
            <a:r>
              <a:rPr lang="ru-RU" sz="2400" b="1" dirty="0" smtClean="0">
                <a:solidFill>
                  <a:srgbClr val="FF0000"/>
                </a:solidFill>
              </a:rPr>
              <a:t>цикла</a:t>
            </a:r>
            <a:endParaRPr lang="ru-RU" sz="2400" dirty="0"/>
          </a:p>
        </p:txBody>
      </p:sp>
      <p:sp>
        <p:nvSpPr>
          <p:cNvPr id="36" name="TextBox 35"/>
          <p:cNvSpPr txBox="1"/>
          <p:nvPr/>
        </p:nvSpPr>
        <p:spPr>
          <a:xfrm>
            <a:off x="0" y="335756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Включаем в </a:t>
            </a:r>
            <a:r>
              <a:rPr lang="en-US" sz="2400" i="1" dirty="0"/>
              <a:t>S</a:t>
            </a:r>
            <a:r>
              <a:rPr lang="ru-RU" sz="2400" dirty="0"/>
              <a:t> начальную вершину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0" y="371475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Первая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2</a:t>
            </a:r>
            <a:r>
              <a:rPr lang="ru-RU" sz="2400" i="1" dirty="0"/>
              <a:t> Гх</a:t>
            </a:r>
            <a:r>
              <a:rPr lang="ru-RU" sz="2400" i="1" baseline="-25000" dirty="0"/>
              <a:t>1</a:t>
            </a:r>
            <a:r>
              <a:rPr lang="ru-RU" sz="2400" i="1" dirty="0"/>
              <a:t>,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dirty="0"/>
              <a:t>}  и т.д. до вершины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i="1" dirty="0" smtClean="0"/>
              <a:t>:</a:t>
            </a:r>
            <a:endParaRPr lang="ru-R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0" y="407194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dirty="0"/>
              <a:t>}. Ребра (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i="1" dirty="0"/>
              <a:t>, х</a:t>
            </a:r>
            <a:r>
              <a:rPr lang="ru-RU" sz="2400" i="1" baseline="-25000" dirty="0"/>
              <a:t>1</a:t>
            </a:r>
            <a:r>
              <a:rPr lang="ru-RU" sz="2400" dirty="0"/>
              <a:t>) нет. Найдена гамильтонова цепь.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478632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Прибегнем к возвращению. Удалим из </a:t>
            </a:r>
            <a:r>
              <a:rPr lang="en-US" sz="2400" i="1" dirty="0"/>
              <a:t>S </a:t>
            </a:r>
            <a:r>
              <a:rPr lang="ru-RU" sz="2400" dirty="0"/>
              <a:t>вершину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dirty="0"/>
              <a:t>. </a:t>
            </a:r>
          </a:p>
          <a:p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-71470" y="5500702"/>
            <a:ext cx="96440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 </a:t>
            </a:r>
            <a:r>
              <a:rPr lang="ru-RU" sz="2400" i="1" dirty="0"/>
              <a:t>х</a:t>
            </a:r>
            <a:r>
              <a:rPr lang="ru-RU" sz="2400" i="1" baseline="-25000" dirty="0"/>
              <a:t>6</a:t>
            </a:r>
            <a:r>
              <a:rPr lang="ru-RU" sz="2400" dirty="0"/>
              <a:t> больше нет "возможных"  вершин. Удалим и ее.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41" name="TextBox 40"/>
          <p:cNvSpPr txBox="1"/>
          <p:nvPr/>
        </p:nvSpPr>
        <p:spPr>
          <a:xfrm>
            <a:off x="0" y="592933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 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dirty="0"/>
              <a:t> больше нет "возможных"  вершин. Удалим ее.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dirty="0"/>
              <a:t>}. 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6</a:t>
            </a:r>
            <a:r>
              <a:rPr lang="ru-RU" sz="2400" i="1" dirty="0"/>
              <a:t>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dirty="0"/>
              <a:t>}.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i="1" dirty="0"/>
              <a:t>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3, </a:t>
            </a:r>
            <a:r>
              <a:rPr lang="ru-RU" sz="2400" i="1" dirty="0"/>
              <a:t>х</a:t>
            </a:r>
            <a:r>
              <a:rPr lang="ru-RU" sz="2400" i="1" baseline="-25000" dirty="0"/>
              <a:t>4,</a:t>
            </a:r>
            <a:r>
              <a:rPr lang="ru-RU" sz="2400" i="1" dirty="0"/>
              <a:t>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dirty="0"/>
              <a:t>}.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716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 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dirty="0"/>
              <a:t> больше нет "возможных"  вершин. Удалим ее.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dirty="0"/>
              <a:t>}. 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i="1" dirty="0"/>
              <a:t>.</a:t>
            </a:r>
            <a:r>
              <a:rPr lang="ru-RU" sz="2400" dirty="0"/>
              <a:t>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dirty="0"/>
              <a:t>}.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73522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dirty="0"/>
              <a:t> больше нет "возможных"  вершин. Удалим из </a:t>
            </a:r>
            <a:r>
              <a:rPr lang="en-US" sz="2400" i="1" dirty="0"/>
              <a:t>S</a:t>
            </a:r>
            <a:r>
              <a:rPr lang="ru-RU" sz="2400" dirty="0"/>
              <a:t> вершину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dirty="0"/>
              <a:t>. </a:t>
            </a:r>
          </a:p>
          <a:p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dirty="0"/>
              <a:t>}. У </a:t>
            </a:r>
            <a:r>
              <a:rPr lang="ru-RU" sz="2400" i="1" dirty="0"/>
              <a:t>х</a:t>
            </a:r>
            <a:r>
              <a:rPr lang="ru-RU" sz="2400" i="1" baseline="-25000" dirty="0"/>
              <a:t>6</a:t>
            </a:r>
            <a:r>
              <a:rPr lang="ru-RU" sz="2400" dirty="0"/>
              <a:t> больше нет "возможных"  вершин. Удалим ее. </a:t>
            </a:r>
            <a:r>
              <a:rPr lang="en-US" sz="2400" i="1" dirty="0"/>
              <a:t>S</a:t>
            </a:r>
            <a:r>
              <a:rPr lang="ru-RU" sz="2400" i="1" dirty="0"/>
              <a:t>={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}</a:t>
            </a:r>
            <a:r>
              <a:rPr lang="ru-RU" sz="2400" dirty="0"/>
              <a:t>. 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i="1" dirty="0"/>
              <a:t>.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dirty="0"/>
              <a:t>}. 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6</a:t>
            </a:r>
            <a:r>
              <a:rPr lang="ru-RU" sz="2400" i="1" dirty="0"/>
              <a:t>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7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dirty="0"/>
              <a:t>}.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0030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Следующая "возможная"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i="1" dirty="0"/>
              <a:t>. 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dirty="0"/>
              <a:t>}.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8574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Ребра (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i="1" dirty="0"/>
              <a:t>, х</a:t>
            </a:r>
            <a:r>
              <a:rPr lang="ru-RU" sz="2400" i="1" baseline="-25000" dirty="0"/>
              <a:t>1</a:t>
            </a:r>
            <a:r>
              <a:rPr lang="ru-RU" sz="2400" dirty="0"/>
              <a:t>) нет. Найдена гамильтонова цепь. Удаляем вершины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5</a:t>
            </a:r>
            <a:r>
              <a:rPr lang="ru-RU" sz="2400" i="1" dirty="0"/>
              <a:t>. </a:t>
            </a:r>
            <a:r>
              <a:rPr lang="ru-RU" sz="2400" i="1" dirty="0" smtClean="0"/>
              <a:t> </a:t>
            </a:r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dirty="0"/>
              <a:t>}.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1475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 т.д., пока последней не окажется вершина 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dirty="0"/>
              <a:t>, которая образует цикл с вершиной 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.</a:t>
            </a:r>
            <a:r>
              <a:rPr lang="ru-RU" sz="2400" dirty="0"/>
              <a:t> Гамильтонов цикл будет</a:t>
            </a:r>
          </a:p>
          <a:p>
            <a:pPr algn="ctr"/>
            <a:r>
              <a:rPr lang="en-US" sz="2400" i="1" dirty="0"/>
              <a:t>S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en-US" sz="2400" i="1" dirty="0"/>
              <a:t>x</a:t>
            </a:r>
            <a:r>
              <a:rPr lang="ru-RU" sz="2400" i="1" baseline="-25000" dirty="0"/>
              <a:t>1</a:t>
            </a:r>
            <a:r>
              <a:rPr lang="ru-RU" sz="2400" i="1" dirty="0"/>
              <a:t>, х</a:t>
            </a:r>
            <a:r>
              <a:rPr lang="ru-RU" sz="2400" i="1" baseline="-25000" dirty="0"/>
              <a:t>2</a:t>
            </a:r>
            <a:r>
              <a:rPr lang="ru-RU" sz="2400" i="1" dirty="0"/>
              <a:t>, х</a:t>
            </a:r>
            <a:r>
              <a:rPr lang="ru-RU" sz="2400" i="1" baseline="-25000" dirty="0"/>
              <a:t>3</a:t>
            </a:r>
            <a:r>
              <a:rPr lang="ru-RU" sz="2400" i="1" dirty="0"/>
              <a:t>,</a:t>
            </a:r>
            <a:r>
              <a:rPr lang="ru-RU" sz="2400" i="1" baseline="-25000" dirty="0"/>
              <a:t> </a:t>
            </a:r>
            <a:r>
              <a:rPr lang="ru-RU" sz="2400" i="1" dirty="0"/>
              <a:t>х</a:t>
            </a:r>
            <a:r>
              <a:rPr lang="ru-RU" sz="2400" i="1" baseline="-25000" dirty="0"/>
              <a:t>5</a:t>
            </a:r>
            <a:r>
              <a:rPr lang="ru-RU" sz="2400" i="1" dirty="0"/>
              <a:t>, х</a:t>
            </a:r>
            <a:r>
              <a:rPr lang="ru-RU" sz="2400" i="1" baseline="-25000" dirty="0"/>
              <a:t>6</a:t>
            </a:r>
            <a:r>
              <a:rPr lang="ru-RU" sz="2400" i="1" dirty="0"/>
              <a:t>, х</a:t>
            </a:r>
            <a:r>
              <a:rPr lang="ru-RU" sz="2400" i="1" baseline="-25000" dirty="0"/>
              <a:t>7</a:t>
            </a:r>
            <a:r>
              <a:rPr lang="ru-RU" sz="2400" i="1" dirty="0"/>
              <a:t>, х</a:t>
            </a:r>
            <a:r>
              <a:rPr lang="ru-RU" sz="2400" i="1" baseline="-25000" dirty="0"/>
              <a:t>4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21528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1505" name="Group 1"/>
          <p:cNvGrpSpPr>
            <a:grpSpLocks noChangeAspect="1"/>
          </p:cNvGrpSpPr>
          <p:nvPr/>
        </p:nvGrpSpPr>
        <p:grpSpPr bwMode="auto">
          <a:xfrm>
            <a:off x="2857488" y="4857760"/>
            <a:ext cx="3286148" cy="1928802"/>
            <a:chOff x="2841" y="937"/>
            <a:chExt cx="2541" cy="1951"/>
          </a:xfrm>
        </p:grpSpPr>
        <p:sp>
          <p:nvSpPr>
            <p:cNvPr id="21527" name="AutoShape 23"/>
            <p:cNvSpPr>
              <a:spLocks noChangeAspect="1" noChangeArrowheads="1" noTextEdit="1"/>
            </p:cNvSpPr>
            <p:nvPr/>
          </p:nvSpPr>
          <p:spPr bwMode="auto">
            <a:xfrm>
              <a:off x="2841" y="937"/>
              <a:ext cx="2541" cy="195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26" name="Oval 22"/>
            <p:cNvSpPr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25" name="Text Box 21"/>
            <p:cNvSpPr txBox="1"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24" name="Oval 20"/>
            <p:cNvSpPr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23" name="Text Box 19"/>
            <p:cNvSpPr txBox="1"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22" name="Oval 18"/>
            <p:cNvSpPr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21" name="Text Box 17"/>
            <p:cNvSpPr txBox="1"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20" name="Oval 16"/>
            <p:cNvSpPr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18" name="Oval 14"/>
            <p:cNvSpPr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16" name="Oval 12"/>
            <p:cNvSpPr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5" name="Text Box 11"/>
            <p:cNvSpPr txBox="1"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14" name="Oval 10"/>
            <p:cNvSpPr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3" name="Text Box 9"/>
            <p:cNvSpPr txBox="1"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1512" name="Line 8"/>
            <p:cNvSpPr>
              <a:spLocks noChangeShapeType="1"/>
            </p:cNvSpPr>
            <p:nvPr/>
          </p:nvSpPr>
          <p:spPr bwMode="auto">
            <a:xfrm>
              <a:off x="4252" y="1216"/>
              <a:ext cx="283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1" name="Line 7"/>
            <p:cNvSpPr>
              <a:spLocks noChangeShapeType="1"/>
            </p:cNvSpPr>
            <p:nvPr/>
          </p:nvSpPr>
          <p:spPr bwMode="auto">
            <a:xfrm>
              <a:off x="4817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10" name="Line 6"/>
            <p:cNvSpPr>
              <a:spLocks noChangeShapeType="1"/>
            </p:cNvSpPr>
            <p:nvPr/>
          </p:nvSpPr>
          <p:spPr bwMode="auto">
            <a:xfrm flipH="1" flipV="1">
              <a:off x="3264" y="2331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09" name="Line 5"/>
            <p:cNvSpPr>
              <a:spLocks noChangeShapeType="1"/>
            </p:cNvSpPr>
            <p:nvPr/>
          </p:nvSpPr>
          <p:spPr bwMode="auto">
            <a:xfrm flipV="1">
              <a:off x="3123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08" name="Line 4"/>
            <p:cNvSpPr>
              <a:spLocks noChangeShapeType="1"/>
            </p:cNvSpPr>
            <p:nvPr/>
          </p:nvSpPr>
          <p:spPr bwMode="auto">
            <a:xfrm>
              <a:off x="4111" y="1356"/>
              <a:ext cx="283" cy="11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07" name="Line 3"/>
            <p:cNvSpPr>
              <a:spLocks noChangeShapeType="1"/>
            </p:cNvSpPr>
            <p:nvPr/>
          </p:nvSpPr>
          <p:spPr bwMode="auto">
            <a:xfrm flipH="1">
              <a:off x="3829" y="2192"/>
              <a:ext cx="988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1506" name="Line 2"/>
            <p:cNvSpPr>
              <a:spLocks noChangeShapeType="1"/>
            </p:cNvSpPr>
            <p:nvPr/>
          </p:nvSpPr>
          <p:spPr bwMode="auto">
            <a:xfrm flipH="1" flipV="1">
              <a:off x="3547" y="1495"/>
              <a:ext cx="847" cy="9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21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0"/>
            <a:ext cx="8715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Построение графа пересечений </a:t>
            </a:r>
            <a:r>
              <a:rPr lang="en-US" sz="2400" b="1" i="1" dirty="0">
                <a:solidFill>
                  <a:srgbClr val="FF0000"/>
                </a:solidFill>
              </a:rPr>
              <a:t>G</a:t>
            </a:r>
            <a:r>
              <a:rPr lang="ru-RU" sz="2400" b="1" baseline="30000" dirty="0">
                <a:solidFill>
                  <a:srgbClr val="FF0000"/>
                </a:solidFill>
              </a:rPr>
              <a:t>'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2860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Перенумеруем вершины графа таким образом, чтобы ребра гамильтонова цикла были внешними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857224" y="1285860"/>
          <a:ext cx="7072365" cy="863423"/>
        </p:xfrm>
        <a:graphic>
          <a:graphicData uri="http://schemas.openxmlformats.org/drawingml/2006/table">
            <a:tbl>
              <a:tblPr/>
              <a:tblGrid>
                <a:gridCol w="3001691"/>
                <a:gridCol w="607180"/>
                <a:gridCol w="577249"/>
                <a:gridCol w="577249"/>
                <a:gridCol w="577249"/>
                <a:gridCol w="577249"/>
                <a:gridCol w="577249"/>
                <a:gridCol w="577249"/>
              </a:tblGrid>
              <a:tr h="27158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до перенумерации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79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после перенумерации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 dirty="0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 dirty="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1406" y="2143116"/>
            <a:ext cx="8786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Тогда граф </a:t>
            </a:r>
            <a:r>
              <a:rPr lang="en-US" sz="2400" i="1" dirty="0"/>
              <a:t>G </a:t>
            </a:r>
            <a:r>
              <a:rPr lang="ru-RU" sz="2400" i="1" dirty="0"/>
              <a:t>(</a:t>
            </a:r>
            <a:r>
              <a:rPr lang="en-US" sz="2400" i="1" dirty="0"/>
              <a:t>X</a:t>
            </a:r>
            <a:r>
              <a:rPr lang="ru-RU" sz="2400" i="1" dirty="0"/>
              <a:t>,</a:t>
            </a:r>
            <a:r>
              <a:rPr lang="en-US" sz="2400" i="1" dirty="0"/>
              <a:t>U</a:t>
            </a:r>
            <a:r>
              <a:rPr lang="ru-RU" sz="2400" i="1" dirty="0"/>
              <a:t>) </a:t>
            </a:r>
            <a:r>
              <a:rPr lang="ru-RU" sz="2400" dirty="0"/>
              <a:t>будет выглядеть так </a:t>
            </a:r>
          </a:p>
        </p:txBody>
      </p:sp>
      <p:sp>
        <p:nvSpPr>
          <p:cNvPr id="20512" name="Rectangle 3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20481" name="Group 1"/>
          <p:cNvGrpSpPr>
            <a:grpSpLocks noChangeAspect="1"/>
          </p:cNvGrpSpPr>
          <p:nvPr/>
        </p:nvGrpSpPr>
        <p:grpSpPr bwMode="auto">
          <a:xfrm>
            <a:off x="500033" y="2714620"/>
            <a:ext cx="3122861" cy="2428892"/>
            <a:chOff x="2841" y="937"/>
            <a:chExt cx="2541" cy="1951"/>
          </a:xfrm>
        </p:grpSpPr>
        <p:sp>
          <p:nvSpPr>
            <p:cNvPr id="20511" name="AutoShape 31"/>
            <p:cNvSpPr>
              <a:spLocks noChangeAspect="1" noChangeArrowheads="1" noTextEdit="1"/>
            </p:cNvSpPr>
            <p:nvPr/>
          </p:nvSpPr>
          <p:spPr bwMode="auto">
            <a:xfrm>
              <a:off x="2841" y="937"/>
              <a:ext cx="2541" cy="195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10" name="Oval 30"/>
            <p:cNvSpPr>
              <a:spLocks noChangeArrowheads="1"/>
            </p:cNvSpPr>
            <p:nvPr/>
          </p:nvSpPr>
          <p:spPr bwMode="auto">
            <a:xfrm>
              <a:off x="3826" y="937"/>
              <a:ext cx="423" cy="4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09" name="Text Box 29"/>
            <p:cNvSpPr txBox="1"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1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08" name="Oval 28"/>
            <p:cNvSpPr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07" name="Text Box 27"/>
            <p:cNvSpPr txBox="1"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2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06" name="Oval 26"/>
            <p:cNvSpPr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05" name="Text Box 25"/>
            <p:cNvSpPr txBox="1"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04" name="Oval 24"/>
            <p:cNvSpPr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03" name="Text Box 23"/>
            <p:cNvSpPr txBox="1"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02" name="Oval 22"/>
            <p:cNvSpPr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501" name="Text Box 21"/>
            <p:cNvSpPr txBox="1"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500" name="Oval 20"/>
            <p:cNvSpPr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9" name="Text Box 19"/>
            <p:cNvSpPr txBox="1"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498" name="Oval 18"/>
            <p:cNvSpPr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7" name="Text Box 17"/>
            <p:cNvSpPr txBox="1"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Calibri" pitchFamily="34" charset="0"/>
                  <a:cs typeface="Times New Roman" pitchFamily="18" charset="0"/>
                </a:rPr>
                <a:t>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20496" name="Line 16"/>
            <p:cNvSpPr>
              <a:spLocks noChangeShapeType="1"/>
            </p:cNvSpPr>
            <p:nvPr/>
          </p:nvSpPr>
          <p:spPr bwMode="auto">
            <a:xfrm>
              <a:off x="4252" y="1216"/>
              <a:ext cx="283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5" name="Line 15"/>
            <p:cNvSpPr>
              <a:spLocks noChangeShapeType="1"/>
            </p:cNvSpPr>
            <p:nvPr/>
          </p:nvSpPr>
          <p:spPr bwMode="auto">
            <a:xfrm>
              <a:off x="4817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4" name="Line 14"/>
            <p:cNvSpPr>
              <a:spLocks noChangeShapeType="1"/>
            </p:cNvSpPr>
            <p:nvPr/>
          </p:nvSpPr>
          <p:spPr bwMode="auto">
            <a:xfrm flipH="1" flipV="1">
              <a:off x="3264" y="2331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3" name="Line 13"/>
            <p:cNvSpPr>
              <a:spLocks noChangeShapeType="1"/>
            </p:cNvSpPr>
            <p:nvPr/>
          </p:nvSpPr>
          <p:spPr bwMode="auto">
            <a:xfrm flipV="1">
              <a:off x="3123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2" name="Line 12"/>
            <p:cNvSpPr>
              <a:spLocks noChangeShapeType="1"/>
            </p:cNvSpPr>
            <p:nvPr/>
          </p:nvSpPr>
          <p:spPr bwMode="auto">
            <a:xfrm flipH="1">
              <a:off x="3547" y="1216"/>
              <a:ext cx="282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1" name="Line 11"/>
            <p:cNvSpPr>
              <a:spLocks noChangeShapeType="1"/>
            </p:cNvSpPr>
            <p:nvPr/>
          </p:nvSpPr>
          <p:spPr bwMode="auto">
            <a:xfrm flipH="1">
              <a:off x="3829" y="2192"/>
              <a:ext cx="988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90" name="Line 10"/>
            <p:cNvSpPr>
              <a:spLocks noChangeShapeType="1"/>
            </p:cNvSpPr>
            <p:nvPr/>
          </p:nvSpPr>
          <p:spPr bwMode="auto">
            <a:xfrm flipH="1" flipV="1">
              <a:off x="3547" y="1495"/>
              <a:ext cx="847" cy="9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9" name="Line 9"/>
            <p:cNvSpPr>
              <a:spLocks noChangeShapeType="1"/>
            </p:cNvSpPr>
            <p:nvPr/>
          </p:nvSpPr>
          <p:spPr bwMode="auto">
            <a:xfrm>
              <a:off x="4112" y="1356"/>
              <a:ext cx="705" cy="6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8" name="Line 8"/>
            <p:cNvSpPr>
              <a:spLocks noChangeShapeType="1"/>
            </p:cNvSpPr>
            <p:nvPr/>
          </p:nvSpPr>
          <p:spPr bwMode="auto">
            <a:xfrm>
              <a:off x="4535" y="1495"/>
              <a:ext cx="1" cy="9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7" name="Line 7"/>
            <p:cNvSpPr>
              <a:spLocks noChangeShapeType="1"/>
            </p:cNvSpPr>
            <p:nvPr/>
          </p:nvSpPr>
          <p:spPr bwMode="auto">
            <a:xfrm flipV="1">
              <a:off x="3406" y="1495"/>
              <a:ext cx="1129" cy="5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6" name="Line 6"/>
            <p:cNvSpPr>
              <a:spLocks noChangeShapeType="1"/>
            </p:cNvSpPr>
            <p:nvPr/>
          </p:nvSpPr>
          <p:spPr bwMode="auto">
            <a:xfrm>
              <a:off x="3547" y="1495"/>
              <a:ext cx="1270" cy="5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5" name="Line 5"/>
            <p:cNvSpPr>
              <a:spLocks noChangeShapeType="1"/>
            </p:cNvSpPr>
            <p:nvPr/>
          </p:nvSpPr>
          <p:spPr bwMode="auto">
            <a:xfrm>
              <a:off x="3406" y="2052"/>
              <a:ext cx="14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4" name="Line 4"/>
            <p:cNvSpPr>
              <a:spLocks noChangeShapeType="1"/>
            </p:cNvSpPr>
            <p:nvPr/>
          </p:nvSpPr>
          <p:spPr bwMode="auto">
            <a:xfrm flipH="1">
              <a:off x="4676" y="2331"/>
              <a:ext cx="283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3" name="Line 3"/>
            <p:cNvSpPr>
              <a:spLocks noChangeShapeType="1"/>
            </p:cNvSpPr>
            <p:nvPr/>
          </p:nvSpPr>
          <p:spPr bwMode="auto">
            <a:xfrm flipH="1">
              <a:off x="3829" y="2749"/>
              <a:ext cx="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20482" name="Line 2"/>
            <p:cNvSpPr>
              <a:spLocks noChangeShapeType="1"/>
            </p:cNvSpPr>
            <p:nvPr/>
          </p:nvSpPr>
          <p:spPr bwMode="auto">
            <a:xfrm flipH="1" flipV="1">
              <a:off x="3547" y="1495"/>
              <a:ext cx="141" cy="9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graphicFrame>
        <p:nvGraphicFramePr>
          <p:cNvPr id="38" name="Таблица 37"/>
          <p:cNvGraphicFramePr>
            <a:graphicFrameLocks noGrp="1"/>
          </p:cNvGraphicFramePr>
          <p:nvPr/>
        </p:nvGraphicFramePr>
        <p:xfrm>
          <a:off x="3571868" y="2312285"/>
          <a:ext cx="5429253" cy="3785616"/>
        </p:xfrm>
        <a:graphic>
          <a:graphicData uri="http://schemas.openxmlformats.org/drawingml/2006/table">
            <a:tbl>
              <a:tblPr/>
              <a:tblGrid>
                <a:gridCol w="1038734"/>
                <a:gridCol w="432627"/>
                <a:gridCol w="454044"/>
                <a:gridCol w="454044"/>
                <a:gridCol w="454044"/>
                <a:gridCol w="455114"/>
                <a:gridCol w="454044"/>
                <a:gridCol w="454044"/>
                <a:gridCol w="555776"/>
                <a:gridCol w="676782"/>
              </a:tblGrid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p</a:t>
                      </a:r>
                      <a:r>
                        <a:rPr lang="en-US" sz="2400" i="1" baseline="-25000">
                          <a:latin typeface="Times New Roman"/>
                          <a:ea typeface="Calibri"/>
                          <a:cs typeface="Times New Roman"/>
                        </a:rPr>
                        <a:t>i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R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(</a:t>
                      </a: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G</a:t>
                      </a: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)=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×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888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х</a:t>
                      </a:r>
                      <a:r>
                        <a:rPr lang="ru-RU" sz="2400" i="1" baseline="-250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15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522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20521" name="Object 41"/>
          <p:cNvGraphicFramePr>
            <a:graphicFrameLocks noChangeAspect="1"/>
          </p:cNvGraphicFramePr>
          <p:nvPr/>
        </p:nvGraphicFramePr>
        <p:xfrm>
          <a:off x="7834343" y="5715017"/>
          <a:ext cx="1309689" cy="523876"/>
        </p:xfrm>
        <a:graphic>
          <a:graphicData uri="http://schemas.openxmlformats.org/presentationml/2006/ole">
            <p:oleObj spid="_x0000_s20523" name="Формула" r:id="rId3" imgW="660113" imgH="266584" progId="Equation.3">
              <p:embed/>
            </p:oleObj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0" y="6027003"/>
            <a:ext cx="6643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Определим  </a:t>
            </a:r>
            <a:r>
              <a:rPr lang="en-US" sz="2400" i="1" dirty="0"/>
              <a:t>p</a:t>
            </a:r>
            <a:r>
              <a:rPr lang="ru-RU" sz="2400" i="1" baseline="-25000" dirty="0"/>
              <a:t>26</a:t>
            </a:r>
            <a:r>
              <a:rPr lang="ru-RU" sz="2400" dirty="0"/>
              <a:t>, для чего в матрице </a:t>
            </a:r>
            <a:r>
              <a:rPr lang="ru-RU" sz="2400" i="1" baseline="-25000" dirty="0"/>
              <a:t> </a:t>
            </a:r>
            <a:r>
              <a:rPr lang="en-US" sz="2400" i="1" dirty="0"/>
              <a:t>R</a:t>
            </a:r>
            <a:r>
              <a:rPr lang="ru-RU" sz="2400" dirty="0"/>
              <a:t>  выделим подматрицу </a:t>
            </a:r>
            <a:r>
              <a:rPr lang="ru-RU" sz="2400" i="1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26</a:t>
            </a:r>
            <a:r>
              <a:rPr lang="ru-RU" sz="2400" i="1" baseline="-25000" dirty="0" smtClean="0"/>
              <a:t>.</a:t>
            </a:r>
            <a:endParaRPr lang="ru-RU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2857488" y="6396359"/>
            <a:ext cx="56435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Ребро (</a:t>
            </a:r>
            <a:r>
              <a:rPr lang="ru-RU" sz="2400" i="1" dirty="0"/>
              <a:t>х</a:t>
            </a:r>
            <a:r>
              <a:rPr lang="ru-RU" sz="2400" i="1" baseline="-25000" dirty="0"/>
              <a:t>2</a:t>
            </a:r>
            <a:r>
              <a:rPr lang="ru-RU" sz="2400" i="1" dirty="0"/>
              <a:t>х</a:t>
            </a:r>
            <a:r>
              <a:rPr lang="ru-RU" sz="2400" i="1" baseline="-25000" dirty="0"/>
              <a:t>6</a:t>
            </a:r>
            <a:r>
              <a:rPr lang="ru-RU" sz="2400" dirty="0"/>
              <a:t>) пересекается с ребром (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х</a:t>
            </a:r>
            <a:r>
              <a:rPr lang="ru-RU" sz="2400" i="1" baseline="-25000" dirty="0"/>
              <a:t>3</a:t>
            </a:r>
            <a:r>
              <a:rPr lang="ru-RU" sz="2400" dirty="0"/>
              <a:t>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42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7786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Строим граф пересечений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endParaRPr lang="ru-RU" sz="2400" dirty="0"/>
          </a:p>
        </p:txBody>
      </p:sp>
      <p:grpSp>
        <p:nvGrpSpPr>
          <p:cNvPr id="19457" name="Group 1"/>
          <p:cNvGrpSpPr>
            <a:grpSpLocks noChangeAspect="1"/>
          </p:cNvGrpSpPr>
          <p:nvPr/>
        </p:nvGrpSpPr>
        <p:grpSpPr bwMode="auto">
          <a:xfrm>
            <a:off x="4714875" y="1"/>
            <a:ext cx="2928959" cy="627633"/>
            <a:chOff x="2700" y="8456"/>
            <a:chExt cx="1976" cy="417"/>
          </a:xfrm>
        </p:grpSpPr>
        <p:sp>
          <p:nvSpPr>
            <p:cNvPr id="19458" name="AutoShape 2"/>
            <p:cNvSpPr>
              <a:spLocks noChangeAspect="1" noChangeArrowheads="1"/>
            </p:cNvSpPr>
            <p:nvPr/>
          </p:nvSpPr>
          <p:spPr bwMode="auto">
            <a:xfrm>
              <a:off x="2700" y="8456"/>
              <a:ext cx="1976" cy="41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59" name="Oval 3"/>
            <p:cNvSpPr>
              <a:spLocks noChangeArrowheads="1"/>
            </p:cNvSpPr>
            <p:nvPr/>
          </p:nvSpPr>
          <p:spPr bwMode="auto">
            <a:xfrm>
              <a:off x="2841" y="8456"/>
              <a:ext cx="422" cy="41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60" name="Text Box 4"/>
            <p:cNvSpPr txBox="1">
              <a:spLocks noChangeArrowheads="1"/>
            </p:cNvSpPr>
            <p:nvPr/>
          </p:nvSpPr>
          <p:spPr bwMode="auto">
            <a:xfrm>
              <a:off x="2841" y="8456"/>
              <a:ext cx="562" cy="41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61" name="Oval 5"/>
            <p:cNvSpPr>
              <a:spLocks noChangeArrowheads="1"/>
            </p:cNvSpPr>
            <p:nvPr/>
          </p:nvSpPr>
          <p:spPr bwMode="auto">
            <a:xfrm>
              <a:off x="3970" y="8456"/>
              <a:ext cx="422" cy="41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62" name="Text Box 6"/>
            <p:cNvSpPr txBox="1">
              <a:spLocks noChangeArrowheads="1"/>
            </p:cNvSpPr>
            <p:nvPr/>
          </p:nvSpPr>
          <p:spPr bwMode="auto">
            <a:xfrm>
              <a:off x="3970" y="8456"/>
              <a:ext cx="562" cy="417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63" name="Line 7"/>
            <p:cNvSpPr>
              <a:spLocks noChangeShapeType="1"/>
            </p:cNvSpPr>
            <p:nvPr/>
          </p:nvSpPr>
          <p:spPr bwMode="auto">
            <a:xfrm flipV="1">
              <a:off x="3265" y="8595"/>
              <a:ext cx="70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0" y="642918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Определим  </a:t>
            </a:r>
            <a:r>
              <a:rPr lang="en-US" sz="2400" i="1" dirty="0"/>
              <a:t>p</a:t>
            </a:r>
            <a:r>
              <a:rPr lang="ru-RU" sz="2400" i="1" baseline="-25000" dirty="0"/>
              <a:t>24</a:t>
            </a:r>
            <a:r>
              <a:rPr lang="ru-RU" sz="2400" dirty="0"/>
              <a:t>, для чего в матрице</a:t>
            </a:r>
            <a:r>
              <a:rPr lang="ru-RU" sz="2400" i="1" baseline="-25000" dirty="0"/>
              <a:t>  </a:t>
            </a:r>
            <a:r>
              <a:rPr lang="en-US" sz="2400" i="1" dirty="0"/>
              <a:t>R</a:t>
            </a:r>
            <a:r>
              <a:rPr lang="ru-RU" sz="2400" dirty="0"/>
              <a:t>  выделим подматрицу </a:t>
            </a:r>
            <a:r>
              <a:rPr lang="ru-RU" sz="2400" i="1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24</a:t>
            </a:r>
            <a:r>
              <a:rPr lang="ru-RU" sz="2400" i="1" baseline="-25000" dirty="0" smtClean="0"/>
              <a:t>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107154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Ребро (</a:t>
            </a:r>
            <a:r>
              <a:rPr lang="ru-RU" sz="2400" i="1" dirty="0"/>
              <a:t>х</a:t>
            </a:r>
            <a:r>
              <a:rPr lang="ru-RU" sz="2400" i="1" baseline="-25000" dirty="0"/>
              <a:t>2</a:t>
            </a:r>
            <a:r>
              <a:rPr lang="ru-RU" sz="2400" i="1" dirty="0"/>
              <a:t>х</a:t>
            </a:r>
            <a:r>
              <a:rPr lang="ru-RU" sz="2400" i="1" baseline="-25000" dirty="0"/>
              <a:t>4</a:t>
            </a:r>
            <a:r>
              <a:rPr lang="ru-RU" sz="2400" dirty="0"/>
              <a:t>) пересекается с ребром (</a:t>
            </a:r>
            <a:r>
              <a:rPr lang="ru-RU" sz="2400" i="1" dirty="0"/>
              <a:t>х</a:t>
            </a:r>
            <a:r>
              <a:rPr lang="ru-RU" sz="2400" i="1" baseline="-25000" dirty="0"/>
              <a:t>1</a:t>
            </a:r>
            <a:r>
              <a:rPr lang="ru-RU" sz="2400" i="1" dirty="0"/>
              <a:t>х</a:t>
            </a:r>
            <a:r>
              <a:rPr lang="ru-RU" sz="2400" i="1" baseline="-25000" dirty="0"/>
              <a:t>3</a:t>
            </a:r>
            <a:r>
              <a:rPr lang="ru-RU" sz="2400" dirty="0"/>
              <a:t>). </a:t>
            </a:r>
            <a:r>
              <a:rPr lang="en-US" sz="2400" i="1" dirty="0"/>
              <a:t>p</a:t>
            </a:r>
            <a:r>
              <a:rPr lang="ru-RU" sz="2400" i="1" baseline="-25000" dirty="0"/>
              <a:t>2</a:t>
            </a:r>
            <a:r>
              <a:rPr lang="ru-RU" sz="2400" i="1" dirty="0"/>
              <a:t>=</a:t>
            </a:r>
            <a:r>
              <a:rPr lang="ru-RU" sz="2400" dirty="0"/>
              <a:t>2.</a:t>
            </a:r>
          </a:p>
          <a:p>
            <a:r>
              <a:rPr lang="ru-RU" sz="2400" dirty="0"/>
              <a:t>Продолжаем строить граф пересечений </a:t>
            </a:r>
            <a:r>
              <a:rPr lang="en-US" sz="2400" i="1" dirty="0"/>
              <a:t>G</a:t>
            </a:r>
            <a:r>
              <a:rPr lang="ru-RU" sz="2400" i="1" baseline="30000" dirty="0"/>
              <a:t>'</a:t>
            </a:r>
            <a:r>
              <a:rPr lang="ru-RU" sz="2400" dirty="0"/>
              <a:t>. </a:t>
            </a:r>
          </a:p>
        </p:txBody>
      </p:sp>
      <p:grpSp>
        <p:nvGrpSpPr>
          <p:cNvPr id="19464" name="Group 8"/>
          <p:cNvGrpSpPr>
            <a:grpSpLocks noChangeAspect="1"/>
          </p:cNvGrpSpPr>
          <p:nvPr/>
        </p:nvGrpSpPr>
        <p:grpSpPr bwMode="auto">
          <a:xfrm>
            <a:off x="6143636" y="1142984"/>
            <a:ext cx="2633251" cy="1363648"/>
            <a:chOff x="2421" y="8001"/>
            <a:chExt cx="2520" cy="1306"/>
          </a:xfrm>
        </p:grpSpPr>
        <p:sp>
          <p:nvSpPr>
            <p:cNvPr id="19465" name="AutoShape 9"/>
            <p:cNvSpPr>
              <a:spLocks noChangeAspect="1" noChangeArrowheads="1"/>
            </p:cNvSpPr>
            <p:nvPr/>
          </p:nvSpPr>
          <p:spPr bwMode="auto">
            <a:xfrm>
              <a:off x="2421" y="8001"/>
              <a:ext cx="2520" cy="1306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2601" y="8001"/>
              <a:ext cx="538" cy="5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67" name="Text Box 11"/>
            <p:cNvSpPr txBox="1">
              <a:spLocks noChangeArrowheads="1"/>
            </p:cNvSpPr>
            <p:nvPr/>
          </p:nvSpPr>
          <p:spPr bwMode="auto">
            <a:xfrm>
              <a:off x="2601" y="8001"/>
              <a:ext cx="717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4041" y="8001"/>
              <a:ext cx="538" cy="5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69" name="Text Box 13"/>
            <p:cNvSpPr txBox="1">
              <a:spLocks noChangeArrowheads="1"/>
            </p:cNvSpPr>
            <p:nvPr/>
          </p:nvSpPr>
          <p:spPr bwMode="auto">
            <a:xfrm>
              <a:off x="4041" y="8001"/>
              <a:ext cx="716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70" name="Line 14"/>
            <p:cNvSpPr>
              <a:spLocks noChangeShapeType="1"/>
            </p:cNvSpPr>
            <p:nvPr/>
          </p:nvSpPr>
          <p:spPr bwMode="auto">
            <a:xfrm flipV="1">
              <a:off x="3142" y="8181"/>
              <a:ext cx="899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2601" y="8759"/>
              <a:ext cx="538" cy="5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72" name="Text Box 16"/>
            <p:cNvSpPr txBox="1">
              <a:spLocks noChangeArrowheads="1"/>
            </p:cNvSpPr>
            <p:nvPr/>
          </p:nvSpPr>
          <p:spPr bwMode="auto">
            <a:xfrm>
              <a:off x="2601" y="8769"/>
              <a:ext cx="718" cy="5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73" name="Line 17"/>
            <p:cNvSpPr>
              <a:spLocks noChangeShapeType="1"/>
            </p:cNvSpPr>
            <p:nvPr/>
          </p:nvSpPr>
          <p:spPr bwMode="auto">
            <a:xfrm flipH="1">
              <a:off x="3142" y="8330"/>
              <a:ext cx="899" cy="7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0" y="1857364"/>
            <a:ext cx="59293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После обработки остальных ребер получим граф пересечений </a:t>
            </a:r>
            <a:r>
              <a:rPr lang="en-US" sz="2400" i="1" dirty="0"/>
              <a:t>G</a:t>
            </a:r>
            <a:r>
              <a:rPr lang="ru-RU" sz="2400" i="1" baseline="30000" dirty="0"/>
              <a:t>' </a:t>
            </a:r>
            <a:endParaRPr lang="ru-RU" sz="2400" dirty="0"/>
          </a:p>
        </p:txBody>
      </p:sp>
      <p:grpSp>
        <p:nvGrpSpPr>
          <p:cNvPr id="19474" name="Group 18"/>
          <p:cNvGrpSpPr>
            <a:grpSpLocks noChangeAspect="1"/>
          </p:cNvGrpSpPr>
          <p:nvPr/>
        </p:nvGrpSpPr>
        <p:grpSpPr bwMode="auto">
          <a:xfrm>
            <a:off x="0" y="2571744"/>
            <a:ext cx="4143372" cy="3062492"/>
            <a:chOff x="1341" y="2196"/>
            <a:chExt cx="4140" cy="3060"/>
          </a:xfrm>
        </p:grpSpPr>
        <p:sp>
          <p:nvSpPr>
            <p:cNvPr id="19475" name="AutoShape 19"/>
            <p:cNvSpPr>
              <a:spLocks noChangeAspect="1" noChangeArrowheads="1"/>
            </p:cNvSpPr>
            <p:nvPr/>
          </p:nvSpPr>
          <p:spPr bwMode="auto">
            <a:xfrm>
              <a:off x="1341" y="2196"/>
              <a:ext cx="4140" cy="306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2601" y="2376"/>
              <a:ext cx="538" cy="5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77" name="Text Box 21"/>
            <p:cNvSpPr txBox="1">
              <a:spLocks noChangeArrowheads="1"/>
            </p:cNvSpPr>
            <p:nvPr/>
          </p:nvSpPr>
          <p:spPr bwMode="auto">
            <a:xfrm>
              <a:off x="2601" y="2376"/>
              <a:ext cx="717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3681" y="2376"/>
              <a:ext cx="539" cy="53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79" name="Text Box 23"/>
            <p:cNvSpPr txBox="1">
              <a:spLocks noChangeArrowheads="1"/>
            </p:cNvSpPr>
            <p:nvPr/>
          </p:nvSpPr>
          <p:spPr bwMode="auto">
            <a:xfrm>
              <a:off x="3681" y="2376"/>
              <a:ext cx="717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2601" y="4716"/>
              <a:ext cx="538" cy="5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81" name="Text Box 25"/>
            <p:cNvSpPr txBox="1">
              <a:spLocks noChangeArrowheads="1"/>
            </p:cNvSpPr>
            <p:nvPr/>
          </p:nvSpPr>
          <p:spPr bwMode="auto">
            <a:xfrm>
              <a:off x="2601" y="4716"/>
              <a:ext cx="718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1881" y="3997"/>
              <a:ext cx="538" cy="5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83" name="Text Box 27"/>
            <p:cNvSpPr txBox="1">
              <a:spLocks noChangeArrowheads="1"/>
            </p:cNvSpPr>
            <p:nvPr/>
          </p:nvSpPr>
          <p:spPr bwMode="auto">
            <a:xfrm>
              <a:off x="1881" y="3997"/>
              <a:ext cx="718" cy="5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4582" y="3096"/>
              <a:ext cx="538" cy="5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85" name="Text Box 29"/>
            <p:cNvSpPr txBox="1">
              <a:spLocks noChangeArrowheads="1"/>
            </p:cNvSpPr>
            <p:nvPr/>
          </p:nvSpPr>
          <p:spPr bwMode="auto">
            <a:xfrm>
              <a:off x="4582" y="3096"/>
              <a:ext cx="718" cy="5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57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3681" y="4716"/>
              <a:ext cx="539" cy="5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87" name="Text Box 31"/>
            <p:cNvSpPr txBox="1">
              <a:spLocks noChangeArrowheads="1"/>
            </p:cNvSpPr>
            <p:nvPr/>
          </p:nvSpPr>
          <p:spPr bwMode="auto">
            <a:xfrm>
              <a:off x="3681" y="4716"/>
              <a:ext cx="718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1881" y="3096"/>
              <a:ext cx="538" cy="5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89" name="Text Box 33"/>
            <p:cNvSpPr txBox="1">
              <a:spLocks noChangeArrowheads="1"/>
            </p:cNvSpPr>
            <p:nvPr/>
          </p:nvSpPr>
          <p:spPr bwMode="auto">
            <a:xfrm>
              <a:off x="1881" y="3096"/>
              <a:ext cx="718" cy="5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4582" y="4176"/>
              <a:ext cx="538" cy="53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491" name="Text Box 35"/>
            <p:cNvSpPr txBox="1">
              <a:spLocks noChangeArrowheads="1"/>
            </p:cNvSpPr>
            <p:nvPr/>
          </p:nvSpPr>
          <p:spPr bwMode="auto">
            <a:xfrm>
              <a:off x="4582" y="4176"/>
              <a:ext cx="718" cy="53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u</a:t>
              </a:r>
              <a:r>
                <a:rPr kumimoji="0" lang="en-US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47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2" name="Text Box 36"/>
            <p:cNvSpPr txBox="1">
              <a:spLocks noChangeArrowheads="1"/>
            </p:cNvSpPr>
            <p:nvPr/>
          </p:nvSpPr>
          <p:spPr bwMode="auto">
            <a:xfrm>
              <a:off x="3472" y="2196"/>
              <a:ext cx="539" cy="54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3" name="Text Box 37"/>
            <p:cNvSpPr txBox="1">
              <a:spLocks noChangeArrowheads="1"/>
            </p:cNvSpPr>
            <p:nvPr/>
          </p:nvSpPr>
          <p:spPr bwMode="auto">
            <a:xfrm>
              <a:off x="2351" y="2196"/>
              <a:ext cx="541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4" name="Text Box 38"/>
            <p:cNvSpPr txBox="1">
              <a:spLocks noChangeArrowheads="1"/>
            </p:cNvSpPr>
            <p:nvPr/>
          </p:nvSpPr>
          <p:spPr bwMode="auto">
            <a:xfrm>
              <a:off x="1661" y="2916"/>
              <a:ext cx="72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5" name="Text Box 39"/>
            <p:cNvSpPr txBox="1">
              <a:spLocks noChangeArrowheads="1"/>
            </p:cNvSpPr>
            <p:nvPr/>
          </p:nvSpPr>
          <p:spPr bwMode="auto">
            <a:xfrm>
              <a:off x="1661" y="3817"/>
              <a:ext cx="540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6" name="Text Box 40"/>
            <p:cNvSpPr txBox="1">
              <a:spLocks noChangeArrowheads="1"/>
            </p:cNvSpPr>
            <p:nvPr/>
          </p:nvSpPr>
          <p:spPr bwMode="auto">
            <a:xfrm>
              <a:off x="2291" y="4847"/>
              <a:ext cx="540" cy="40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7" name="Text Box 41"/>
            <p:cNvSpPr txBox="1">
              <a:spLocks noChangeArrowheads="1"/>
            </p:cNvSpPr>
            <p:nvPr/>
          </p:nvSpPr>
          <p:spPr bwMode="auto">
            <a:xfrm>
              <a:off x="3382" y="4867"/>
              <a:ext cx="539" cy="38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8" name="Text Box 42"/>
            <p:cNvSpPr txBox="1">
              <a:spLocks noChangeArrowheads="1"/>
            </p:cNvSpPr>
            <p:nvPr/>
          </p:nvSpPr>
          <p:spPr bwMode="auto">
            <a:xfrm>
              <a:off x="4371" y="4536"/>
              <a:ext cx="538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499" name="Text Box 43"/>
            <p:cNvSpPr txBox="1">
              <a:spLocks noChangeArrowheads="1"/>
            </p:cNvSpPr>
            <p:nvPr/>
          </p:nvSpPr>
          <p:spPr bwMode="auto">
            <a:xfrm>
              <a:off x="4941" y="2916"/>
              <a:ext cx="540" cy="54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8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9500" name="Line 44"/>
            <p:cNvSpPr>
              <a:spLocks noChangeShapeType="1"/>
            </p:cNvSpPr>
            <p:nvPr/>
          </p:nvSpPr>
          <p:spPr bwMode="auto">
            <a:xfrm flipH="1" flipV="1">
              <a:off x="2961" y="2916"/>
              <a:ext cx="900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1" name="Line 45"/>
            <p:cNvSpPr>
              <a:spLocks noChangeShapeType="1"/>
            </p:cNvSpPr>
            <p:nvPr/>
          </p:nvSpPr>
          <p:spPr bwMode="auto">
            <a:xfrm flipV="1">
              <a:off x="2421" y="2916"/>
              <a:ext cx="1440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2" name="Line 46"/>
            <p:cNvSpPr>
              <a:spLocks noChangeShapeType="1"/>
            </p:cNvSpPr>
            <p:nvPr/>
          </p:nvSpPr>
          <p:spPr bwMode="auto">
            <a:xfrm>
              <a:off x="2961" y="2916"/>
              <a:ext cx="1622" cy="5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3" name="Line 47"/>
            <p:cNvSpPr>
              <a:spLocks noChangeShapeType="1"/>
            </p:cNvSpPr>
            <p:nvPr/>
          </p:nvSpPr>
          <p:spPr bwMode="auto">
            <a:xfrm flipH="1">
              <a:off x="2961" y="3456"/>
              <a:ext cx="1621" cy="1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4" name="Line 48"/>
            <p:cNvSpPr>
              <a:spLocks noChangeShapeType="1"/>
            </p:cNvSpPr>
            <p:nvPr/>
          </p:nvSpPr>
          <p:spPr bwMode="auto">
            <a:xfrm>
              <a:off x="2961" y="2916"/>
              <a:ext cx="1621" cy="1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5" name="Line 49"/>
            <p:cNvSpPr>
              <a:spLocks noChangeShapeType="1"/>
            </p:cNvSpPr>
            <p:nvPr/>
          </p:nvSpPr>
          <p:spPr bwMode="auto">
            <a:xfrm flipH="1">
              <a:off x="4041" y="4356"/>
              <a:ext cx="541" cy="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6" name="Line 50"/>
            <p:cNvSpPr>
              <a:spLocks noChangeShapeType="1"/>
            </p:cNvSpPr>
            <p:nvPr/>
          </p:nvSpPr>
          <p:spPr bwMode="auto">
            <a:xfrm flipV="1">
              <a:off x="2961" y="4356"/>
              <a:ext cx="1621" cy="3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7" name="Line 51"/>
            <p:cNvSpPr>
              <a:spLocks noChangeShapeType="1"/>
            </p:cNvSpPr>
            <p:nvPr/>
          </p:nvSpPr>
          <p:spPr bwMode="auto">
            <a:xfrm>
              <a:off x="2421" y="3456"/>
              <a:ext cx="540" cy="1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8" name="Line 52"/>
            <p:cNvSpPr>
              <a:spLocks noChangeShapeType="1"/>
            </p:cNvSpPr>
            <p:nvPr/>
          </p:nvSpPr>
          <p:spPr bwMode="auto">
            <a:xfrm>
              <a:off x="2421" y="3456"/>
              <a:ext cx="2" cy="7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09" name="Line 53"/>
            <p:cNvSpPr>
              <a:spLocks noChangeShapeType="1"/>
            </p:cNvSpPr>
            <p:nvPr/>
          </p:nvSpPr>
          <p:spPr bwMode="auto">
            <a:xfrm>
              <a:off x="2421" y="3456"/>
              <a:ext cx="1620" cy="12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10" name="Line 54"/>
            <p:cNvSpPr>
              <a:spLocks noChangeShapeType="1"/>
            </p:cNvSpPr>
            <p:nvPr/>
          </p:nvSpPr>
          <p:spPr bwMode="auto">
            <a:xfrm flipH="1">
              <a:off x="2421" y="2916"/>
              <a:ext cx="540" cy="12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9511" name="Text Box 55"/>
            <p:cNvSpPr txBox="1">
              <a:spLocks noChangeArrowheads="1"/>
            </p:cNvSpPr>
            <p:nvPr/>
          </p:nvSpPr>
          <p:spPr bwMode="auto">
            <a:xfrm>
              <a:off x="1521" y="2376"/>
              <a:ext cx="720" cy="53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G</a:t>
              </a:r>
              <a:r>
                <a:rPr kumimoji="0" lang="en-US" sz="2400" b="0" i="1" u="none" strike="noStrike" cap="none" normalizeH="0" baseline="30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'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graphicFrame>
        <p:nvGraphicFramePr>
          <p:cNvPr id="61" name="Таблица 60"/>
          <p:cNvGraphicFramePr>
            <a:graphicFrameLocks noGrp="1"/>
          </p:cNvGraphicFramePr>
          <p:nvPr/>
        </p:nvGraphicFramePr>
        <p:xfrm>
          <a:off x="4071932" y="2424924"/>
          <a:ext cx="4929224" cy="3788046"/>
        </p:xfrm>
        <a:graphic>
          <a:graphicData uri="http://schemas.openxmlformats.org/drawingml/2006/table">
            <a:tbl>
              <a:tblPr/>
              <a:tblGrid>
                <a:gridCol w="1071572"/>
                <a:gridCol w="308820"/>
                <a:gridCol w="441642"/>
                <a:gridCol w="441642"/>
                <a:gridCol w="441642"/>
                <a:gridCol w="442688"/>
                <a:gridCol w="441642"/>
                <a:gridCol w="441642"/>
                <a:gridCol w="442688"/>
                <a:gridCol w="455246"/>
              </a:tblGrid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305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i="1" dirty="0">
                          <a:latin typeface="Times New Roman"/>
                          <a:ea typeface="Calibri"/>
                          <a:cs typeface="Times New Roman"/>
                        </a:rPr>
                        <a:t>R(G')=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441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8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0" y="6324921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Число </a:t>
            </a:r>
            <a:r>
              <a:rPr lang="ru-RU" sz="2400" dirty="0"/>
              <a:t>пересечений ребер графа  </a:t>
            </a:r>
            <a:r>
              <a:rPr lang="ru-RU" sz="2400" i="1" dirty="0"/>
              <a:t>Р(</a:t>
            </a:r>
            <a:r>
              <a:rPr lang="en-US" sz="2400" i="1" dirty="0"/>
              <a:t>G</a:t>
            </a:r>
            <a:r>
              <a:rPr lang="ru-RU" sz="2400" i="1" dirty="0"/>
              <a:t>) = </a:t>
            </a:r>
            <a:r>
              <a:rPr lang="en-US" sz="2400" i="1" dirty="0"/>
              <a:t>p</a:t>
            </a:r>
            <a:r>
              <a:rPr lang="ru-RU" sz="2400" i="1" baseline="-25000" dirty="0"/>
              <a:t>2 </a:t>
            </a:r>
            <a:r>
              <a:rPr lang="ru-RU" sz="2400" i="1" dirty="0"/>
              <a:t>+ </a:t>
            </a:r>
            <a:r>
              <a:rPr lang="en-US" sz="2400" i="1" dirty="0"/>
              <a:t>p</a:t>
            </a:r>
            <a:r>
              <a:rPr lang="ru-RU" sz="2400" i="1" baseline="-25000" dirty="0"/>
              <a:t>3 </a:t>
            </a:r>
            <a:r>
              <a:rPr lang="ru-RU" sz="2400" i="1" dirty="0"/>
              <a:t>+ </a:t>
            </a:r>
            <a:r>
              <a:rPr lang="en-US" sz="2400" i="1" dirty="0"/>
              <a:t>p</a:t>
            </a:r>
            <a:r>
              <a:rPr lang="ru-RU" sz="2400" i="1" baseline="-25000" dirty="0"/>
              <a:t>4 </a:t>
            </a:r>
            <a:r>
              <a:rPr lang="ru-RU" sz="2400" i="1" dirty="0"/>
              <a:t>+ </a:t>
            </a:r>
            <a:r>
              <a:rPr lang="en-US" sz="2400" i="1" dirty="0"/>
              <a:t>p</a:t>
            </a:r>
            <a:r>
              <a:rPr lang="ru-RU" sz="2400" i="1" baseline="-25000" dirty="0"/>
              <a:t>5 </a:t>
            </a:r>
            <a:r>
              <a:rPr lang="ru-RU" sz="2400" i="1" dirty="0"/>
              <a:t>= </a:t>
            </a:r>
            <a:r>
              <a:rPr lang="ru-RU" sz="2400" dirty="0"/>
              <a:t>11</a:t>
            </a:r>
            <a:r>
              <a:rPr lang="ru-RU" sz="2400" i="1" dirty="0"/>
              <a:t>.</a:t>
            </a:r>
            <a:r>
              <a:rPr lang="ru-RU" sz="2400" dirty="0" smtClean="0"/>
              <a:t>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22" grpId="0"/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rgbClr val="FF0000"/>
                </a:solidFill>
              </a:rPr>
              <a:t>Построение семейства </a:t>
            </a:r>
            <a:r>
              <a:rPr lang="ru-RU" sz="2400" b="1" i="1" dirty="0">
                <a:solidFill>
                  <a:srgbClr val="FF0000"/>
                </a:solidFill>
              </a:rPr>
              <a:t>Ψ</a:t>
            </a:r>
            <a:r>
              <a:rPr lang="en-US" sz="2400" b="1" i="1" baseline="-25000" dirty="0">
                <a:solidFill>
                  <a:srgbClr val="FF0000"/>
                </a:solidFill>
              </a:rPr>
              <a:t>G </a:t>
            </a:r>
            <a:r>
              <a:rPr lang="ru-RU" sz="2400" b="1" baseline="-25000" dirty="0">
                <a:solidFill>
                  <a:srgbClr val="FF0000"/>
                </a:solidFill>
              </a:rPr>
              <a:t>'</a:t>
            </a:r>
            <a:endParaRPr lang="ru-RU" sz="2400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5716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первой строке матрицы </a:t>
            </a:r>
            <a:r>
              <a:rPr lang="en-US" sz="2400" i="1" dirty="0"/>
              <a:t>R</a:t>
            </a:r>
            <a:r>
              <a:rPr lang="ru-RU" sz="2400" i="1" dirty="0"/>
              <a:t>(</a:t>
            </a:r>
            <a:r>
              <a:rPr lang="en-US" sz="2400" i="1" dirty="0"/>
              <a:t>G</a:t>
            </a:r>
            <a:r>
              <a:rPr lang="ru-RU" sz="2400" i="1" dirty="0"/>
              <a:t>')</a:t>
            </a:r>
            <a:r>
              <a:rPr lang="ru-RU" sz="2400" dirty="0"/>
              <a:t> находим номера нулевых элементов. Составляем список </a:t>
            </a:r>
            <a:r>
              <a:rPr lang="en-US" sz="2400" i="1" dirty="0"/>
              <a:t>J</a:t>
            </a:r>
            <a:r>
              <a:rPr lang="ru-RU" sz="2400" dirty="0"/>
              <a:t>(</a:t>
            </a:r>
            <a:r>
              <a:rPr lang="en-US" sz="2400" i="1" dirty="0"/>
              <a:t>j</a:t>
            </a:r>
            <a:r>
              <a:rPr lang="ru-RU" sz="2400" dirty="0"/>
              <a:t>) = {4, 5, 6, 7, 8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07154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первого нулевого элемента составляем дизъюнкцию</a:t>
            </a:r>
          </a:p>
          <a:p>
            <a:pPr algn="ctr"/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1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4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ru-RU" sz="2400" i="1" dirty="0"/>
              <a:t>11110000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78592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dirty="0"/>
              <a:t> находим номера нулевых элементов. Составляем список </a:t>
            </a:r>
            <a:r>
              <a:rPr lang="en-US" sz="2400" i="1" dirty="0"/>
              <a:t>J</a:t>
            </a:r>
            <a:r>
              <a:rPr lang="ru-RU" sz="2400" dirty="0"/>
              <a:t>’(</a:t>
            </a:r>
            <a:r>
              <a:rPr lang="en-US" sz="2400" i="1" dirty="0"/>
              <a:t>j</a:t>
            </a:r>
            <a:r>
              <a:rPr lang="ru-RU" sz="2400" dirty="0"/>
              <a:t>’) = {5, 6, 7, 8</a:t>
            </a:r>
            <a:r>
              <a:rPr lang="ru-RU" sz="2400" dirty="0" smtClean="0"/>
              <a:t>}.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245512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Записываем </a:t>
            </a:r>
            <a:r>
              <a:rPr lang="ru-RU" sz="2400" dirty="0" smtClean="0"/>
              <a:t>дизъюнкцию 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145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5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11111011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85749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145</a:t>
            </a:r>
            <a:r>
              <a:rPr lang="ru-RU" sz="2400" dirty="0"/>
              <a:t> находим </a:t>
            </a:r>
            <a:r>
              <a:rPr lang="en-US" sz="2400" i="1" dirty="0"/>
              <a:t>m</a:t>
            </a:r>
            <a:r>
              <a:rPr lang="ru-RU" sz="2400" i="1" baseline="-25000" dirty="0"/>
              <a:t>6</a:t>
            </a:r>
            <a:r>
              <a:rPr lang="ru-RU" sz="2400" i="1" dirty="0"/>
              <a:t>=</a:t>
            </a:r>
            <a:r>
              <a:rPr lang="ru-RU" sz="2400" dirty="0"/>
              <a:t>0.  Записываем дизъюнкцию</a:t>
            </a:r>
          </a:p>
          <a:p>
            <a:pPr algn="ctr"/>
            <a:r>
              <a:rPr lang="en-US" sz="2400" i="1" dirty="0"/>
              <a:t>M</a:t>
            </a:r>
            <a:r>
              <a:rPr lang="ru-RU" sz="2400" i="1" baseline="-25000" dirty="0"/>
              <a:t>1456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145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6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3571876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1456</a:t>
            </a:r>
            <a:r>
              <a:rPr lang="ru-RU" sz="2400" dirty="0"/>
              <a:t> все «1».  </a:t>
            </a:r>
          </a:p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1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435769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списка </a:t>
            </a:r>
            <a:r>
              <a:rPr lang="en-US" sz="2400" i="1" dirty="0"/>
              <a:t>J</a:t>
            </a:r>
            <a:r>
              <a:rPr lang="ru-RU" sz="2400" dirty="0"/>
              <a:t>’(</a:t>
            </a:r>
            <a:r>
              <a:rPr lang="en-US" sz="2400" i="1" dirty="0"/>
              <a:t>j</a:t>
            </a:r>
            <a:r>
              <a:rPr lang="ru-RU" sz="2400" dirty="0"/>
              <a:t>’) выбираем следующий элемент.  Записываем </a:t>
            </a:r>
            <a:r>
              <a:rPr lang="ru-RU" sz="2400" dirty="0" smtClean="0"/>
              <a:t>дизъюнкцию   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146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6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11110110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507207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146</a:t>
            </a:r>
            <a:r>
              <a:rPr lang="ru-RU" sz="2400" dirty="0"/>
              <a:t> находим </a:t>
            </a:r>
            <a:r>
              <a:rPr lang="en-US" sz="2400" i="1" dirty="0"/>
              <a:t>m</a:t>
            </a:r>
            <a:r>
              <a:rPr lang="ru-RU" sz="2400" i="1" baseline="-25000" dirty="0"/>
              <a:t>8</a:t>
            </a:r>
            <a:r>
              <a:rPr lang="ru-RU" sz="2400" i="1" dirty="0"/>
              <a:t>=</a:t>
            </a:r>
            <a:r>
              <a:rPr lang="ru-RU" sz="2400" dirty="0"/>
              <a:t>0.  Записываем дизъюнкцию</a:t>
            </a:r>
          </a:p>
          <a:p>
            <a:pPr algn="ctr"/>
            <a:r>
              <a:rPr lang="en-US" sz="2400" i="1" dirty="0"/>
              <a:t>M</a:t>
            </a:r>
            <a:r>
              <a:rPr lang="ru-RU" sz="2400" i="1" baseline="-25000" dirty="0"/>
              <a:t>1468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146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8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585789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1468 </a:t>
            </a:r>
            <a:r>
              <a:rPr lang="ru-RU" sz="2400" dirty="0"/>
              <a:t> все «1».  </a:t>
            </a:r>
          </a:p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2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списка </a:t>
            </a:r>
            <a:r>
              <a:rPr lang="en-US" sz="2400" i="1" dirty="0"/>
              <a:t>J</a:t>
            </a:r>
            <a:r>
              <a:rPr lang="ru-RU" sz="2400" dirty="0"/>
              <a:t>’(</a:t>
            </a:r>
            <a:r>
              <a:rPr lang="en-US" sz="2400" i="1" dirty="0"/>
              <a:t>j</a:t>
            </a:r>
            <a:r>
              <a:rPr lang="ru-RU" sz="2400" dirty="0"/>
              <a:t>’) выбираем следующий элемент.   Записываем </a:t>
            </a:r>
            <a:r>
              <a:rPr lang="ru-RU" sz="2400" dirty="0" smtClean="0"/>
              <a:t>дизъюнкцию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147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7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11111110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7857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И, наконец,                    </a:t>
            </a:r>
            <a:r>
              <a:rPr lang="en-US" sz="2400" i="1" dirty="0"/>
              <a:t>M</a:t>
            </a:r>
            <a:r>
              <a:rPr lang="ru-RU" sz="2400" i="1" baseline="-25000" dirty="0"/>
              <a:t>1478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147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8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14298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1478</a:t>
            </a:r>
            <a:r>
              <a:rPr lang="ru-RU" sz="2400" dirty="0"/>
              <a:t> все «1».  </a:t>
            </a:r>
          </a:p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3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92880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списка </a:t>
            </a:r>
            <a:r>
              <a:rPr lang="en-US" sz="2400" i="1" dirty="0"/>
              <a:t>J</a:t>
            </a:r>
            <a:r>
              <a:rPr lang="ru-RU" sz="2400" dirty="0"/>
              <a:t>’(</a:t>
            </a:r>
            <a:r>
              <a:rPr lang="en-US" sz="2400" i="1" dirty="0"/>
              <a:t>j</a:t>
            </a:r>
            <a:r>
              <a:rPr lang="ru-RU" sz="2400" dirty="0"/>
              <a:t>’) выбираем следующий элемент.  Записываем </a:t>
            </a:r>
            <a:r>
              <a:rPr lang="ru-RU" sz="2400" dirty="0" smtClean="0"/>
              <a:t>дизъюнкцию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148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14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8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11110001}.</a:t>
            </a:r>
            <a:endParaRPr lang="ru-RU" sz="2400" dirty="0"/>
          </a:p>
          <a:p>
            <a:r>
              <a:rPr lang="ru-RU" sz="2400" dirty="0"/>
              <a:t>В строке остались незакрытые «0</a:t>
            </a:r>
            <a:r>
              <a:rPr lang="ru-RU" sz="2400" dirty="0" smtClean="0"/>
              <a:t>».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07181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списка </a:t>
            </a:r>
            <a:r>
              <a:rPr lang="en-US" sz="2400" i="1" dirty="0"/>
              <a:t>J</a:t>
            </a:r>
            <a:r>
              <a:rPr lang="ru-RU" sz="2400" dirty="0"/>
              <a:t>(</a:t>
            </a:r>
            <a:r>
              <a:rPr lang="en-US" sz="2400" i="1" dirty="0"/>
              <a:t>j</a:t>
            </a:r>
            <a:r>
              <a:rPr lang="ru-RU" sz="2400" dirty="0"/>
              <a:t>) выбираем следующий нулевой элемент </a:t>
            </a:r>
            <a:r>
              <a:rPr lang="en-US" sz="2400" i="1" dirty="0"/>
              <a:t>r</a:t>
            </a:r>
            <a:r>
              <a:rPr lang="ru-RU" sz="2400" i="1" baseline="-25000" dirty="0"/>
              <a:t>5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15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1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5</a:t>
            </a:r>
            <a:r>
              <a:rPr lang="ru-RU" sz="2400" i="1" dirty="0"/>
              <a:t>=</a:t>
            </a:r>
            <a:r>
              <a:rPr lang="ru-RU" sz="2400" dirty="0"/>
              <a:t>{</a:t>
            </a:r>
            <a:r>
              <a:rPr lang="ru-RU" sz="2400" i="1" dirty="0"/>
              <a:t>11101011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385762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15</a:t>
            </a:r>
            <a:r>
              <a:rPr lang="ru-RU" sz="2400" dirty="0"/>
              <a:t> находим нулевой элемент – </a:t>
            </a:r>
            <a:r>
              <a:rPr lang="en-US" sz="2400" i="1" dirty="0"/>
              <a:t>m</a:t>
            </a:r>
            <a:r>
              <a:rPr lang="ru-RU" sz="2400" i="1" baseline="-25000" dirty="0"/>
              <a:t>6</a:t>
            </a:r>
            <a:r>
              <a:rPr lang="ru-RU" sz="2400" i="1" dirty="0"/>
              <a:t>=</a:t>
            </a:r>
            <a:r>
              <a:rPr lang="ru-RU" sz="2400" dirty="0"/>
              <a:t>0.  Записываем </a:t>
            </a:r>
            <a:r>
              <a:rPr lang="ru-RU" sz="2400" dirty="0" smtClean="0"/>
              <a:t>дизъюнкцию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156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15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6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11101111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4572008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строке остался незакрытый «0». Понятно, что «0» в четвертой позиции элементами  с номерами  </a:t>
            </a:r>
            <a:r>
              <a:rPr lang="en-US" sz="2400" i="1" dirty="0"/>
              <a:t>j</a:t>
            </a:r>
            <a:r>
              <a:rPr lang="ru-RU" sz="2400" i="1" dirty="0"/>
              <a:t> &gt;4 </a:t>
            </a:r>
            <a:r>
              <a:rPr lang="ru-RU" sz="2400" dirty="0"/>
              <a:t>закрыть не удастся</a:t>
            </a:r>
            <a:r>
              <a:rPr lang="ru-RU" sz="2400" dirty="0" smtClean="0"/>
              <a:t>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5286388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Во второй строке ищем первый нулевой элемент – </a:t>
            </a:r>
            <a:r>
              <a:rPr lang="en-US" sz="2400" i="1" dirty="0"/>
              <a:t>r</a:t>
            </a:r>
            <a:r>
              <a:rPr lang="ru-RU" sz="2400" i="1" baseline="-25000" dirty="0"/>
              <a:t>23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23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3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/>
              <a:t>}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В строке </a:t>
            </a:r>
            <a:r>
              <a:rPr lang="en-US" sz="2400" i="1" dirty="0"/>
              <a:t>M</a:t>
            </a:r>
            <a:r>
              <a:rPr lang="ru-RU" sz="2400" i="1" baseline="-25000" dirty="0"/>
              <a:t>23</a:t>
            </a:r>
            <a:r>
              <a:rPr lang="ru-RU" sz="2400" dirty="0"/>
              <a:t> все «1».  </a:t>
            </a:r>
          </a:p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4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Во второй строке ищем следующий нулевой элемент – </a:t>
            </a:r>
            <a:r>
              <a:rPr lang="en-US" sz="2400" i="1" dirty="0"/>
              <a:t>r</a:t>
            </a:r>
            <a:r>
              <a:rPr lang="ru-RU" sz="2400" i="1" baseline="-25000" dirty="0"/>
              <a:t>25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25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5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11111011</a:t>
            </a:r>
            <a:r>
              <a:rPr lang="ru-RU" sz="2400" dirty="0"/>
              <a:t>}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И, наконец,                   </a:t>
            </a:r>
            <a:r>
              <a:rPr lang="en-US" sz="2400" i="1" dirty="0"/>
              <a:t>M</a:t>
            </a:r>
            <a:r>
              <a:rPr lang="ru-RU" sz="2400" i="1" baseline="-25000" dirty="0"/>
              <a:t>256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25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6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14298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5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157161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Во второй строке ищем следующий нулевой элемент – </a:t>
            </a:r>
            <a:r>
              <a:rPr lang="en-US" sz="2400" i="1" dirty="0"/>
              <a:t>r</a:t>
            </a:r>
            <a:r>
              <a:rPr lang="ru-RU" sz="2400" i="1" baseline="-25000" dirty="0"/>
              <a:t>26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26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2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6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11110111</a:t>
            </a:r>
            <a:r>
              <a:rPr lang="ru-RU" sz="2400" dirty="0"/>
              <a:t>}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В строке остался незакрытый «0</a:t>
            </a:r>
            <a:r>
              <a:rPr lang="ru-RU" sz="2400" dirty="0" smtClean="0"/>
              <a:t>».</a:t>
            </a:r>
            <a:endParaRPr lang="ru-R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264318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третьей строке ищем первый нулевой элемент – </a:t>
            </a:r>
            <a:r>
              <a:rPr lang="en-US" sz="2400" i="1" dirty="0"/>
              <a:t>r</a:t>
            </a:r>
            <a:r>
              <a:rPr lang="ru-RU" sz="2400" i="1" baseline="-25000" dirty="0"/>
              <a:t>7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37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3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7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11111110</a:t>
            </a:r>
            <a:r>
              <a:rPr lang="ru-RU" sz="2400" dirty="0"/>
              <a:t>}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И, наконец,                   </a:t>
            </a:r>
            <a:r>
              <a:rPr lang="en-US" sz="2400" i="1" dirty="0"/>
              <a:t>M</a:t>
            </a:r>
            <a:r>
              <a:rPr lang="ru-RU" sz="2400" i="1" baseline="-25000" dirty="0"/>
              <a:t>378</a:t>
            </a:r>
            <a:r>
              <a:rPr lang="ru-RU" sz="2400" i="1" dirty="0"/>
              <a:t>= </a:t>
            </a:r>
            <a:r>
              <a:rPr lang="en-US" sz="2400" i="1" dirty="0"/>
              <a:t>M</a:t>
            </a:r>
            <a:r>
              <a:rPr lang="ru-RU" sz="2400" i="1" baseline="-25000" dirty="0"/>
              <a:t>37</a:t>
            </a:r>
            <a:r>
              <a:rPr lang="ru-RU" sz="2400" dirty="0"/>
              <a:t> </a:t>
            </a:r>
            <a:r>
              <a:rPr lang="en-US" sz="2400" dirty="0"/>
              <a:t>v </a:t>
            </a:r>
            <a:r>
              <a:rPr lang="en-US" sz="2400" i="1" dirty="0"/>
              <a:t>r</a:t>
            </a:r>
            <a:r>
              <a:rPr lang="ru-RU" sz="2400" i="1" baseline="-25000" dirty="0"/>
              <a:t>8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11111111</a:t>
            </a:r>
            <a:r>
              <a:rPr lang="ru-RU" sz="2400" dirty="0" smtClean="0"/>
              <a:t>}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0" y="371475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Построено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6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407194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третьей строке ищем следующий нулевой элемент – </a:t>
            </a:r>
            <a:r>
              <a:rPr lang="en-US" sz="2400" i="1" dirty="0"/>
              <a:t>r</a:t>
            </a:r>
            <a:r>
              <a:rPr lang="ru-RU" sz="2400" i="1" baseline="-25000" dirty="0"/>
              <a:t>38</a:t>
            </a:r>
            <a:r>
              <a:rPr lang="ru-RU" sz="2400" dirty="0"/>
              <a:t>. Составляем </a:t>
            </a:r>
            <a:r>
              <a:rPr lang="ru-RU" sz="2400" dirty="0" smtClean="0"/>
              <a:t>дизъюнкцию    </a:t>
            </a:r>
            <a:r>
              <a:rPr lang="en-US" sz="2400" i="1" dirty="0" smtClean="0"/>
              <a:t>M</a:t>
            </a:r>
            <a:r>
              <a:rPr lang="ru-RU" sz="2400" i="1" baseline="-25000" dirty="0"/>
              <a:t>38</a:t>
            </a:r>
            <a:r>
              <a:rPr lang="ru-RU" sz="2400" i="1" dirty="0"/>
              <a:t>= </a:t>
            </a:r>
            <a:r>
              <a:rPr lang="en-US" sz="2400" i="1" dirty="0"/>
              <a:t>r</a:t>
            </a:r>
            <a:r>
              <a:rPr lang="ru-RU" sz="2400" i="1" baseline="-25000" dirty="0"/>
              <a:t>3</a:t>
            </a:r>
            <a:r>
              <a:rPr lang="ru-RU" sz="2400" dirty="0"/>
              <a:t> </a:t>
            </a:r>
            <a:r>
              <a:rPr lang="en-US" sz="2400" dirty="0">
                <a:sym typeface="Symbol"/>
              </a:rPr>
              <a:t></a:t>
            </a:r>
            <a:r>
              <a:rPr lang="en-US" sz="2400" dirty="0"/>
              <a:t> </a:t>
            </a:r>
            <a:r>
              <a:rPr lang="en-US" sz="2400" i="1" dirty="0"/>
              <a:t>r</a:t>
            </a:r>
            <a:r>
              <a:rPr lang="ru-RU" sz="2400" i="1" baseline="-25000" dirty="0"/>
              <a:t>8</a:t>
            </a:r>
            <a:r>
              <a:rPr lang="ru-RU" sz="2400" i="1" dirty="0"/>
              <a:t>= </a:t>
            </a:r>
            <a:r>
              <a:rPr lang="ru-RU" sz="2400" dirty="0"/>
              <a:t>{</a:t>
            </a:r>
            <a:r>
              <a:rPr lang="ru-RU" sz="2400" i="1" dirty="0"/>
              <a:t>1111101</a:t>
            </a:r>
            <a:r>
              <a:rPr lang="ru-RU" sz="2400" dirty="0"/>
              <a:t>}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В строке остался незакрытый «0</a:t>
            </a:r>
            <a:r>
              <a:rPr lang="ru-RU" sz="2400" dirty="0" smtClean="0"/>
              <a:t>».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0" y="521495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Из матрицы </a:t>
            </a:r>
            <a:r>
              <a:rPr lang="en-US" sz="2400" i="1" dirty="0"/>
              <a:t>R</a:t>
            </a:r>
            <a:r>
              <a:rPr lang="ru-RU" sz="2400" i="1" dirty="0"/>
              <a:t>(</a:t>
            </a:r>
            <a:r>
              <a:rPr lang="en-US" sz="2400" i="1" dirty="0"/>
              <a:t>G</a:t>
            </a:r>
            <a:r>
              <a:rPr lang="ru-RU" sz="2400" i="1" dirty="0"/>
              <a:t>')</a:t>
            </a:r>
            <a:r>
              <a:rPr lang="ru-RU" sz="2400" dirty="0"/>
              <a:t> видно, что строки с номерами </a:t>
            </a:r>
            <a:r>
              <a:rPr lang="en-US" sz="2400" i="1" dirty="0"/>
              <a:t>j</a:t>
            </a:r>
            <a:r>
              <a:rPr lang="ru-RU" sz="2400" i="1" dirty="0"/>
              <a:t> &gt;3 </a:t>
            </a:r>
            <a:r>
              <a:rPr lang="ru-RU" sz="2400" dirty="0"/>
              <a:t>«0» в первой позиции закрыть не смогут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14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Семейство максимальных внутренне устойчивых множеств </a:t>
            </a:r>
            <a:r>
              <a:rPr lang="ru-RU" sz="2400" i="1" dirty="0"/>
              <a:t>Ψ</a:t>
            </a:r>
            <a:r>
              <a:rPr lang="en-US" sz="2400" i="1" baseline="-25000" dirty="0"/>
              <a:t>G</a:t>
            </a:r>
            <a:r>
              <a:rPr lang="ru-RU" sz="2400" i="1" baseline="-25000" dirty="0"/>
              <a:t>'</a:t>
            </a:r>
            <a:r>
              <a:rPr lang="ru-RU" sz="2400" dirty="0"/>
              <a:t> построено. Это</a:t>
            </a:r>
          </a:p>
          <a:p>
            <a:r>
              <a:rPr lang="ru-RU" sz="2400" dirty="0"/>
              <a:t>              </a:t>
            </a:r>
            <a:r>
              <a:rPr lang="ru-RU" sz="2400" dirty="0" smtClean="0"/>
              <a:t>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1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/>
              <a:t>};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 smtClean="0"/>
              <a:t> 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2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/>
              <a:t>};</a:t>
            </a:r>
            <a:endParaRPr lang="ru-RU" sz="2400" dirty="0"/>
          </a:p>
          <a:p>
            <a:r>
              <a:rPr lang="ru-RU" sz="2400" dirty="0"/>
              <a:t>            </a:t>
            </a:r>
            <a:r>
              <a:rPr lang="ru-RU" sz="2400" dirty="0" smtClean="0"/>
              <a:t> 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3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/>
              <a:t>};</a:t>
            </a:r>
            <a:endParaRPr lang="ru-RU" sz="2400" dirty="0"/>
          </a:p>
          <a:p>
            <a:r>
              <a:rPr lang="ru-RU" sz="2400" dirty="0"/>
              <a:t>             </a:t>
            </a:r>
            <a:r>
              <a:rPr lang="ru-RU" sz="2400" dirty="0" smtClean="0"/>
              <a:t> 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4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dirty="0"/>
              <a:t>};</a:t>
            </a:r>
            <a:endParaRPr lang="ru-RU" sz="2400" dirty="0"/>
          </a:p>
          <a:p>
            <a:r>
              <a:rPr lang="ru-RU" sz="2400" dirty="0"/>
              <a:t>              </a:t>
            </a:r>
            <a:r>
              <a:rPr lang="ru-RU" sz="2400" dirty="0" smtClean="0"/>
              <a:t> 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5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/>
              <a:t>};</a:t>
            </a:r>
            <a:endParaRPr lang="ru-RU" sz="2400" dirty="0"/>
          </a:p>
          <a:p>
            <a:r>
              <a:rPr lang="ru-RU" sz="2400" dirty="0"/>
              <a:t>               </a:t>
            </a:r>
            <a:r>
              <a:rPr lang="ru-RU" sz="2400" dirty="0" smtClean="0"/>
              <a:t>               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6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07181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Для каждой пары множеств вычислим значение критерия </a:t>
            </a:r>
          </a:p>
          <a:p>
            <a:pPr algn="ctr"/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i="1" dirty="0" err="1"/>
              <a:t>=</a:t>
            </a:r>
            <a:r>
              <a:rPr lang="he-IL" sz="2400" dirty="0"/>
              <a:t>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he-IL" sz="2400" dirty="0"/>
              <a:t>׀ + 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δ</a:t>
            </a:r>
            <a:r>
              <a:rPr lang="he-IL" sz="2400" dirty="0"/>
              <a:t>׀ -  ׀</a:t>
            </a:r>
            <a:r>
              <a:rPr lang="ru-RU" sz="2400" i="1" dirty="0" err="1"/>
              <a:t>ψ</a:t>
            </a:r>
            <a:r>
              <a:rPr lang="ru-RU" sz="2400" i="1" baseline="-25000" dirty="0" err="1"/>
              <a:t>γ</a:t>
            </a:r>
            <a:r>
              <a:rPr lang="ru-RU" sz="2400" i="1" dirty="0" err="1"/>
              <a:t>∩ψ</a:t>
            </a:r>
            <a:r>
              <a:rPr lang="ru-RU" sz="2400" i="1" baseline="-25000" dirty="0" err="1"/>
              <a:t>δ</a:t>
            </a:r>
            <a:r>
              <a:rPr lang="he-IL" sz="2400" dirty="0"/>
              <a:t>׀</a:t>
            </a:r>
            <a:r>
              <a:rPr lang="ru-RU" sz="2400" i="1" dirty="0" smtClean="0"/>
              <a:t>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4071942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Результаты  вычислений запишем в матрицу </a:t>
            </a:r>
            <a:r>
              <a:rPr lang="ru-RU" sz="2400" i="1" dirty="0"/>
              <a:t>Α= </a:t>
            </a:r>
            <a:r>
              <a:rPr lang="he-IL" sz="2400" dirty="0"/>
              <a:t>׀׀</a:t>
            </a:r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he-IL" sz="2400" dirty="0"/>
              <a:t>׀׀</a:t>
            </a:r>
            <a:r>
              <a:rPr lang="ru-RU" sz="2400" dirty="0"/>
              <a:t>.</a:t>
            </a:r>
          </a:p>
          <a:p>
            <a:r>
              <a:rPr lang="ru-RU" sz="2400" i="1" dirty="0"/>
              <a:t>α</a:t>
            </a:r>
            <a:r>
              <a:rPr lang="ru-RU" sz="2400" i="1" baseline="-25000" dirty="0"/>
              <a:t>12</a:t>
            </a:r>
            <a:r>
              <a:rPr lang="ru-RU" sz="2400" i="1" dirty="0"/>
              <a:t>=</a:t>
            </a:r>
            <a:r>
              <a:rPr lang="he-IL" sz="2400" dirty="0"/>
              <a:t>׀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he-IL" sz="2400" dirty="0"/>
              <a:t>׀ + ׀</a:t>
            </a:r>
            <a:r>
              <a:rPr lang="ru-RU" sz="2400" i="1" dirty="0"/>
              <a:t>ψ</a:t>
            </a:r>
            <a:r>
              <a:rPr lang="ru-RU" sz="2400" i="1" baseline="-25000" dirty="0"/>
              <a:t>2</a:t>
            </a:r>
            <a:r>
              <a:rPr lang="he-IL" sz="2400" dirty="0"/>
              <a:t>׀ -  ׀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ru-RU" sz="2400" i="1" dirty="0"/>
              <a:t>∩ψ</a:t>
            </a:r>
            <a:r>
              <a:rPr lang="ru-RU" sz="2400" i="1" baseline="-25000" dirty="0"/>
              <a:t>2</a:t>
            </a:r>
            <a:r>
              <a:rPr lang="he-IL" sz="2400" dirty="0"/>
              <a:t>׀</a:t>
            </a:r>
            <a:r>
              <a:rPr lang="ru-RU" sz="2400" i="1" dirty="0"/>
              <a:t> =</a:t>
            </a:r>
            <a:r>
              <a:rPr lang="ru-RU" sz="2400" dirty="0"/>
              <a:t>4+4-3=5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i="1" dirty="0"/>
              <a:t>α</a:t>
            </a:r>
            <a:r>
              <a:rPr lang="ru-RU" sz="2400" i="1" baseline="-25000" dirty="0"/>
              <a:t>13</a:t>
            </a:r>
            <a:r>
              <a:rPr lang="ru-RU" sz="2400" i="1" dirty="0"/>
              <a:t>=</a:t>
            </a:r>
            <a:r>
              <a:rPr lang="he-IL" sz="2400" dirty="0"/>
              <a:t>׀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he-IL" sz="2400" dirty="0"/>
              <a:t>׀ + ׀</a:t>
            </a:r>
            <a:r>
              <a:rPr lang="ru-RU" sz="2400" i="1" dirty="0"/>
              <a:t>ψ</a:t>
            </a:r>
            <a:r>
              <a:rPr lang="ru-RU" sz="2400" i="1" baseline="-25000" dirty="0"/>
              <a:t>3</a:t>
            </a:r>
            <a:r>
              <a:rPr lang="he-IL" sz="2400" dirty="0"/>
              <a:t>׀ -  ׀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ru-RU" sz="2400" i="1" dirty="0"/>
              <a:t>∩ψ</a:t>
            </a:r>
            <a:r>
              <a:rPr lang="ru-RU" sz="2400" i="1" baseline="-25000" dirty="0"/>
              <a:t>3</a:t>
            </a:r>
            <a:r>
              <a:rPr lang="he-IL" sz="2400" dirty="0"/>
              <a:t>׀</a:t>
            </a:r>
            <a:r>
              <a:rPr lang="ru-RU" sz="2400" i="1" dirty="0"/>
              <a:t> =</a:t>
            </a:r>
            <a:r>
              <a:rPr lang="ru-RU" sz="2400" dirty="0"/>
              <a:t>4+4-2=6 и т.д</a:t>
            </a:r>
            <a:r>
              <a:rPr lang="ru-RU" sz="2400" dirty="0" smtClean="0"/>
              <a:t>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406" y="0"/>
          <a:ext cx="3666827" cy="2984364"/>
        </p:xfrm>
        <a:graphic>
          <a:graphicData uri="http://schemas.openxmlformats.org/drawingml/2006/table">
            <a:tbl>
              <a:tblPr/>
              <a:tblGrid>
                <a:gridCol w="574105"/>
                <a:gridCol w="399747"/>
                <a:gridCol w="448652"/>
                <a:gridCol w="448652"/>
                <a:gridCol w="448652"/>
                <a:gridCol w="449715"/>
                <a:gridCol w="448652"/>
                <a:gridCol w="448652"/>
              </a:tblGrid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1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i="1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3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i="1">
                          <a:latin typeface="Times New Roman"/>
                          <a:ea typeface="Calibri"/>
                          <a:cs typeface="Times New Roman"/>
                        </a:rPr>
                        <a:t>7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062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i="1">
                          <a:latin typeface="Times New Roman"/>
                          <a:ea typeface="Calibri"/>
                          <a:cs typeface="Times New Roman"/>
                        </a:rPr>
                        <a:t>А</a:t>
                      </a:r>
                      <a:r>
                        <a:rPr lang="en-US" sz="2400" i="1">
                          <a:latin typeface="Times New Roman"/>
                          <a:ea typeface="Calibri"/>
                          <a:cs typeface="Times New Roman"/>
                        </a:rPr>
                        <a:t>=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4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5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548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latin typeface="Times New Roman"/>
                          <a:ea typeface="Calibri"/>
                          <a:cs typeface="Times New Roman"/>
                        </a:rPr>
                        <a:t>6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US" sz="24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Calibri"/>
                          <a:cs typeface="Times New Roman"/>
                        </a:rPr>
                        <a:t>0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57686" y="0"/>
            <a:ext cx="47863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max</a:t>
            </a:r>
            <a:r>
              <a:rPr lang="ru-RU" sz="2400" i="1" dirty="0" err="1"/>
              <a:t>α</a:t>
            </a:r>
            <a:r>
              <a:rPr lang="ru-RU" sz="2400" i="1" baseline="-25000" dirty="0" err="1"/>
              <a:t>γδ</a:t>
            </a:r>
            <a:r>
              <a:rPr lang="ru-RU" sz="2400" i="1" dirty="0" err="1"/>
              <a:t>= </a:t>
            </a:r>
            <a:r>
              <a:rPr lang="ru-RU" sz="2400" i="1" dirty="0"/>
              <a:t>α</a:t>
            </a:r>
            <a:r>
              <a:rPr lang="ru-RU" sz="2400" i="1" baseline="-25000" dirty="0"/>
              <a:t>16</a:t>
            </a:r>
            <a:r>
              <a:rPr lang="ru-RU" sz="2400" i="1" dirty="0"/>
              <a:t>= α</a:t>
            </a:r>
            <a:r>
              <a:rPr lang="ru-RU" sz="2400" i="1" baseline="-25000" dirty="0"/>
              <a:t>35</a:t>
            </a:r>
            <a:r>
              <a:rPr lang="ru-RU" sz="2400" i="1" dirty="0"/>
              <a:t>=7</a:t>
            </a:r>
            <a:r>
              <a:rPr lang="ru-RU" sz="2400" dirty="0"/>
              <a:t>, дают две пары множеств 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ru-RU" sz="2400" dirty="0"/>
              <a:t>, </a:t>
            </a:r>
            <a:r>
              <a:rPr lang="ru-RU" sz="2400" i="1" dirty="0"/>
              <a:t>ψ</a:t>
            </a:r>
            <a:r>
              <a:rPr lang="ru-RU" sz="2400" i="1" baseline="-25000" dirty="0"/>
              <a:t>6</a:t>
            </a:r>
            <a:r>
              <a:rPr lang="ru-RU" sz="2400" dirty="0"/>
              <a:t> и </a:t>
            </a:r>
            <a:r>
              <a:rPr lang="ru-RU" sz="2400" i="1" dirty="0"/>
              <a:t>ψ</a:t>
            </a:r>
            <a:r>
              <a:rPr lang="ru-RU" sz="2400" i="1" baseline="-25000" dirty="0"/>
              <a:t>3</a:t>
            </a:r>
            <a:r>
              <a:rPr lang="ru-RU" sz="2400" i="1" dirty="0"/>
              <a:t>, ψ</a:t>
            </a:r>
            <a:r>
              <a:rPr lang="ru-RU" sz="2400" i="1" baseline="-25000" dirty="0"/>
              <a:t>5</a:t>
            </a:r>
            <a:r>
              <a:rPr lang="ru-RU" sz="2400" i="1" dirty="0"/>
              <a:t>.</a:t>
            </a:r>
            <a:endParaRPr lang="ru-RU" sz="2400" dirty="0"/>
          </a:p>
          <a:p>
            <a:r>
              <a:rPr lang="ru-RU" sz="2400" dirty="0"/>
              <a:t>Возьмем множества</a:t>
            </a:r>
          </a:p>
          <a:p>
            <a:r>
              <a:rPr lang="ru-RU" sz="2400" b="1" i="1" dirty="0"/>
              <a:t>ψ</a:t>
            </a:r>
            <a:r>
              <a:rPr lang="ru-RU" sz="2400" b="1" i="1" baseline="-25000" dirty="0"/>
              <a:t>1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/>
              <a:t>} </a:t>
            </a:r>
            <a:r>
              <a:rPr lang="ru-RU" sz="2400" dirty="0"/>
              <a:t> и </a:t>
            </a:r>
            <a:endParaRPr lang="ru-RU" sz="2400" dirty="0" smtClean="0"/>
          </a:p>
          <a:p>
            <a:r>
              <a:rPr lang="ru-RU" sz="2400" dirty="0" smtClean="0"/>
              <a:t>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6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929058" y="1857364"/>
            <a:ext cx="52149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 суграфе </a:t>
            </a:r>
            <a:r>
              <a:rPr lang="en-US" sz="2400" i="1" dirty="0"/>
              <a:t>H</a:t>
            </a:r>
            <a:r>
              <a:rPr lang="ru-RU" sz="2400" dirty="0"/>
              <a:t>, содержащем максимальное число непересекающихся ребер, ребра, вошедшие в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1</a:t>
            </a:r>
            <a:r>
              <a:rPr lang="ru-RU" sz="2400" dirty="0"/>
              <a:t>, проводим внутри гамильтонова цикла, а в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6</a:t>
            </a:r>
            <a:r>
              <a:rPr lang="ru-RU" sz="2400" dirty="0"/>
              <a:t> – вне его </a:t>
            </a:r>
          </a:p>
        </p:txBody>
      </p:sp>
      <p:grpSp>
        <p:nvGrpSpPr>
          <p:cNvPr id="14337" name="Group 1"/>
          <p:cNvGrpSpPr>
            <a:grpSpLocks/>
          </p:cNvGrpSpPr>
          <p:nvPr/>
        </p:nvGrpSpPr>
        <p:grpSpPr bwMode="auto">
          <a:xfrm>
            <a:off x="142844" y="3781425"/>
            <a:ext cx="4429156" cy="3076575"/>
            <a:chOff x="1880" y="7709"/>
            <a:chExt cx="4681" cy="3256"/>
          </a:xfrm>
        </p:grpSpPr>
        <p:sp>
          <p:nvSpPr>
            <p:cNvPr id="14338" name="Freeform 2"/>
            <p:cNvSpPr>
              <a:spLocks/>
            </p:cNvSpPr>
            <p:nvPr/>
          </p:nvSpPr>
          <p:spPr bwMode="auto">
            <a:xfrm>
              <a:off x="1880" y="8055"/>
              <a:ext cx="3330" cy="2910"/>
            </a:xfrm>
            <a:custGeom>
              <a:avLst/>
              <a:gdLst/>
              <a:ahLst/>
              <a:cxnLst>
                <a:cxn ang="0">
                  <a:pos x="1260" y="360"/>
                </a:cxn>
                <a:cxn ang="0">
                  <a:pos x="720" y="360"/>
                </a:cxn>
                <a:cxn ang="0">
                  <a:pos x="360" y="2520"/>
                </a:cxn>
                <a:cxn ang="0">
                  <a:pos x="2880" y="2700"/>
                </a:cxn>
                <a:cxn ang="0">
                  <a:pos x="3060" y="2340"/>
                </a:cxn>
              </a:cxnLst>
              <a:rect l="0" t="0" r="r" b="b"/>
              <a:pathLst>
                <a:path w="3330" h="2910">
                  <a:moveTo>
                    <a:pt x="1260" y="360"/>
                  </a:moveTo>
                  <a:cubicBezTo>
                    <a:pt x="1065" y="180"/>
                    <a:pt x="870" y="0"/>
                    <a:pt x="720" y="360"/>
                  </a:cubicBezTo>
                  <a:cubicBezTo>
                    <a:pt x="570" y="720"/>
                    <a:pt x="0" y="2130"/>
                    <a:pt x="360" y="2520"/>
                  </a:cubicBezTo>
                  <a:cubicBezTo>
                    <a:pt x="720" y="2910"/>
                    <a:pt x="2430" y="2730"/>
                    <a:pt x="2880" y="2700"/>
                  </a:cubicBezTo>
                  <a:cubicBezTo>
                    <a:pt x="3330" y="2670"/>
                    <a:pt x="3030" y="2400"/>
                    <a:pt x="3060" y="234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grpSp>
          <p:nvGrpSpPr>
            <p:cNvPr id="14339" name="Group 3"/>
            <p:cNvGrpSpPr>
              <a:grpSpLocks noChangeAspect="1"/>
            </p:cNvGrpSpPr>
            <p:nvPr/>
          </p:nvGrpSpPr>
          <p:grpSpPr bwMode="auto">
            <a:xfrm>
              <a:off x="2061" y="7709"/>
              <a:ext cx="4500" cy="3240"/>
              <a:chOff x="2276" y="798"/>
              <a:chExt cx="3530" cy="2509"/>
            </a:xfrm>
          </p:grpSpPr>
          <p:sp>
            <p:nvSpPr>
              <p:cNvPr id="14340" name="AutoShape 4"/>
              <p:cNvSpPr>
                <a:spLocks noChangeAspect="1" noChangeArrowheads="1"/>
              </p:cNvSpPr>
              <p:nvPr/>
            </p:nvSpPr>
            <p:spPr bwMode="auto">
              <a:xfrm>
                <a:off x="2276" y="798"/>
                <a:ext cx="3530" cy="2509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41" name="Text Box 5"/>
              <p:cNvSpPr txBox="1">
                <a:spLocks noChangeArrowheads="1"/>
              </p:cNvSpPr>
              <p:nvPr/>
            </p:nvSpPr>
            <p:spPr bwMode="auto">
              <a:xfrm>
                <a:off x="2982" y="798"/>
                <a:ext cx="424" cy="418"/>
              </a:xfrm>
              <a:prstGeom prst="rect">
                <a:avLst/>
              </a:prstGeom>
              <a:solidFill>
                <a:srgbClr val="FFFFFF"/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Н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42" name="Oval 6"/>
              <p:cNvSpPr>
                <a:spLocks noChangeArrowheads="1"/>
              </p:cNvSpPr>
              <p:nvPr/>
            </p:nvSpPr>
            <p:spPr bwMode="auto">
              <a:xfrm>
                <a:off x="3829" y="937"/>
                <a:ext cx="423" cy="419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43" name="Text Box 7"/>
              <p:cNvSpPr txBox="1">
                <a:spLocks noChangeArrowheads="1"/>
              </p:cNvSpPr>
              <p:nvPr/>
            </p:nvSpPr>
            <p:spPr bwMode="auto">
              <a:xfrm>
                <a:off x="3829" y="937"/>
                <a:ext cx="423" cy="419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1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44" name="Oval 8"/>
              <p:cNvSpPr>
                <a:spLocks noChangeArrowheads="1"/>
              </p:cNvSpPr>
              <p:nvPr/>
            </p:nvSpPr>
            <p:spPr bwMode="auto">
              <a:xfrm>
                <a:off x="4535" y="1216"/>
                <a:ext cx="424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45" name="Text Box 9"/>
              <p:cNvSpPr txBox="1">
                <a:spLocks noChangeArrowheads="1"/>
              </p:cNvSpPr>
              <p:nvPr/>
            </p:nvSpPr>
            <p:spPr bwMode="auto">
              <a:xfrm>
                <a:off x="4535" y="1216"/>
                <a:ext cx="424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2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46" name="Oval 10"/>
              <p:cNvSpPr>
                <a:spLocks noChangeArrowheads="1"/>
              </p:cNvSpPr>
              <p:nvPr/>
            </p:nvSpPr>
            <p:spPr bwMode="auto">
              <a:xfrm>
                <a:off x="3123" y="1216"/>
                <a:ext cx="424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47" name="Text Box 11"/>
              <p:cNvSpPr txBox="1">
                <a:spLocks noChangeArrowheads="1"/>
              </p:cNvSpPr>
              <p:nvPr/>
            </p:nvSpPr>
            <p:spPr bwMode="auto">
              <a:xfrm>
                <a:off x="3123" y="1216"/>
                <a:ext cx="424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7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48" name="Oval 12"/>
              <p:cNvSpPr>
                <a:spLocks noChangeArrowheads="1"/>
              </p:cNvSpPr>
              <p:nvPr/>
            </p:nvSpPr>
            <p:spPr bwMode="auto">
              <a:xfrm>
                <a:off x="4817" y="1913"/>
                <a:ext cx="424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49" name="Text Box 13"/>
              <p:cNvSpPr txBox="1">
                <a:spLocks noChangeArrowheads="1"/>
              </p:cNvSpPr>
              <p:nvPr/>
            </p:nvSpPr>
            <p:spPr bwMode="auto">
              <a:xfrm>
                <a:off x="4817" y="1913"/>
                <a:ext cx="424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3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50" name="Oval 14"/>
              <p:cNvSpPr>
                <a:spLocks noChangeArrowheads="1"/>
              </p:cNvSpPr>
              <p:nvPr/>
            </p:nvSpPr>
            <p:spPr bwMode="auto">
              <a:xfrm>
                <a:off x="4252" y="2470"/>
                <a:ext cx="424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1" name="Text Box 15"/>
              <p:cNvSpPr txBox="1">
                <a:spLocks noChangeArrowheads="1"/>
              </p:cNvSpPr>
              <p:nvPr/>
            </p:nvSpPr>
            <p:spPr bwMode="auto">
              <a:xfrm>
                <a:off x="4252" y="2470"/>
                <a:ext cx="424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4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52" name="Oval 16"/>
              <p:cNvSpPr>
                <a:spLocks noChangeArrowheads="1"/>
              </p:cNvSpPr>
              <p:nvPr/>
            </p:nvSpPr>
            <p:spPr bwMode="auto">
              <a:xfrm>
                <a:off x="3405" y="2470"/>
                <a:ext cx="424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3" name="Text Box 17"/>
              <p:cNvSpPr txBox="1">
                <a:spLocks noChangeArrowheads="1"/>
              </p:cNvSpPr>
              <p:nvPr/>
            </p:nvSpPr>
            <p:spPr bwMode="auto">
              <a:xfrm>
                <a:off x="3405" y="2470"/>
                <a:ext cx="424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5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54" name="Oval 18"/>
              <p:cNvSpPr>
                <a:spLocks noChangeArrowheads="1"/>
              </p:cNvSpPr>
              <p:nvPr/>
            </p:nvSpPr>
            <p:spPr bwMode="auto">
              <a:xfrm>
                <a:off x="2982" y="1913"/>
                <a:ext cx="423" cy="4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5" name="Text Box 19"/>
              <p:cNvSpPr txBox="1">
                <a:spLocks noChangeArrowheads="1"/>
              </p:cNvSpPr>
              <p:nvPr/>
            </p:nvSpPr>
            <p:spPr bwMode="auto">
              <a:xfrm>
                <a:off x="2982" y="1913"/>
                <a:ext cx="423" cy="418"/>
              </a:xfrm>
              <a:prstGeom prst="rect">
                <a:avLst/>
              </a:prstGeom>
              <a:solidFill>
                <a:srgbClr val="FFFFFF">
                  <a:alpha val="0"/>
                </a:srgbClr>
              </a:solidFill>
              <a:ln w="317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sz="2400" b="0" i="1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х</a:t>
                </a:r>
                <a:r>
                  <a:rPr kumimoji="0" lang="ru-RU" sz="2400" b="0" i="1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</a:rPr>
                  <a:t>6</a:t>
                </a:r>
                <a:endParaRPr kumimoji="0" lang="ru-RU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</a:endParaRPr>
              </a:p>
            </p:txBody>
          </p:sp>
          <p:sp>
            <p:nvSpPr>
              <p:cNvPr id="14356" name="Line 20"/>
              <p:cNvSpPr>
                <a:spLocks noChangeShapeType="1"/>
              </p:cNvSpPr>
              <p:nvPr/>
            </p:nvSpPr>
            <p:spPr bwMode="auto">
              <a:xfrm>
                <a:off x="4252" y="1216"/>
                <a:ext cx="283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7" name="Line 21"/>
              <p:cNvSpPr>
                <a:spLocks noChangeShapeType="1"/>
              </p:cNvSpPr>
              <p:nvPr/>
            </p:nvSpPr>
            <p:spPr bwMode="auto">
              <a:xfrm>
                <a:off x="4817" y="1634"/>
                <a:ext cx="141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8" name="Line 22"/>
              <p:cNvSpPr>
                <a:spLocks noChangeShapeType="1"/>
              </p:cNvSpPr>
              <p:nvPr/>
            </p:nvSpPr>
            <p:spPr bwMode="auto">
              <a:xfrm flipH="1" flipV="1">
                <a:off x="3264" y="2331"/>
                <a:ext cx="141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59" name="Line 23"/>
              <p:cNvSpPr>
                <a:spLocks noChangeShapeType="1"/>
              </p:cNvSpPr>
              <p:nvPr/>
            </p:nvSpPr>
            <p:spPr bwMode="auto">
              <a:xfrm flipV="1">
                <a:off x="3123" y="1634"/>
                <a:ext cx="141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0" name="Line 24"/>
              <p:cNvSpPr>
                <a:spLocks noChangeShapeType="1"/>
              </p:cNvSpPr>
              <p:nvPr/>
            </p:nvSpPr>
            <p:spPr bwMode="auto">
              <a:xfrm flipH="1">
                <a:off x="3547" y="1216"/>
                <a:ext cx="282" cy="1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1" name="Line 25"/>
              <p:cNvSpPr>
                <a:spLocks noChangeShapeType="1"/>
              </p:cNvSpPr>
              <p:nvPr/>
            </p:nvSpPr>
            <p:spPr bwMode="auto">
              <a:xfrm flipH="1">
                <a:off x="3829" y="2192"/>
                <a:ext cx="988" cy="4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2" name="Line 26"/>
              <p:cNvSpPr>
                <a:spLocks noChangeShapeType="1"/>
              </p:cNvSpPr>
              <p:nvPr/>
            </p:nvSpPr>
            <p:spPr bwMode="auto">
              <a:xfrm>
                <a:off x="4112" y="1356"/>
                <a:ext cx="705" cy="69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3" name="Line 27"/>
              <p:cNvSpPr>
                <a:spLocks noChangeShapeType="1"/>
              </p:cNvSpPr>
              <p:nvPr/>
            </p:nvSpPr>
            <p:spPr bwMode="auto">
              <a:xfrm>
                <a:off x="3547" y="1495"/>
                <a:ext cx="1270" cy="5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4" name="Line 28"/>
              <p:cNvSpPr>
                <a:spLocks noChangeShapeType="1"/>
              </p:cNvSpPr>
              <p:nvPr/>
            </p:nvSpPr>
            <p:spPr bwMode="auto">
              <a:xfrm>
                <a:off x="3406" y="2052"/>
                <a:ext cx="141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5" name="Line 29"/>
              <p:cNvSpPr>
                <a:spLocks noChangeShapeType="1"/>
              </p:cNvSpPr>
              <p:nvPr/>
            </p:nvSpPr>
            <p:spPr bwMode="auto">
              <a:xfrm flipH="1">
                <a:off x="4676" y="2331"/>
                <a:ext cx="283" cy="27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6" name="Line 30"/>
              <p:cNvSpPr>
                <a:spLocks noChangeShapeType="1"/>
              </p:cNvSpPr>
              <p:nvPr/>
            </p:nvSpPr>
            <p:spPr bwMode="auto">
              <a:xfrm flipH="1">
                <a:off x="3829" y="2749"/>
                <a:ext cx="42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7" name="Freeform 31"/>
              <p:cNvSpPr>
                <a:spLocks/>
              </p:cNvSpPr>
              <p:nvPr/>
            </p:nvSpPr>
            <p:spPr bwMode="auto">
              <a:xfrm>
                <a:off x="2676" y="1356"/>
                <a:ext cx="871" cy="1742"/>
              </a:xfrm>
              <a:custGeom>
                <a:avLst/>
                <a:gdLst/>
                <a:ahLst/>
                <a:cxnLst>
                  <a:cxn ang="0">
                    <a:pos x="570" y="0"/>
                  </a:cxn>
                  <a:cxn ang="0">
                    <a:pos x="30" y="1440"/>
                  </a:cxn>
                  <a:cxn ang="0">
                    <a:pos x="750" y="2160"/>
                  </a:cxn>
                  <a:cxn ang="0">
                    <a:pos x="1110" y="1980"/>
                  </a:cxn>
                </a:cxnLst>
                <a:rect l="0" t="0" r="r" b="b"/>
                <a:pathLst>
                  <a:path w="1110" h="2250">
                    <a:moveTo>
                      <a:pt x="570" y="0"/>
                    </a:moveTo>
                    <a:cubicBezTo>
                      <a:pt x="285" y="540"/>
                      <a:pt x="0" y="1080"/>
                      <a:pt x="30" y="1440"/>
                    </a:cubicBezTo>
                    <a:cubicBezTo>
                      <a:pt x="60" y="1800"/>
                      <a:pt x="570" y="2070"/>
                      <a:pt x="750" y="2160"/>
                    </a:cubicBezTo>
                    <a:cubicBezTo>
                      <a:pt x="930" y="2250"/>
                      <a:pt x="1020" y="2115"/>
                      <a:pt x="1110" y="19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  <p:sp>
            <p:nvSpPr>
              <p:cNvPr id="14368" name="Freeform 32"/>
              <p:cNvSpPr>
                <a:spLocks/>
              </p:cNvSpPr>
              <p:nvPr/>
            </p:nvSpPr>
            <p:spPr bwMode="auto">
              <a:xfrm>
                <a:off x="4535" y="1356"/>
                <a:ext cx="1012" cy="1788"/>
              </a:xfrm>
              <a:custGeom>
                <a:avLst/>
                <a:gdLst/>
                <a:ahLst/>
                <a:cxnLst>
                  <a:cxn ang="0">
                    <a:pos x="540" y="0"/>
                  </a:cxn>
                  <a:cxn ang="0">
                    <a:pos x="1260" y="1080"/>
                  </a:cxn>
                  <a:cxn ang="0">
                    <a:pos x="720" y="2160"/>
                  </a:cxn>
                  <a:cxn ang="0">
                    <a:pos x="0" y="1980"/>
                  </a:cxn>
                </a:cxnLst>
                <a:rect l="0" t="0" r="r" b="b"/>
                <a:pathLst>
                  <a:path w="1290" h="2310">
                    <a:moveTo>
                      <a:pt x="540" y="0"/>
                    </a:moveTo>
                    <a:cubicBezTo>
                      <a:pt x="885" y="360"/>
                      <a:pt x="1230" y="720"/>
                      <a:pt x="1260" y="1080"/>
                    </a:cubicBezTo>
                    <a:cubicBezTo>
                      <a:pt x="1290" y="1440"/>
                      <a:pt x="930" y="2010"/>
                      <a:pt x="720" y="2160"/>
                    </a:cubicBezTo>
                    <a:cubicBezTo>
                      <a:pt x="510" y="2310"/>
                      <a:pt x="255" y="2145"/>
                      <a:pt x="0" y="198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sz="2400"/>
              </a:p>
            </p:txBody>
          </p:sp>
        </p:grpSp>
      </p:grpSp>
      <p:sp>
        <p:nvSpPr>
          <p:cNvPr id="37" name="TextBox 36"/>
          <p:cNvSpPr txBox="1"/>
          <p:nvPr/>
        </p:nvSpPr>
        <p:spPr>
          <a:xfrm>
            <a:off x="4714876" y="3857628"/>
            <a:ext cx="4429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Удалим из </a:t>
            </a:r>
            <a:r>
              <a:rPr lang="ru-RU" sz="2400" i="1" dirty="0"/>
              <a:t>Ψ</a:t>
            </a:r>
            <a:r>
              <a:rPr lang="en-US" sz="2400" i="1" baseline="-25000" dirty="0"/>
              <a:t>G</a:t>
            </a:r>
            <a:r>
              <a:rPr lang="ru-RU" sz="2400" i="1" baseline="-25000" dirty="0"/>
              <a:t>'</a:t>
            </a:r>
            <a:r>
              <a:rPr lang="ru-RU" sz="2400" dirty="0"/>
              <a:t> ребра, вошедшие в </a:t>
            </a:r>
            <a:r>
              <a:rPr lang="ru-RU" sz="2400" i="1" dirty="0"/>
              <a:t>ψ</a:t>
            </a:r>
            <a:r>
              <a:rPr lang="ru-RU" sz="2400" i="1" baseline="-25000" dirty="0"/>
              <a:t>1</a:t>
            </a:r>
            <a:r>
              <a:rPr lang="ru-RU" sz="2400" dirty="0"/>
              <a:t> и </a:t>
            </a:r>
            <a:r>
              <a:rPr lang="ru-RU" sz="2400" i="1" dirty="0" smtClean="0"/>
              <a:t>ψ</a:t>
            </a:r>
            <a:r>
              <a:rPr lang="ru-RU" sz="2400" i="1" baseline="-25000" dirty="0" smtClean="0"/>
              <a:t>6  </a:t>
            </a:r>
            <a:r>
              <a:rPr lang="ru-RU" sz="2400" dirty="0" smtClean="0"/>
              <a:t>   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4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dirty="0"/>
              <a:t>}; </a:t>
            </a:r>
            <a:r>
              <a:rPr lang="ru-RU" sz="2400" dirty="0"/>
              <a:t>   </a:t>
            </a:r>
            <a:r>
              <a:rPr lang="ru-RU" sz="2400" dirty="0" smtClean="0"/>
              <a:t>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5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dirty="0" smtClean="0"/>
              <a:t>}.</a:t>
            </a:r>
            <a:endParaRPr lang="ru-R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4643438" y="4929198"/>
            <a:ext cx="4500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Объединим одинаковые </a:t>
            </a:r>
            <a:r>
              <a:rPr lang="ru-RU" sz="2400" dirty="0" smtClean="0"/>
              <a:t>множества</a:t>
            </a:r>
            <a:r>
              <a:rPr lang="ru-RU" sz="2400" dirty="0"/>
              <a:t>, не реализованным </a:t>
            </a:r>
            <a:r>
              <a:rPr lang="ru-RU" sz="2400" dirty="0" smtClean="0"/>
              <a:t>осталось </a:t>
            </a:r>
            <a:r>
              <a:rPr lang="ru-RU" sz="2400" dirty="0"/>
              <a:t>единственное ребро </a:t>
            </a:r>
            <a:endParaRPr lang="ru-RU" sz="2400" dirty="0" smtClean="0"/>
          </a:p>
          <a:p>
            <a:r>
              <a:rPr lang="ru-RU" sz="2400" b="1" i="1" dirty="0" smtClean="0"/>
              <a:t>ψ</a:t>
            </a:r>
            <a:r>
              <a:rPr lang="ru-RU" sz="2400" b="1" i="1" baseline="-25000" dirty="0" smtClean="0"/>
              <a:t>4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dirty="0"/>
              <a:t>}.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14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48577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Проведем </a:t>
            </a:r>
            <a:r>
              <a:rPr lang="ru-RU" sz="2400" dirty="0" smtClean="0"/>
              <a:t>его. </a:t>
            </a:r>
          </a:p>
          <a:p>
            <a:r>
              <a:rPr lang="ru-RU" sz="2400" dirty="0" smtClean="0"/>
              <a:t>Все </a:t>
            </a:r>
            <a:r>
              <a:rPr lang="ru-RU" sz="2400" dirty="0"/>
              <a:t>ребра графа </a:t>
            </a:r>
            <a:r>
              <a:rPr lang="en-US" sz="2400" i="1" dirty="0"/>
              <a:t>G</a:t>
            </a:r>
            <a:r>
              <a:rPr lang="ru-RU" sz="2400" dirty="0"/>
              <a:t>  реализованы. Толщина графа </a:t>
            </a:r>
            <a:r>
              <a:rPr lang="en-US" sz="2400" i="1" dirty="0"/>
              <a:t>m </a:t>
            </a:r>
            <a:r>
              <a:rPr lang="ru-RU" sz="2400" i="1" dirty="0"/>
              <a:t>= 2.</a:t>
            </a:r>
            <a:r>
              <a:rPr lang="ru-RU" sz="2400" dirty="0"/>
              <a:t>   </a:t>
            </a:r>
          </a:p>
        </p:txBody>
      </p:sp>
      <p:grpSp>
        <p:nvGrpSpPr>
          <p:cNvPr id="13313" name="Group 1"/>
          <p:cNvGrpSpPr>
            <a:grpSpLocks noChangeAspect="1"/>
          </p:cNvGrpSpPr>
          <p:nvPr/>
        </p:nvGrpSpPr>
        <p:grpSpPr bwMode="auto">
          <a:xfrm>
            <a:off x="4929190" y="-142900"/>
            <a:ext cx="3841392" cy="3414571"/>
            <a:chOff x="2841" y="798"/>
            <a:chExt cx="2541" cy="2230"/>
          </a:xfrm>
        </p:grpSpPr>
        <p:sp>
          <p:nvSpPr>
            <p:cNvPr id="13314" name="AutoShape 2"/>
            <p:cNvSpPr>
              <a:spLocks noChangeAspect="1" noChangeArrowheads="1"/>
            </p:cNvSpPr>
            <p:nvPr/>
          </p:nvSpPr>
          <p:spPr bwMode="auto">
            <a:xfrm>
              <a:off x="2841" y="798"/>
              <a:ext cx="2541" cy="223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15" name="Oval 3"/>
            <p:cNvSpPr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16" name="Text Box 4"/>
            <p:cNvSpPr txBox="1">
              <a:spLocks noChangeArrowheads="1"/>
            </p:cNvSpPr>
            <p:nvPr/>
          </p:nvSpPr>
          <p:spPr bwMode="auto">
            <a:xfrm>
              <a:off x="3829" y="937"/>
              <a:ext cx="423" cy="419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1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17" name="Oval 5"/>
            <p:cNvSpPr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18" name="Text Box 6"/>
            <p:cNvSpPr txBox="1">
              <a:spLocks noChangeArrowheads="1"/>
            </p:cNvSpPr>
            <p:nvPr/>
          </p:nvSpPr>
          <p:spPr bwMode="auto">
            <a:xfrm>
              <a:off x="4535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2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19" name="Oval 7"/>
            <p:cNvSpPr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20" name="Text Box 8"/>
            <p:cNvSpPr txBox="1">
              <a:spLocks noChangeArrowheads="1"/>
            </p:cNvSpPr>
            <p:nvPr/>
          </p:nvSpPr>
          <p:spPr bwMode="auto">
            <a:xfrm>
              <a:off x="3123" y="1216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7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21" name="Oval 9"/>
            <p:cNvSpPr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22" name="Text Box 10"/>
            <p:cNvSpPr txBox="1">
              <a:spLocks noChangeArrowheads="1"/>
            </p:cNvSpPr>
            <p:nvPr/>
          </p:nvSpPr>
          <p:spPr bwMode="auto">
            <a:xfrm>
              <a:off x="4817" y="1913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3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23" name="Oval 11"/>
            <p:cNvSpPr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24" name="Text Box 12"/>
            <p:cNvSpPr txBox="1">
              <a:spLocks noChangeArrowheads="1"/>
            </p:cNvSpPr>
            <p:nvPr/>
          </p:nvSpPr>
          <p:spPr bwMode="auto">
            <a:xfrm>
              <a:off x="4252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4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25" name="Oval 13"/>
            <p:cNvSpPr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26" name="Text Box 14"/>
            <p:cNvSpPr txBox="1">
              <a:spLocks noChangeArrowheads="1"/>
            </p:cNvSpPr>
            <p:nvPr/>
          </p:nvSpPr>
          <p:spPr bwMode="auto">
            <a:xfrm>
              <a:off x="3405" y="2470"/>
              <a:ext cx="424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5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27" name="Oval 15"/>
            <p:cNvSpPr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28" name="Text Box 16"/>
            <p:cNvSpPr txBox="1">
              <a:spLocks noChangeArrowheads="1"/>
            </p:cNvSpPr>
            <p:nvPr/>
          </p:nvSpPr>
          <p:spPr bwMode="auto">
            <a:xfrm>
              <a:off x="2982" y="1913"/>
              <a:ext cx="423" cy="41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3175" cap="rnd">
              <a:solidFill>
                <a:srgbClr val="FFFFFF"/>
              </a:solidFill>
              <a:prstDash val="sysDot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ru-RU" sz="2400" b="0" i="1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х</a:t>
              </a:r>
              <a:r>
                <a:rPr kumimoji="0" lang="ru-RU" sz="2400" b="0" i="1" u="none" strike="noStrike" cap="none" normalizeH="0" baseline="-2500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rPr>
                <a:t>6</a:t>
              </a:r>
              <a:endParaRPr kumimoji="0" lang="ru-RU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3329" name="Line 17"/>
            <p:cNvSpPr>
              <a:spLocks noChangeShapeType="1"/>
            </p:cNvSpPr>
            <p:nvPr/>
          </p:nvSpPr>
          <p:spPr bwMode="auto">
            <a:xfrm>
              <a:off x="4252" y="1216"/>
              <a:ext cx="283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0" name="Line 18"/>
            <p:cNvSpPr>
              <a:spLocks noChangeShapeType="1"/>
            </p:cNvSpPr>
            <p:nvPr/>
          </p:nvSpPr>
          <p:spPr bwMode="auto">
            <a:xfrm>
              <a:off x="4817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1" name="Line 19"/>
            <p:cNvSpPr>
              <a:spLocks noChangeShapeType="1"/>
            </p:cNvSpPr>
            <p:nvPr/>
          </p:nvSpPr>
          <p:spPr bwMode="auto">
            <a:xfrm flipH="1" flipV="1">
              <a:off x="3264" y="2331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2" name="Line 20"/>
            <p:cNvSpPr>
              <a:spLocks noChangeShapeType="1"/>
            </p:cNvSpPr>
            <p:nvPr/>
          </p:nvSpPr>
          <p:spPr bwMode="auto">
            <a:xfrm flipV="1">
              <a:off x="3123" y="1634"/>
              <a:ext cx="141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3" name="Line 21"/>
            <p:cNvSpPr>
              <a:spLocks noChangeShapeType="1"/>
            </p:cNvSpPr>
            <p:nvPr/>
          </p:nvSpPr>
          <p:spPr bwMode="auto">
            <a:xfrm flipH="1">
              <a:off x="3547" y="1216"/>
              <a:ext cx="282" cy="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4" name="Line 22"/>
            <p:cNvSpPr>
              <a:spLocks noChangeShapeType="1"/>
            </p:cNvSpPr>
            <p:nvPr/>
          </p:nvSpPr>
          <p:spPr bwMode="auto">
            <a:xfrm flipH="1">
              <a:off x="4676" y="2331"/>
              <a:ext cx="283" cy="2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5" name="Line 23"/>
            <p:cNvSpPr>
              <a:spLocks noChangeShapeType="1"/>
            </p:cNvSpPr>
            <p:nvPr/>
          </p:nvSpPr>
          <p:spPr bwMode="auto">
            <a:xfrm flipH="1">
              <a:off x="3829" y="2749"/>
              <a:ext cx="4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  <p:sp>
          <p:nvSpPr>
            <p:cNvPr id="13336" name="Line 24"/>
            <p:cNvSpPr>
              <a:spLocks noChangeShapeType="1"/>
            </p:cNvSpPr>
            <p:nvPr/>
          </p:nvSpPr>
          <p:spPr bwMode="auto">
            <a:xfrm flipV="1">
              <a:off x="3406" y="1495"/>
              <a:ext cx="1129" cy="5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240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0" y="3000372"/>
            <a:ext cx="6215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Если взять множества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3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13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47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57</a:t>
            </a:r>
            <a:r>
              <a:rPr lang="ru-RU" sz="2400" b="1" dirty="0"/>
              <a:t>} </a:t>
            </a:r>
            <a:r>
              <a:rPr lang="ru-RU" sz="2400" dirty="0"/>
              <a:t> и </a:t>
            </a:r>
            <a:r>
              <a:rPr lang="ru-RU" sz="2400" b="1" i="1" dirty="0"/>
              <a:t>ψ</a:t>
            </a:r>
            <a:r>
              <a:rPr lang="ru-RU" sz="2400" b="1" i="1" baseline="-25000" dirty="0"/>
              <a:t>5 </a:t>
            </a:r>
            <a:r>
              <a:rPr lang="ru-RU" sz="2400" b="1" dirty="0"/>
              <a:t>={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36</a:t>
            </a:r>
            <a:r>
              <a:rPr lang="ru-RU" sz="2400" b="1" i="1" dirty="0"/>
              <a:t>, 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35</a:t>
            </a:r>
            <a:r>
              <a:rPr lang="ru-RU" sz="2400" b="1" dirty="0"/>
              <a:t>}</a:t>
            </a:r>
            <a:r>
              <a:rPr lang="ru-RU" sz="2400" dirty="0"/>
              <a:t>, то не реализованным окажется ребро </a:t>
            </a:r>
            <a:r>
              <a:rPr lang="ru-RU" sz="2400" b="1" dirty="0"/>
              <a:t>{</a:t>
            </a:r>
            <a:r>
              <a:rPr lang="en-US" sz="2400" b="1" i="1" dirty="0"/>
              <a:t>u</a:t>
            </a:r>
            <a:r>
              <a:rPr lang="ru-RU" sz="2400" b="1" i="1" baseline="-25000" dirty="0"/>
              <a:t>24</a:t>
            </a:r>
            <a:r>
              <a:rPr lang="ru-RU" sz="2400" b="1" dirty="0"/>
              <a:t>}</a:t>
            </a:r>
            <a:r>
              <a:rPr lang="ru-RU" sz="2400" dirty="0"/>
              <a:t>.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13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2952</Words>
  <Application>Microsoft Office PowerPoint</Application>
  <PresentationFormat>Экран (4:3)</PresentationFormat>
  <Paragraphs>441</Paragraphs>
  <Slides>19</Slides>
  <Notes>1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Тема Office</vt:lpstr>
      <vt:lpstr>Формула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</vt:vector>
  </TitlesOfParts>
  <Company>IFMO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Vova</dc:creator>
  <cp:lastModifiedBy>Polyakov</cp:lastModifiedBy>
  <cp:revision>22</cp:revision>
  <dcterms:created xsi:type="dcterms:W3CDTF">2015-03-17T16:54:20Z</dcterms:created>
  <dcterms:modified xsi:type="dcterms:W3CDTF">2022-03-02T13:20:29Z</dcterms:modified>
</cp:coreProperties>
</file>