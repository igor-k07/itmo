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59"/>
  </p:notesMasterIdLst>
  <p:sldIdLst>
    <p:sldId id="256" r:id="rId2"/>
    <p:sldId id="257" r:id="rId3"/>
    <p:sldId id="258" r:id="rId4"/>
    <p:sldId id="259" r:id="rId5"/>
    <p:sldId id="260" r:id="rId6"/>
    <p:sldId id="313" r:id="rId7"/>
    <p:sldId id="314"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1" r:id="rId36"/>
    <p:sldId id="292" r:id="rId37"/>
    <p:sldId id="294" r:id="rId38"/>
    <p:sldId id="293" r:id="rId39"/>
    <p:sldId id="295" r:id="rId40"/>
    <p:sldId id="296" r:id="rId41"/>
    <p:sldId id="297" r:id="rId42"/>
    <p:sldId id="298" r:id="rId43"/>
    <p:sldId id="299" r:id="rId44"/>
    <p:sldId id="300" r:id="rId45"/>
    <p:sldId id="285" r:id="rId46"/>
    <p:sldId id="302" r:id="rId47"/>
    <p:sldId id="301" r:id="rId48"/>
    <p:sldId id="303" r:id="rId49"/>
    <p:sldId id="304" r:id="rId50"/>
    <p:sldId id="305" r:id="rId51"/>
    <p:sldId id="306" r:id="rId52"/>
    <p:sldId id="307" r:id="rId53"/>
    <p:sldId id="308" r:id="rId54"/>
    <p:sldId id="309" r:id="rId55"/>
    <p:sldId id="310" r:id="rId56"/>
    <p:sldId id="311" r:id="rId57"/>
    <p:sldId id="312" r:id="rId5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7" autoAdjust="0"/>
    <p:restoredTop sz="94660"/>
  </p:normalViewPr>
  <p:slideViewPr>
    <p:cSldViewPr snapToGrid="0">
      <p:cViewPr varScale="1">
        <p:scale>
          <a:sx n="108" d="100"/>
          <a:sy n="108" d="100"/>
        </p:scale>
        <p:origin x="74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D133E-ECDF-447A-9414-98BD1C872247}" type="datetimeFigureOut">
              <a:rPr lang="ru-RU" smtClean="0"/>
              <a:pPr/>
              <a:t>10.03.2024</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D5877-CB48-4EBD-A022-837D4B5D5C29}" type="slidenum">
              <a:rPr lang="ru-RU" smtClean="0"/>
              <a:pPr/>
              <a:t>‹#›</a:t>
            </a:fld>
            <a:endParaRPr lang="ru-RU"/>
          </a:p>
        </p:txBody>
      </p:sp>
    </p:spTree>
    <p:extLst>
      <p:ext uri="{BB962C8B-B14F-4D97-AF65-F5344CB8AC3E}">
        <p14:creationId xmlns:p14="http://schemas.microsoft.com/office/powerpoint/2010/main" val="198763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222D5877-CB48-4EBD-A022-837D4B5D5C29}" type="slidenum">
              <a:rPr lang="ru-RU" smtClean="0"/>
              <a:pPr/>
              <a:t>24</a:t>
            </a:fld>
            <a:endParaRPr lang="ru-RU"/>
          </a:p>
        </p:txBody>
      </p:sp>
    </p:spTree>
    <p:extLst>
      <p:ext uri="{BB962C8B-B14F-4D97-AF65-F5344CB8AC3E}">
        <p14:creationId xmlns:p14="http://schemas.microsoft.com/office/powerpoint/2010/main" val="5238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1354323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325737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3288851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53367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2054605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1952242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383285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3029923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231994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4098438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F893DE7-4431-4E5F-8C69-908ED90D2B8F}" type="datetimeFigureOut">
              <a:rPr lang="ru-RU" smtClean="0"/>
              <a:pPr/>
              <a:t>10.03.2024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D85EE25-FFC6-4FFF-AFE9-EA6A59654225}" type="slidenum">
              <a:rPr lang="ru-RU" smtClean="0"/>
              <a:pPr/>
              <a:t>‹#›</a:t>
            </a:fld>
            <a:endParaRPr lang="ru-RU"/>
          </a:p>
        </p:txBody>
      </p:sp>
    </p:spTree>
    <p:extLst>
      <p:ext uri="{BB962C8B-B14F-4D97-AF65-F5344CB8AC3E}">
        <p14:creationId xmlns:p14="http://schemas.microsoft.com/office/powerpoint/2010/main" val="1307790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93DE7-4431-4E5F-8C69-908ED90D2B8F}" type="datetimeFigureOut">
              <a:rPr lang="ru-RU" smtClean="0"/>
              <a:pPr/>
              <a:t>10.03.2024</a:t>
            </a:fld>
            <a:endParaRPr lang="ru-RU"/>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85EE25-FFC6-4FFF-AFE9-EA6A59654225}" type="slidenum">
              <a:rPr lang="ru-RU" smtClean="0"/>
              <a:pPr/>
              <a:t>‹#›</a:t>
            </a:fld>
            <a:endParaRPr lang="ru-RU"/>
          </a:p>
        </p:txBody>
      </p:sp>
    </p:spTree>
    <p:extLst>
      <p:ext uri="{BB962C8B-B14F-4D97-AF65-F5344CB8AC3E}">
        <p14:creationId xmlns:p14="http://schemas.microsoft.com/office/powerpoint/2010/main" val="16159344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x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1.x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1.xml"/><Relationship Id="rId6" Type="http://schemas.openxmlformats.org/officeDocument/2006/relationships/oleObject" Target="../embeddings/oleObject8.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1.xml"/><Relationship Id="rId5" Type="http://schemas.openxmlformats.org/officeDocument/2006/relationships/image" Target="../media/image18.w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9.wmf"/><Relationship Id="rId7" Type="http://schemas.openxmlformats.org/officeDocument/2006/relationships/oleObject" Target="../embeddings/oleObject15.bin"/><Relationship Id="rId2" Type="http://schemas.openxmlformats.org/officeDocument/2006/relationships/oleObject" Target="../embeddings/oleObject13.bin"/><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28.png"/><Relationship Id="rId7" Type="http://schemas.openxmlformats.org/officeDocument/2006/relationships/oleObject" Target="../embeddings/oleObject16.bin"/><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7.bin"/><Relationship Id="rId1" Type="http://schemas.openxmlformats.org/officeDocument/2006/relationships/slideLayout" Target="../slideLayouts/slideLayout1.xml"/><Relationship Id="rId5" Type="http://schemas.openxmlformats.org/officeDocument/2006/relationships/image" Target="../media/image33.wmf"/><Relationship Id="rId4"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19.bin"/><Relationship Id="rId1" Type="http://schemas.openxmlformats.org/officeDocument/2006/relationships/slideLayout" Target="../slideLayouts/slideLayout1.xml"/><Relationship Id="rId6" Type="http://schemas.openxmlformats.org/officeDocument/2006/relationships/oleObject" Target="../embeddings/oleObject21.bin"/><Relationship Id="rId5" Type="http://schemas.openxmlformats.org/officeDocument/2006/relationships/image" Target="../media/image35.wmf"/><Relationship Id="rId4"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2.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3.bin"/><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24.bin"/><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http://sl-matlab.ru/services/products/detail.php?ID=423&amp;list=c" TargetMode="External"/><Relationship Id="rId2" Type="http://schemas.openxmlformats.org/officeDocument/2006/relationships/hyperlink" Target="http://www.kv.by/index2007401106.htm"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88690" y="0"/>
            <a:ext cx="3009157" cy="584775"/>
          </a:xfrm>
          <a:prstGeom prst="rect">
            <a:avLst/>
          </a:prstGeom>
        </p:spPr>
        <p:txBody>
          <a:bodyPr wrap="none">
            <a:spAutoFit/>
          </a:bodyPr>
          <a:lstStyle/>
          <a:p>
            <a:r>
              <a:rPr lang="ru-RU" sz="3200" b="1" dirty="0">
                <a:solidFill>
                  <a:srgbClr val="FF0000"/>
                </a:solidFill>
                <a:effectLst/>
                <a:latin typeface="+mj-lt"/>
                <a:ea typeface="Times New Roman" panose="02020603050405020304" pitchFamily="18" charset="0"/>
              </a:rPr>
              <a:t>Нечеткая логика</a:t>
            </a:r>
            <a:endParaRPr lang="ru-RU" sz="3200" b="1" dirty="0">
              <a:solidFill>
                <a:srgbClr val="FF0000"/>
              </a:solidFill>
              <a:latin typeface="+mj-lt"/>
            </a:endParaRPr>
          </a:p>
        </p:txBody>
      </p:sp>
      <p:sp>
        <p:nvSpPr>
          <p:cNvPr id="5" name="Прямоугольник 4"/>
          <p:cNvSpPr/>
          <p:nvPr/>
        </p:nvSpPr>
        <p:spPr>
          <a:xfrm>
            <a:off x="0" y="584775"/>
            <a:ext cx="9144000" cy="2246769"/>
          </a:xfrm>
          <a:prstGeom prst="rect">
            <a:avLst/>
          </a:prstGeom>
        </p:spPr>
        <p:txBody>
          <a:bodyPr wrap="square">
            <a:spAutoFit/>
          </a:bodyPr>
          <a:lstStyle/>
          <a:p>
            <a:pPr indent="457200" algn="just" hangingPunct="0">
              <a:spcAft>
                <a:spcPts val="0"/>
              </a:spcAft>
            </a:pPr>
            <a:r>
              <a:rPr lang="ru-RU" sz="2800" dirty="0">
                <a:effectLst/>
                <a:ea typeface="Times New Roman" panose="02020603050405020304" pitchFamily="18" charset="0"/>
              </a:rPr>
              <a:t>Во многих задачах управления невозможна традиционная математическая модель в системе дифференциальных уравнений в пространстве состояний. Это затрудняет создание программных моделей цифрового управления. </a:t>
            </a:r>
          </a:p>
        </p:txBody>
      </p:sp>
      <p:sp>
        <p:nvSpPr>
          <p:cNvPr id="6" name="Прямоугольник 5"/>
          <p:cNvSpPr/>
          <p:nvPr/>
        </p:nvSpPr>
        <p:spPr>
          <a:xfrm>
            <a:off x="108488" y="2831544"/>
            <a:ext cx="9144000" cy="2246769"/>
          </a:xfrm>
          <a:prstGeom prst="rect">
            <a:avLst/>
          </a:prstGeom>
        </p:spPr>
        <p:txBody>
          <a:bodyPr wrap="square">
            <a:spAutoFit/>
          </a:bodyPr>
          <a:lstStyle/>
          <a:p>
            <a:r>
              <a:rPr lang="ru-RU" sz="2800" dirty="0">
                <a:effectLst/>
                <a:ea typeface="Times New Roman" panose="02020603050405020304" pitchFamily="18" charset="0"/>
              </a:rPr>
              <a:t>К числу таких задач относятся многие задачи управления техническим оборудованием (холодильники, пылесосы, автомобили, </a:t>
            </a:r>
            <a:r>
              <a:rPr lang="en-US" sz="2800" dirty="0">
                <a:effectLst/>
                <a:ea typeface="Times New Roman" panose="02020603050405020304" pitchFamily="18" charset="0"/>
              </a:rPr>
              <a:t>c</a:t>
            </a:r>
            <a:r>
              <a:rPr lang="ru-RU" sz="2800" dirty="0">
                <a:effectLst/>
                <a:ea typeface="Times New Roman" panose="02020603050405020304" pitchFamily="18" charset="0"/>
              </a:rPr>
              <a:t>танки и др.). Исходные условия в этих зада</a:t>
            </a:r>
            <a:r>
              <a:rPr lang="en-US" sz="2800" dirty="0">
                <a:effectLst/>
                <a:ea typeface="Times New Roman" panose="02020603050405020304" pitchFamily="18" charset="0"/>
              </a:rPr>
              <a:t>-</a:t>
            </a:r>
            <a:r>
              <a:rPr lang="ru-RU" sz="2800" dirty="0">
                <a:effectLst/>
                <a:ea typeface="Times New Roman" panose="02020603050405020304" pitchFamily="18" charset="0"/>
              </a:rPr>
              <a:t>чах нечетко определены. Используемые данные могут быть субъективны («много», «мало», «приблизительно»).</a:t>
            </a:r>
            <a:endParaRPr lang="ru-RU" sz="2800" dirty="0"/>
          </a:p>
        </p:txBody>
      </p:sp>
      <p:sp>
        <p:nvSpPr>
          <p:cNvPr id="7" name="Прямоугольник 6"/>
          <p:cNvSpPr/>
          <p:nvPr/>
        </p:nvSpPr>
        <p:spPr>
          <a:xfrm>
            <a:off x="108488" y="5078313"/>
            <a:ext cx="9035512" cy="1384995"/>
          </a:xfrm>
          <a:prstGeom prst="rect">
            <a:avLst/>
          </a:prstGeom>
        </p:spPr>
        <p:txBody>
          <a:bodyPr wrap="square">
            <a:spAutoFit/>
          </a:bodyPr>
          <a:lstStyle/>
          <a:p>
            <a:pPr indent="457200" algn="just" hangingPunct="0">
              <a:spcAft>
                <a:spcPts val="0"/>
              </a:spcAft>
            </a:pPr>
            <a:r>
              <a:rPr lang="ru-RU" sz="2800" dirty="0">
                <a:effectLst/>
                <a:ea typeface="Times New Roman" panose="02020603050405020304" pitchFamily="18" charset="0"/>
              </a:rPr>
              <a:t>В нечеткой логике истина или ложь перестают быть абсолютными — утверждения могут быть частично истинными и частично ложными. </a:t>
            </a:r>
          </a:p>
        </p:txBody>
      </p:sp>
    </p:spTree>
    <p:extLst>
      <p:ext uri="{BB962C8B-B14F-4D97-AF65-F5344CB8AC3E}">
        <p14:creationId xmlns:p14="http://schemas.microsoft.com/office/powerpoint/2010/main" val="425020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6" grpId="0" build="allAtOnce"/>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333" y="0"/>
            <a:ext cx="8974667" cy="3539430"/>
          </a:xfrm>
          <a:prstGeom prst="rect">
            <a:avLst/>
          </a:prstGeom>
          <a:noFill/>
        </p:spPr>
        <p:txBody>
          <a:bodyPr wrap="square" rtlCol="0">
            <a:spAutoFit/>
          </a:bodyPr>
          <a:lstStyle/>
          <a:p>
            <a:r>
              <a:rPr lang="ru-RU" sz="2800" dirty="0"/>
              <a:t>Пример применения нечеткой логики в школе. Учителю предлагается оценить истинность высказывания: «ученик усвоил материал». Учитель может ответить: «отлично» — что-то вроде «истины». Учитель может ответить «плохо» — т.е. что-то вроде «лжи». Но между ними есть еще промежуточные градации: «хорошо» и «удовлетвори</a:t>
            </a:r>
            <a:r>
              <a:rPr lang="en-US" sz="2800" dirty="0"/>
              <a:t>-</a:t>
            </a:r>
            <a:r>
              <a:rPr lang="ru-RU" sz="2800" dirty="0" err="1"/>
              <a:t>тельно</a:t>
            </a:r>
            <a:r>
              <a:rPr lang="ru-RU" sz="2800" dirty="0"/>
              <a:t>». Вместо словесных обозначений можно </a:t>
            </a:r>
            <a:r>
              <a:rPr lang="ru-RU" sz="2800" dirty="0" err="1"/>
              <a:t>исполь</a:t>
            </a:r>
            <a:r>
              <a:rPr lang="en-US" sz="2800" dirty="0"/>
              <a:t>-</a:t>
            </a:r>
            <a:r>
              <a:rPr lang="ru-RU" sz="2800" dirty="0" err="1"/>
              <a:t>зовать</a:t>
            </a:r>
            <a:r>
              <a:rPr lang="ru-RU" sz="2800" dirty="0"/>
              <a:t> оценки-числа: 5, 2, 4, 3. </a:t>
            </a:r>
            <a:endParaRPr lang="ru-RU" dirty="0"/>
          </a:p>
        </p:txBody>
      </p:sp>
      <p:sp>
        <p:nvSpPr>
          <p:cNvPr id="3" name="TextBox 2"/>
          <p:cNvSpPr txBox="1"/>
          <p:nvPr/>
        </p:nvSpPr>
        <p:spPr>
          <a:xfrm>
            <a:off x="1" y="3387478"/>
            <a:ext cx="9143999" cy="954107"/>
          </a:xfrm>
          <a:prstGeom prst="rect">
            <a:avLst/>
          </a:prstGeom>
          <a:noFill/>
        </p:spPr>
        <p:txBody>
          <a:bodyPr wrap="square" rtlCol="0">
            <a:spAutoFit/>
          </a:bodyPr>
          <a:lstStyle/>
          <a:p>
            <a:r>
              <a:rPr lang="ru-RU" sz="2800" dirty="0"/>
              <a:t>Основы нечеткой логики были заложены в конце 1960-х гг. в работах </a:t>
            </a:r>
            <a:r>
              <a:rPr lang="ru-RU" sz="2800" dirty="0" err="1"/>
              <a:t>Лотфи</a:t>
            </a:r>
            <a:r>
              <a:rPr lang="ru-RU" sz="2800" dirty="0"/>
              <a:t> Заде</a:t>
            </a:r>
            <a:r>
              <a:rPr lang="en-US" sz="2800" dirty="0"/>
              <a:t>.</a:t>
            </a:r>
            <a:endParaRPr lang="ru-RU" sz="2800" dirty="0"/>
          </a:p>
        </p:txBody>
      </p:sp>
      <p:sp>
        <p:nvSpPr>
          <p:cNvPr id="4" name="TextBox 3"/>
          <p:cNvSpPr txBox="1"/>
          <p:nvPr/>
        </p:nvSpPr>
        <p:spPr>
          <a:xfrm>
            <a:off x="42333" y="4215133"/>
            <a:ext cx="9059334" cy="2677656"/>
          </a:xfrm>
          <a:prstGeom prst="rect">
            <a:avLst/>
          </a:prstGeom>
          <a:noFill/>
        </p:spPr>
        <p:txBody>
          <a:bodyPr wrap="square" rtlCol="0">
            <a:spAutoFit/>
          </a:bodyPr>
          <a:lstStyle/>
          <a:p>
            <a:r>
              <a:rPr lang="ru-RU" sz="2800" dirty="0"/>
              <a:t>Приложения, основанные на нечетких множествах, </a:t>
            </a:r>
            <a:r>
              <a:rPr lang="ru-RU" sz="2800" dirty="0" err="1"/>
              <a:t>разра</a:t>
            </a:r>
            <a:r>
              <a:rPr lang="en-US" sz="2800" dirty="0"/>
              <a:t>-</a:t>
            </a:r>
            <a:r>
              <a:rPr lang="ru-RU" sz="2800" dirty="0" err="1"/>
              <a:t>ботаны</a:t>
            </a:r>
            <a:r>
              <a:rPr lang="ru-RU" sz="2800" dirty="0"/>
              <a:t> и успешно внедрены в системах управления тех</a:t>
            </a:r>
            <a:r>
              <a:rPr lang="en-US" sz="2800" dirty="0"/>
              <a:t>-</a:t>
            </a:r>
            <a:r>
              <a:rPr lang="ru-RU" sz="2800" dirty="0" err="1"/>
              <a:t>нологическими</a:t>
            </a:r>
            <a:r>
              <a:rPr lang="ru-RU" sz="2800" dirty="0"/>
              <a:t> процессами, транспортом, медицинской и технической диагностике, финансовом менеджменте, биржевом прогнозировании, распознавании образов</a:t>
            </a:r>
            <a:r>
              <a:rPr lang="en-US" sz="2800" dirty="0"/>
              <a:t> </a:t>
            </a:r>
            <a:r>
              <a:rPr lang="ru-RU" sz="2800" dirty="0"/>
              <a:t>и </a:t>
            </a:r>
            <a:r>
              <a:rPr lang="ru-RU" sz="2800" dirty="0" err="1"/>
              <a:t>др</a:t>
            </a:r>
            <a:r>
              <a:rPr lang="en-US" sz="2800" dirty="0"/>
              <a:t>.</a:t>
            </a:r>
            <a:endParaRPr lang="ru-RU" sz="2800" dirty="0"/>
          </a:p>
        </p:txBody>
      </p:sp>
    </p:spTree>
    <p:extLst>
      <p:ext uri="{BB962C8B-B14F-4D97-AF65-F5344CB8AC3E}">
        <p14:creationId xmlns:p14="http://schemas.microsoft.com/office/powerpoint/2010/main" val="237733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11022" y="79022"/>
            <a:ext cx="4876800" cy="523220"/>
          </a:xfrm>
          <a:prstGeom prst="rect">
            <a:avLst/>
          </a:prstGeom>
          <a:noFill/>
        </p:spPr>
        <p:txBody>
          <a:bodyPr wrap="square" rtlCol="0">
            <a:spAutoFit/>
          </a:bodyPr>
          <a:lstStyle/>
          <a:p>
            <a:r>
              <a:rPr lang="ru-RU" sz="2800" b="1" dirty="0">
                <a:solidFill>
                  <a:srgbClr val="FF0000"/>
                </a:solidFill>
              </a:rPr>
              <a:t>Нечеткие множества</a:t>
            </a:r>
          </a:p>
        </p:txBody>
      </p:sp>
      <p:sp>
        <p:nvSpPr>
          <p:cNvPr id="3" name="TextBox 2"/>
          <p:cNvSpPr txBox="1"/>
          <p:nvPr/>
        </p:nvSpPr>
        <p:spPr>
          <a:xfrm>
            <a:off x="62088" y="602242"/>
            <a:ext cx="8974667" cy="954107"/>
          </a:xfrm>
          <a:prstGeom prst="rect">
            <a:avLst/>
          </a:prstGeom>
          <a:noFill/>
        </p:spPr>
        <p:txBody>
          <a:bodyPr wrap="square" rtlCol="0">
            <a:spAutoFit/>
          </a:bodyPr>
          <a:lstStyle/>
          <a:p>
            <a:r>
              <a:rPr lang="ru-RU" sz="2800" dirty="0"/>
              <a:t>Данные в задачах нечеткого управления представлены численными подмножествами.</a:t>
            </a:r>
          </a:p>
        </p:txBody>
      </p:sp>
      <p:sp>
        <p:nvSpPr>
          <p:cNvPr id="4" name="TextBox 3"/>
          <p:cNvSpPr txBox="1"/>
          <p:nvPr/>
        </p:nvSpPr>
        <p:spPr>
          <a:xfrm>
            <a:off x="62088" y="1443460"/>
            <a:ext cx="8974667" cy="2246769"/>
          </a:xfrm>
          <a:prstGeom prst="rect">
            <a:avLst/>
          </a:prstGeom>
          <a:noFill/>
        </p:spPr>
        <p:txBody>
          <a:bodyPr wrap="square" rtlCol="0">
            <a:spAutoFit/>
          </a:bodyPr>
          <a:lstStyle/>
          <a:p>
            <a:r>
              <a:rPr lang="en-US" sz="2800" i="1" dirty="0"/>
              <a:t>U</a:t>
            </a:r>
            <a:r>
              <a:rPr lang="ru-RU" sz="2800" dirty="0"/>
              <a:t>(</a:t>
            </a:r>
            <a:r>
              <a:rPr lang="en-US" sz="2800" i="1" dirty="0"/>
              <a:t>x</a:t>
            </a:r>
            <a:r>
              <a:rPr lang="ru-RU" sz="2800" dirty="0"/>
              <a:t>) — универсальное множество объектов, предикат </a:t>
            </a:r>
            <a:r>
              <a:rPr lang="ru-RU" sz="2800" i="1" dirty="0"/>
              <a:t>R</a:t>
            </a:r>
            <a:r>
              <a:rPr lang="ru-RU" sz="2800" dirty="0"/>
              <a:t>(</a:t>
            </a:r>
            <a:r>
              <a:rPr lang="en-US" sz="2800" i="1" dirty="0"/>
              <a:t>x</a:t>
            </a:r>
            <a:r>
              <a:rPr lang="ru-RU" sz="2800" dirty="0"/>
              <a:t>) определяется  как множество упорядоченных пар (µ</a:t>
            </a:r>
            <a:r>
              <a:rPr lang="ru-RU" sz="2800" baseline="-25000" dirty="0"/>
              <a:t>A</a:t>
            </a:r>
            <a:r>
              <a:rPr lang="ru-RU" sz="2800" dirty="0"/>
              <a:t>(</a:t>
            </a:r>
            <a:r>
              <a:rPr lang="ru-RU" sz="2800" i="1" dirty="0"/>
              <a:t>х</a:t>
            </a:r>
            <a:r>
              <a:rPr lang="ru-RU" sz="2800" dirty="0"/>
              <a:t>)/</a:t>
            </a:r>
            <a:r>
              <a:rPr lang="ru-RU" sz="2800" i="1" dirty="0"/>
              <a:t>х</a:t>
            </a:r>
            <a:r>
              <a:rPr lang="ru-RU" sz="2800" dirty="0"/>
              <a:t>), где µ</a:t>
            </a:r>
            <a:r>
              <a:rPr lang="ru-RU" sz="2800" baseline="-25000" dirty="0"/>
              <a:t>A</a:t>
            </a:r>
            <a:r>
              <a:rPr lang="ru-RU" sz="2800" dirty="0"/>
              <a:t>(</a:t>
            </a:r>
            <a:r>
              <a:rPr lang="ru-RU" sz="2800" i="1" dirty="0"/>
              <a:t>х</a:t>
            </a:r>
            <a:r>
              <a:rPr lang="ru-RU" sz="2800" dirty="0"/>
              <a:t>) — характеристическая функция, принимающая значение 1, если </a:t>
            </a:r>
            <a:r>
              <a:rPr lang="ru-RU" sz="2800" i="1" dirty="0"/>
              <a:t>x</a:t>
            </a:r>
            <a:r>
              <a:rPr lang="ru-RU" sz="2800" dirty="0"/>
              <a:t> удовлетворяет свойству </a:t>
            </a:r>
            <a:r>
              <a:rPr lang="ru-RU" sz="2800" i="1" dirty="0"/>
              <a:t>R</a:t>
            </a:r>
            <a:r>
              <a:rPr lang="ru-RU" sz="2800" dirty="0"/>
              <a:t>, и 0 — в противном случае.</a:t>
            </a:r>
          </a:p>
        </p:txBody>
      </p:sp>
      <p:sp>
        <p:nvSpPr>
          <p:cNvPr id="6" name="TextBox 5"/>
          <p:cNvSpPr txBox="1"/>
          <p:nvPr/>
        </p:nvSpPr>
        <p:spPr>
          <a:xfrm>
            <a:off x="62088" y="3848273"/>
            <a:ext cx="8974667" cy="2677656"/>
          </a:xfrm>
          <a:prstGeom prst="rect">
            <a:avLst/>
          </a:prstGeom>
          <a:noFill/>
        </p:spPr>
        <p:txBody>
          <a:bodyPr wrap="square" rtlCol="0">
            <a:spAutoFit/>
          </a:bodyPr>
          <a:lstStyle/>
          <a:p>
            <a:r>
              <a:rPr lang="ru-RU" sz="2800" dirty="0"/>
              <a:t>Нечеткое подмножество отличается тем, что элементы </a:t>
            </a:r>
            <a:r>
              <a:rPr lang="ru-RU" sz="2800" i="1" dirty="0"/>
              <a:t>x</a:t>
            </a:r>
            <a:r>
              <a:rPr lang="ru-RU" sz="2800" dirty="0"/>
              <a:t> из </a:t>
            </a:r>
            <a:r>
              <a:rPr lang="en-US" sz="2800" i="1" dirty="0"/>
              <a:t>U</a:t>
            </a:r>
            <a:r>
              <a:rPr lang="ru-RU" sz="2800" dirty="0"/>
              <a:t> не имеют однозначного значения истинности свойства </a:t>
            </a:r>
            <a:r>
              <a:rPr lang="ru-RU" sz="2800" i="1" dirty="0"/>
              <a:t>R</a:t>
            </a:r>
            <a:r>
              <a:rPr lang="ru-RU" sz="2800" dirty="0"/>
              <a:t>. В связи с этим используется нечеткая </a:t>
            </a:r>
            <a:r>
              <a:rPr lang="ru-RU" sz="2800" dirty="0" err="1"/>
              <a:t>харак-теристика</a:t>
            </a:r>
            <a:r>
              <a:rPr lang="ru-RU" sz="2800" dirty="0"/>
              <a:t> µ</a:t>
            </a:r>
            <a:r>
              <a:rPr lang="ru-RU" sz="2800" baseline="-25000" dirty="0"/>
              <a:t>A</a:t>
            </a:r>
            <a:r>
              <a:rPr lang="ru-RU" sz="2800" dirty="0"/>
              <a:t>(</a:t>
            </a:r>
            <a:r>
              <a:rPr lang="ru-RU" sz="2800" i="1" dirty="0"/>
              <a:t>х</a:t>
            </a:r>
            <a:r>
              <a:rPr lang="ru-RU" sz="2800" dirty="0"/>
              <a:t>)</a:t>
            </a:r>
            <a:r>
              <a:rPr lang="ru-RU" sz="2800" i="1" dirty="0"/>
              <a:t> </a:t>
            </a:r>
            <a:r>
              <a:rPr lang="ru-RU" sz="2800" dirty="0"/>
              <a:t>принадлежности (или просто </a:t>
            </a:r>
            <a:r>
              <a:rPr lang="ru-RU" sz="2800" b="1" dirty="0"/>
              <a:t>функция принадлежности</a:t>
            </a:r>
            <a:r>
              <a:rPr lang="ru-RU" sz="2800" dirty="0"/>
              <a:t>), принимающая значения в некотором упорядоченном множестве допустимых значений </a:t>
            </a:r>
            <a:r>
              <a:rPr lang="ru-RU" sz="2800" i="1" dirty="0"/>
              <a:t>M</a:t>
            </a:r>
            <a:r>
              <a:rPr lang="ru-RU" sz="2800" dirty="0"/>
              <a:t>(</a:t>
            </a:r>
            <a:r>
              <a:rPr lang="en-US" sz="2800" i="1" dirty="0"/>
              <a:t>x</a:t>
            </a:r>
            <a:r>
              <a:rPr lang="ru-RU" sz="2800" dirty="0"/>
              <a:t>). </a:t>
            </a:r>
          </a:p>
        </p:txBody>
      </p:sp>
    </p:spTree>
    <p:extLst>
      <p:ext uri="{BB962C8B-B14F-4D97-AF65-F5344CB8AC3E}">
        <p14:creationId xmlns:p14="http://schemas.microsoft.com/office/powerpoint/2010/main" val="395940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022" y="715617"/>
            <a:ext cx="9064978" cy="954107"/>
          </a:xfrm>
          <a:prstGeom prst="rect">
            <a:avLst/>
          </a:prstGeom>
          <a:noFill/>
        </p:spPr>
        <p:txBody>
          <a:bodyPr wrap="square" rtlCol="0">
            <a:spAutoFit/>
          </a:bodyPr>
          <a:lstStyle/>
          <a:p>
            <a:r>
              <a:rPr lang="ru-RU" sz="2800" dirty="0"/>
              <a:t>Множество </a:t>
            </a:r>
            <a:r>
              <a:rPr lang="ru-RU" sz="2800" i="1" dirty="0"/>
              <a:t>M</a:t>
            </a:r>
            <a:r>
              <a:rPr lang="ru-RU" sz="2800" dirty="0"/>
              <a:t> называют </a:t>
            </a:r>
            <a:r>
              <a:rPr lang="ru-RU" sz="2800" b="1" dirty="0"/>
              <a:t>множеством принадлежностей</a:t>
            </a:r>
            <a:r>
              <a:rPr lang="ru-RU" sz="2800" dirty="0"/>
              <a:t>. Если </a:t>
            </a:r>
            <a:r>
              <a:rPr lang="ru-RU" sz="2800" i="1" dirty="0"/>
              <a:t>M</a:t>
            </a:r>
            <a:r>
              <a:rPr lang="ru-RU" sz="2800" dirty="0"/>
              <a:t> = {0, 1}, то подмножество </a:t>
            </a:r>
            <a:r>
              <a:rPr lang="ru-RU" sz="2800" i="1" dirty="0"/>
              <a:t>A</a:t>
            </a:r>
            <a:r>
              <a:rPr lang="ru-RU" sz="2800" dirty="0"/>
              <a:t> четкое.</a:t>
            </a:r>
            <a:endParaRPr lang="ru-RU" dirty="0"/>
          </a:p>
        </p:txBody>
      </p:sp>
      <p:sp>
        <p:nvSpPr>
          <p:cNvPr id="4" name="TextBox 3"/>
          <p:cNvSpPr txBox="1"/>
          <p:nvPr/>
        </p:nvSpPr>
        <p:spPr>
          <a:xfrm>
            <a:off x="0" y="1830498"/>
            <a:ext cx="9144000" cy="2092881"/>
          </a:xfrm>
          <a:prstGeom prst="rect">
            <a:avLst/>
          </a:prstGeom>
          <a:noFill/>
        </p:spPr>
        <p:txBody>
          <a:bodyPr wrap="square" rtlCol="0">
            <a:spAutoFit/>
          </a:bodyPr>
          <a:lstStyle/>
          <a:p>
            <a:r>
              <a:rPr lang="ru-RU" sz="2800" dirty="0"/>
              <a:t>Функция принадлежности трактуется как степень уверен-</a:t>
            </a:r>
            <a:r>
              <a:rPr lang="ru-RU" sz="2800" dirty="0" err="1"/>
              <a:t>ности</a:t>
            </a:r>
            <a:r>
              <a:rPr lang="ru-RU" sz="2800" dirty="0"/>
              <a:t> эксперта в том, что данное конкретное значение базовой шкалы соответствует определяемому нечеткому множеству. </a:t>
            </a:r>
          </a:p>
          <a:p>
            <a:endParaRPr lang="ru-RU" dirty="0"/>
          </a:p>
        </p:txBody>
      </p:sp>
      <p:sp>
        <p:nvSpPr>
          <p:cNvPr id="5" name="TextBox 4"/>
          <p:cNvSpPr txBox="1"/>
          <p:nvPr/>
        </p:nvSpPr>
        <p:spPr>
          <a:xfrm>
            <a:off x="0" y="4284324"/>
            <a:ext cx="9144000" cy="1815882"/>
          </a:xfrm>
          <a:prstGeom prst="rect">
            <a:avLst/>
          </a:prstGeom>
          <a:noFill/>
        </p:spPr>
        <p:txBody>
          <a:bodyPr wrap="square" rtlCol="0">
            <a:spAutoFit/>
          </a:bodyPr>
          <a:lstStyle/>
          <a:p>
            <a:r>
              <a:rPr lang="ru-RU" sz="2800" dirty="0"/>
              <a:t>Пусть </a:t>
            </a:r>
            <a:r>
              <a:rPr lang="en-US" sz="2800" i="1" dirty="0"/>
              <a:t>U</a:t>
            </a:r>
            <a:r>
              <a:rPr lang="en-US" sz="2800" dirty="0"/>
              <a:t> </a:t>
            </a:r>
            <a:r>
              <a:rPr lang="ru-RU" sz="2800" dirty="0"/>
              <a:t>= {</a:t>
            </a:r>
            <a:r>
              <a:rPr lang="ru-RU" sz="2800" i="1" dirty="0"/>
              <a:t>x</a:t>
            </a:r>
            <a:r>
              <a:rPr lang="ru-RU" sz="2800" baseline="-25000" dirty="0"/>
              <a:t>1</a:t>
            </a:r>
            <a:r>
              <a:rPr lang="ru-RU" sz="2800" i="1" dirty="0"/>
              <a:t>, x</a:t>
            </a:r>
            <a:r>
              <a:rPr lang="ru-RU" sz="2800" baseline="-25000" dirty="0"/>
              <a:t>2</a:t>
            </a:r>
            <a:r>
              <a:rPr lang="ru-RU" sz="2800" i="1" dirty="0"/>
              <a:t>, x</a:t>
            </a:r>
            <a:r>
              <a:rPr lang="ru-RU" sz="2800" baseline="-25000" dirty="0"/>
              <a:t>3</a:t>
            </a:r>
            <a:r>
              <a:rPr lang="ru-RU" sz="2800" i="1" dirty="0"/>
              <a:t>, x</a:t>
            </a:r>
            <a:r>
              <a:rPr lang="ru-RU" sz="2800" baseline="-25000" dirty="0"/>
              <a:t>4</a:t>
            </a:r>
            <a:r>
              <a:rPr lang="ru-RU" sz="2800" i="1" dirty="0"/>
              <a:t>, x</a:t>
            </a:r>
            <a:r>
              <a:rPr lang="ru-RU" sz="2800" baseline="-25000" dirty="0"/>
              <a:t>5</a:t>
            </a:r>
            <a:r>
              <a:rPr lang="ru-RU" sz="2800" dirty="0"/>
              <a:t>}; </a:t>
            </a:r>
            <a:r>
              <a:rPr lang="ru-RU" sz="2800" i="1" dirty="0"/>
              <a:t>M </a:t>
            </a:r>
            <a:r>
              <a:rPr lang="ru-RU" sz="2800" dirty="0"/>
              <a:t> = [0; 1];  </a:t>
            </a:r>
            <a:r>
              <a:rPr lang="ru-RU" sz="2800" i="1" dirty="0"/>
              <a:t>A</a:t>
            </a:r>
            <a:r>
              <a:rPr lang="ru-RU" sz="2800" dirty="0"/>
              <a:t> — нечеткое множество, для которого µ</a:t>
            </a:r>
            <a:r>
              <a:rPr lang="en-US" sz="2800" i="1" baseline="-25000" dirty="0"/>
              <a:t>A</a:t>
            </a:r>
            <a:r>
              <a:rPr lang="ru-RU" sz="2800" dirty="0"/>
              <a:t>(</a:t>
            </a:r>
            <a:r>
              <a:rPr lang="en-US" sz="2800" i="1" dirty="0"/>
              <a:t>x</a:t>
            </a:r>
            <a:r>
              <a:rPr lang="ru-RU" sz="2800" baseline="-25000" dirty="0"/>
              <a:t>1</a:t>
            </a:r>
            <a:r>
              <a:rPr lang="ru-RU" sz="2800" dirty="0"/>
              <a:t>) = 0,3, µ</a:t>
            </a:r>
            <a:r>
              <a:rPr lang="en-US" sz="2800" i="1" baseline="-25000" dirty="0"/>
              <a:t>A</a:t>
            </a:r>
            <a:r>
              <a:rPr lang="ru-RU" sz="2800" dirty="0"/>
              <a:t>(</a:t>
            </a:r>
            <a:r>
              <a:rPr lang="en-US" sz="2800" i="1" dirty="0"/>
              <a:t>x</a:t>
            </a:r>
            <a:r>
              <a:rPr lang="ru-RU" sz="2800" baseline="-25000" dirty="0"/>
              <a:t>2</a:t>
            </a:r>
            <a:r>
              <a:rPr lang="ru-RU" sz="2800" dirty="0"/>
              <a:t>) = 0, µ</a:t>
            </a:r>
            <a:r>
              <a:rPr lang="en-US" sz="2800" i="1" baseline="-25000" dirty="0"/>
              <a:t>A</a:t>
            </a:r>
            <a:r>
              <a:rPr lang="ru-RU" sz="2800" dirty="0"/>
              <a:t>(</a:t>
            </a:r>
            <a:r>
              <a:rPr lang="en-US" sz="2800" i="1" dirty="0"/>
              <a:t>x</a:t>
            </a:r>
            <a:r>
              <a:rPr lang="ru-RU" sz="2800" baseline="-25000" dirty="0"/>
              <a:t>3</a:t>
            </a:r>
            <a:r>
              <a:rPr lang="ru-RU" sz="2800" dirty="0"/>
              <a:t>) = 1, µ</a:t>
            </a:r>
            <a:r>
              <a:rPr lang="en-US" sz="2800" i="1" baseline="-25000" dirty="0"/>
              <a:t>A</a:t>
            </a:r>
            <a:r>
              <a:rPr lang="ru-RU" sz="2800" dirty="0"/>
              <a:t>(</a:t>
            </a:r>
            <a:r>
              <a:rPr lang="en-US" sz="2800" i="1" dirty="0"/>
              <a:t>x</a:t>
            </a:r>
            <a:r>
              <a:rPr lang="ru-RU" sz="2800" baseline="-25000" dirty="0"/>
              <a:t>4</a:t>
            </a:r>
            <a:r>
              <a:rPr lang="ru-RU" sz="2800" dirty="0"/>
              <a:t>) = 0,5, µ</a:t>
            </a:r>
            <a:r>
              <a:rPr lang="en-US" sz="2800" i="1" baseline="-25000" dirty="0"/>
              <a:t>A</a:t>
            </a:r>
            <a:r>
              <a:rPr lang="ru-RU" sz="2800" dirty="0"/>
              <a:t>(</a:t>
            </a:r>
            <a:r>
              <a:rPr lang="en-US" sz="2800" i="1" dirty="0"/>
              <a:t>x</a:t>
            </a:r>
            <a:r>
              <a:rPr lang="ru-RU" sz="2800" baseline="-25000" dirty="0"/>
              <a:t>5</a:t>
            </a:r>
            <a:r>
              <a:rPr lang="ru-RU" sz="2800" dirty="0"/>
              <a:t>) = 0,9. Тогда </a:t>
            </a:r>
            <a:r>
              <a:rPr lang="ru-RU" sz="2800" i="1" dirty="0"/>
              <a:t>A</a:t>
            </a:r>
            <a:r>
              <a:rPr lang="ru-RU" sz="2800" dirty="0"/>
              <a:t> можно представить в виде </a:t>
            </a:r>
            <a:r>
              <a:rPr lang="ru-RU" sz="2800" i="1" dirty="0"/>
              <a:t>A</a:t>
            </a:r>
            <a:r>
              <a:rPr lang="ru-RU" sz="2800" dirty="0"/>
              <a:t> = {0,3/</a:t>
            </a:r>
            <a:r>
              <a:rPr lang="ru-RU" sz="2800" i="1" dirty="0"/>
              <a:t>x</a:t>
            </a:r>
            <a:r>
              <a:rPr lang="ru-RU" sz="2800" baseline="-25000" dirty="0"/>
              <a:t>1</a:t>
            </a:r>
            <a:r>
              <a:rPr lang="ru-RU" sz="2800" dirty="0"/>
              <a:t>, 0/</a:t>
            </a:r>
            <a:r>
              <a:rPr lang="ru-RU" sz="2800" i="1" dirty="0"/>
              <a:t>x</a:t>
            </a:r>
            <a:r>
              <a:rPr lang="ru-RU" sz="2800" baseline="-25000" dirty="0"/>
              <a:t>2</a:t>
            </a:r>
            <a:r>
              <a:rPr lang="ru-RU" sz="2800" dirty="0"/>
              <a:t>, 1/</a:t>
            </a:r>
            <a:r>
              <a:rPr lang="ru-RU" sz="2800" i="1" dirty="0"/>
              <a:t>x</a:t>
            </a:r>
            <a:r>
              <a:rPr lang="ru-RU" sz="2800" baseline="-25000" dirty="0"/>
              <a:t>3</a:t>
            </a:r>
            <a:r>
              <a:rPr lang="ru-RU" sz="2800" dirty="0"/>
              <a:t>, 0,5/</a:t>
            </a:r>
            <a:r>
              <a:rPr lang="ru-RU" sz="2800" i="1" dirty="0"/>
              <a:t>x</a:t>
            </a:r>
            <a:r>
              <a:rPr lang="ru-RU" sz="2800" baseline="-25000" dirty="0"/>
              <a:t>4 </a:t>
            </a:r>
            <a:r>
              <a:rPr lang="ru-RU" sz="2800" dirty="0"/>
              <a:t>, 0,9/</a:t>
            </a:r>
            <a:r>
              <a:rPr lang="ru-RU" sz="2800" i="1" dirty="0"/>
              <a:t>x</a:t>
            </a:r>
            <a:r>
              <a:rPr lang="ru-RU" sz="2800" baseline="-25000" dirty="0"/>
              <a:t>5</a:t>
            </a:r>
            <a:r>
              <a:rPr lang="ru-RU" sz="2800" dirty="0"/>
              <a:t>}. </a:t>
            </a:r>
          </a:p>
        </p:txBody>
      </p:sp>
    </p:spTree>
    <p:extLst>
      <p:ext uri="{BB962C8B-B14F-4D97-AF65-F5344CB8AC3E}">
        <p14:creationId xmlns:p14="http://schemas.microsoft.com/office/powerpoint/2010/main" val="265896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1919"/>
            <a:ext cx="9144000" cy="1815882"/>
          </a:xfrm>
          <a:prstGeom prst="rect">
            <a:avLst/>
          </a:prstGeom>
          <a:noFill/>
        </p:spPr>
        <p:txBody>
          <a:bodyPr wrap="square" rtlCol="0">
            <a:spAutoFit/>
          </a:bodyPr>
          <a:lstStyle/>
          <a:p>
            <a:r>
              <a:rPr lang="ru-RU" sz="2800" dirty="0"/>
              <a:t>Зададим нечеткое множество мужчин «среднего роста». Здесь </a:t>
            </a:r>
            <a:r>
              <a:rPr lang="en-US" sz="2800" i="1" dirty="0"/>
              <a:t>x</a:t>
            </a:r>
            <a:r>
              <a:rPr lang="en-US" sz="2800" i="1" baseline="-25000" dirty="0"/>
              <a:t>i</a:t>
            </a:r>
            <a:r>
              <a:rPr lang="ru-RU" sz="2800" dirty="0"/>
              <a:t> — рост мужчины в см. </a:t>
            </a:r>
          </a:p>
          <a:p>
            <a:r>
              <a:rPr lang="ru-RU" sz="2800" dirty="0"/>
              <a:t>Тогда </a:t>
            </a:r>
            <a:r>
              <a:rPr lang="ru-RU" sz="2800" i="1" dirty="0"/>
              <a:t>А</a:t>
            </a:r>
            <a:r>
              <a:rPr lang="ru-RU" sz="2800" dirty="0"/>
              <a:t> = {µ</a:t>
            </a:r>
            <a:r>
              <a:rPr lang="en-US" sz="2800" baseline="-25000" dirty="0" err="1"/>
              <a:t>i</a:t>
            </a:r>
            <a:r>
              <a:rPr lang="ru-RU" sz="2800" dirty="0"/>
              <a:t> /</a:t>
            </a:r>
            <a:r>
              <a:rPr lang="en-US" sz="2800" i="1" dirty="0" err="1"/>
              <a:t>R</a:t>
            </a:r>
            <a:r>
              <a:rPr lang="en-US" sz="2800" i="1" baseline="-25000" dirty="0" err="1"/>
              <a:t>i</a:t>
            </a:r>
            <a:r>
              <a:rPr lang="ru-RU" sz="2800" dirty="0"/>
              <a:t>} ~ {0/155, 0,1/160, 0,3/165, 0,8/170, 1/175, 1/180, 0,5/185, 0/190}.</a:t>
            </a:r>
          </a:p>
        </p:txBody>
      </p:sp>
      <p:sp>
        <p:nvSpPr>
          <p:cNvPr id="3" name="TextBox 2"/>
          <p:cNvSpPr txBox="1"/>
          <p:nvPr/>
        </p:nvSpPr>
        <p:spPr>
          <a:xfrm>
            <a:off x="174661" y="1887801"/>
            <a:ext cx="8887146" cy="523220"/>
          </a:xfrm>
          <a:prstGeom prst="rect">
            <a:avLst/>
          </a:prstGeom>
          <a:noFill/>
        </p:spPr>
        <p:txBody>
          <a:bodyPr wrap="square" rtlCol="0">
            <a:spAutoFit/>
          </a:bodyPr>
          <a:lstStyle/>
          <a:p>
            <a:pPr algn="ctr"/>
            <a:r>
              <a:rPr lang="ru-RU" sz="2800" b="1" dirty="0">
                <a:solidFill>
                  <a:srgbClr val="FF0000"/>
                </a:solidFill>
              </a:rPr>
              <a:t>Характеристики нечетких множеств </a:t>
            </a:r>
            <a:endParaRPr lang="ru-RU" sz="2800" dirty="0">
              <a:solidFill>
                <a:srgbClr val="FF0000"/>
              </a:solidFill>
            </a:endParaRPr>
          </a:p>
        </p:txBody>
      </p:sp>
      <p:sp>
        <p:nvSpPr>
          <p:cNvPr id="4" name="TextBox 3"/>
          <p:cNvSpPr txBox="1"/>
          <p:nvPr/>
        </p:nvSpPr>
        <p:spPr>
          <a:xfrm>
            <a:off x="102742" y="2315282"/>
            <a:ext cx="9041258" cy="1384995"/>
          </a:xfrm>
          <a:prstGeom prst="rect">
            <a:avLst/>
          </a:prstGeom>
          <a:noFill/>
        </p:spPr>
        <p:txBody>
          <a:bodyPr wrap="square" rtlCol="0">
            <a:spAutoFit/>
          </a:bodyPr>
          <a:lstStyle/>
          <a:p>
            <a:r>
              <a:rPr lang="ru-RU" sz="2800" dirty="0"/>
              <a:t>Пусть </a:t>
            </a:r>
            <a:r>
              <a:rPr lang="ru-RU" sz="2800" i="1" dirty="0"/>
              <a:t>A</a:t>
            </a:r>
            <a:r>
              <a:rPr lang="ru-RU" sz="2800" dirty="0"/>
              <a:t> — нечеткое множество с элементами из </a:t>
            </a:r>
            <a:r>
              <a:rPr lang="ru-RU" sz="2800" dirty="0" err="1"/>
              <a:t>универ</a:t>
            </a:r>
            <a:r>
              <a:rPr lang="ru-RU" sz="2800" dirty="0"/>
              <a:t>-сального множества </a:t>
            </a:r>
            <a:r>
              <a:rPr lang="en-US" sz="2800" i="1" dirty="0"/>
              <a:t>U</a:t>
            </a:r>
            <a:r>
              <a:rPr lang="ru-RU" sz="2800" dirty="0"/>
              <a:t> и множеством принадлежностей </a:t>
            </a:r>
            <a:r>
              <a:rPr lang="ru-RU" sz="2800" i="1" dirty="0"/>
              <a:t>M</a:t>
            </a:r>
            <a:r>
              <a:rPr lang="ru-RU" sz="2800" dirty="0"/>
              <a:t> = [0; 1].</a:t>
            </a:r>
          </a:p>
        </p:txBody>
      </p:sp>
      <p:sp>
        <p:nvSpPr>
          <p:cNvPr id="9" name="TextBox 8"/>
          <p:cNvSpPr txBox="1"/>
          <p:nvPr/>
        </p:nvSpPr>
        <p:spPr>
          <a:xfrm>
            <a:off x="236306" y="3700277"/>
            <a:ext cx="8887146" cy="1087480"/>
          </a:xfrm>
          <a:prstGeom prst="rect">
            <a:avLst/>
          </a:prstGeom>
          <a:noFill/>
        </p:spPr>
        <p:txBody>
          <a:bodyPr wrap="square" rtlCol="0">
            <a:spAutoFit/>
          </a:bodyPr>
          <a:lstStyle/>
          <a:p>
            <a:endParaRPr lang="ru-RU" dirty="0"/>
          </a:p>
        </p:txBody>
      </p:sp>
      <p:sp>
        <p:nvSpPr>
          <p:cNvPr id="13" name="TextBox 12"/>
          <p:cNvSpPr txBox="1"/>
          <p:nvPr/>
        </p:nvSpPr>
        <p:spPr>
          <a:xfrm>
            <a:off x="102742" y="3700277"/>
            <a:ext cx="9041258" cy="2523768"/>
          </a:xfrm>
          <a:prstGeom prst="rect">
            <a:avLst/>
          </a:prstGeom>
          <a:noFill/>
        </p:spPr>
        <p:txBody>
          <a:bodyPr wrap="square" rtlCol="0">
            <a:spAutoFit/>
          </a:bodyPr>
          <a:lstStyle/>
          <a:p>
            <a:r>
              <a:rPr lang="ru-RU" sz="2800" dirty="0"/>
              <a:t>Величина                      называется </a:t>
            </a:r>
            <a:r>
              <a:rPr lang="ru-RU" sz="2800" b="1" dirty="0"/>
              <a:t>высотой</a:t>
            </a:r>
            <a:r>
              <a:rPr lang="ru-RU" sz="2800" dirty="0"/>
              <a:t> нечеткого </a:t>
            </a:r>
            <a:r>
              <a:rPr lang="ru-RU" sz="2800" dirty="0" err="1"/>
              <a:t>мно-жества</a:t>
            </a:r>
            <a:r>
              <a:rPr lang="ru-RU" sz="2800" dirty="0"/>
              <a:t> </a:t>
            </a:r>
            <a:r>
              <a:rPr lang="ru-RU" sz="2800" i="1" dirty="0"/>
              <a:t>A</a:t>
            </a:r>
            <a:r>
              <a:rPr lang="ru-RU" sz="2800" dirty="0"/>
              <a:t>.            (Верхняя граница µ</a:t>
            </a:r>
            <a:r>
              <a:rPr lang="ru-RU" sz="2800" baseline="-25000" dirty="0"/>
              <a:t>A</a:t>
            </a:r>
            <a:r>
              <a:rPr lang="ru-RU" sz="2800" dirty="0"/>
              <a:t>(</a:t>
            </a:r>
            <a:r>
              <a:rPr lang="ru-RU" sz="2800" i="1" dirty="0" err="1"/>
              <a:t>x</a:t>
            </a:r>
            <a:r>
              <a:rPr lang="ru-RU" sz="2800"/>
              <a:t>)).</a:t>
            </a:r>
            <a:endParaRPr lang="ru-RU" sz="2800" dirty="0"/>
          </a:p>
          <a:p>
            <a:r>
              <a:rPr lang="ru-RU" sz="2800" dirty="0"/>
              <a:t>Множество </a:t>
            </a:r>
            <a:r>
              <a:rPr lang="ru-RU" sz="2800" i="1" dirty="0"/>
              <a:t>A</a:t>
            </a:r>
            <a:r>
              <a:rPr lang="ru-RU" sz="2800" dirty="0"/>
              <a:t> — </a:t>
            </a:r>
            <a:r>
              <a:rPr lang="ru-RU" sz="2800" b="1" dirty="0"/>
              <a:t>нормальное</a:t>
            </a:r>
            <a:r>
              <a:rPr lang="ru-RU" sz="2800" dirty="0"/>
              <a:t>, если его высота равна 1, или верхняя граница функции принадлежности равна 1 (µ</a:t>
            </a:r>
            <a:r>
              <a:rPr lang="ru-RU" sz="2800" baseline="-25000" dirty="0"/>
              <a:t>A</a:t>
            </a:r>
            <a:r>
              <a:rPr lang="ru-RU" sz="2800" dirty="0"/>
              <a:t>(</a:t>
            </a:r>
            <a:r>
              <a:rPr lang="ru-RU" sz="2800" i="1" dirty="0"/>
              <a:t>x</a:t>
            </a:r>
            <a:r>
              <a:rPr lang="ru-RU" sz="2800" dirty="0"/>
              <a:t>) = 1). </a:t>
            </a:r>
          </a:p>
          <a:p>
            <a:r>
              <a:rPr lang="ru-RU" dirty="0"/>
              <a:t> </a:t>
            </a:r>
          </a:p>
        </p:txBody>
      </p:sp>
      <p:sp>
        <p:nvSpPr>
          <p:cNvPr id="17" name="Rectangle 12"/>
          <p:cNvSpPr>
            <a:spLocks noChangeArrowheads="1"/>
          </p:cNvSpPr>
          <p:nvPr/>
        </p:nvSpPr>
        <p:spPr bwMode="auto">
          <a:xfrm>
            <a:off x="3544584" y="144405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8" name="Объект 17"/>
          <p:cNvGraphicFramePr>
            <a:graphicFrameLocks noChangeAspect="1"/>
          </p:cNvGraphicFramePr>
          <p:nvPr>
            <p:extLst>
              <p:ext uri="{D42A27DB-BD31-4B8C-83A1-F6EECF244321}">
                <p14:modId xmlns:p14="http://schemas.microsoft.com/office/powerpoint/2010/main" val="424102193"/>
              </p:ext>
            </p:extLst>
          </p:nvPr>
        </p:nvGraphicFramePr>
        <p:xfrm>
          <a:off x="1789043" y="3657599"/>
          <a:ext cx="1669774" cy="768627"/>
        </p:xfrm>
        <a:graphic>
          <a:graphicData uri="http://schemas.openxmlformats.org/presentationml/2006/ole">
            <mc:AlternateContent xmlns:mc="http://schemas.openxmlformats.org/markup-compatibility/2006">
              <mc:Choice xmlns:v="urn:schemas-microsoft-com:vml" Requires="v">
                <p:oleObj r:id="rId2" imgW="583947" imgH="304668" progId="">
                  <p:embed/>
                </p:oleObj>
              </mc:Choice>
              <mc:Fallback>
                <p:oleObj r:id="rId2" imgW="583947" imgH="304668" progId="">
                  <p:embed/>
                  <p:pic>
                    <p:nvPicPr>
                      <p:cNvPr id="0"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043" y="3657599"/>
                        <a:ext cx="1669774" cy="7686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Box 18"/>
          <p:cNvSpPr txBox="1"/>
          <p:nvPr/>
        </p:nvSpPr>
        <p:spPr>
          <a:xfrm>
            <a:off x="102742" y="5969285"/>
            <a:ext cx="9020710" cy="954107"/>
          </a:xfrm>
          <a:prstGeom prst="rect">
            <a:avLst/>
          </a:prstGeom>
          <a:noFill/>
        </p:spPr>
        <p:txBody>
          <a:bodyPr wrap="square" rtlCol="0">
            <a:spAutoFit/>
          </a:bodyPr>
          <a:lstStyle/>
          <a:p>
            <a:pPr hangingPunct="0"/>
            <a:r>
              <a:rPr lang="ru-RU" sz="2800" dirty="0"/>
              <a:t>При µ</a:t>
            </a:r>
            <a:r>
              <a:rPr lang="ru-RU" sz="2800" baseline="-25000" dirty="0"/>
              <a:t>A</a:t>
            </a:r>
            <a:r>
              <a:rPr lang="ru-RU" sz="2800" dirty="0"/>
              <a:t>(</a:t>
            </a:r>
            <a:r>
              <a:rPr lang="ru-RU" sz="2800" i="1" dirty="0"/>
              <a:t>x</a:t>
            </a:r>
            <a:r>
              <a:rPr lang="ru-RU" sz="2800" dirty="0"/>
              <a:t>) &lt; 1 нечеткое множество </a:t>
            </a:r>
            <a:r>
              <a:rPr lang="ru-RU" sz="2800" b="1" dirty="0"/>
              <a:t>субнормальное</a:t>
            </a:r>
            <a:r>
              <a:rPr lang="ru-RU" sz="2800" dirty="0"/>
              <a:t>.</a:t>
            </a:r>
          </a:p>
          <a:p>
            <a:pPr hangingPunct="0"/>
            <a:r>
              <a:rPr lang="ru-RU" sz="2800" dirty="0"/>
              <a:t>Нечеткое множество </a:t>
            </a:r>
            <a:r>
              <a:rPr lang="ru-RU" sz="2800" b="1" dirty="0"/>
              <a:t>пусто</a:t>
            </a:r>
            <a:r>
              <a:rPr lang="ru-RU" sz="2800" dirty="0"/>
              <a:t>, если µ</a:t>
            </a:r>
            <a:r>
              <a:rPr lang="ru-RU" sz="2800" baseline="-25000" dirty="0"/>
              <a:t>A</a:t>
            </a:r>
            <a:r>
              <a:rPr lang="ru-RU" sz="2800" dirty="0"/>
              <a:t>(</a:t>
            </a:r>
            <a:r>
              <a:rPr lang="ru-RU" sz="2800" i="1" dirty="0"/>
              <a:t>x</a:t>
            </a:r>
            <a:r>
              <a:rPr lang="ru-RU" sz="2800" dirty="0"/>
              <a:t>) = 0. </a:t>
            </a:r>
          </a:p>
        </p:txBody>
      </p:sp>
    </p:spTree>
    <p:extLst>
      <p:ext uri="{BB962C8B-B14F-4D97-AF65-F5344CB8AC3E}">
        <p14:creationId xmlns:p14="http://schemas.microsoft.com/office/powerpoint/2010/main" val="337916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000"/>
                                        <p:tgtEl>
                                          <p:spTgt spid="19"/>
                                        </p:tgtEl>
                                      </p:cBhvr>
                                    </p:animEffect>
                                    <p:anim calcmode="lin" valueType="num">
                                      <p:cBhvr>
                                        <p:cTn id="34" dur="1000" fill="hold"/>
                                        <p:tgtEl>
                                          <p:spTgt spid="19"/>
                                        </p:tgtEl>
                                        <p:attrNameLst>
                                          <p:attrName>ppt_x</p:attrName>
                                        </p:attrNameLst>
                                      </p:cBhvr>
                                      <p:tavLst>
                                        <p:tav tm="0">
                                          <p:val>
                                            <p:strVal val="#ppt_x"/>
                                          </p:val>
                                        </p:tav>
                                        <p:tav tm="100000">
                                          <p:val>
                                            <p:strVal val="#ppt_x"/>
                                          </p:val>
                                        </p:tav>
                                      </p:tavLst>
                                    </p:anim>
                                    <p:anim calcmode="lin" valueType="num">
                                      <p:cBhvr>
                                        <p:cTn id="3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467" y="36602"/>
            <a:ext cx="9051533" cy="954107"/>
          </a:xfrm>
          <a:prstGeom prst="rect">
            <a:avLst/>
          </a:prstGeom>
          <a:noFill/>
        </p:spPr>
        <p:txBody>
          <a:bodyPr wrap="square" rtlCol="0">
            <a:spAutoFit/>
          </a:bodyPr>
          <a:lstStyle/>
          <a:p>
            <a:r>
              <a:rPr lang="ru-RU" sz="2800" dirty="0"/>
              <a:t>Непустое субнормальное множество можно нормали-</a:t>
            </a:r>
            <a:r>
              <a:rPr lang="ru-RU" sz="2800" dirty="0" err="1"/>
              <a:t>зовать</a:t>
            </a:r>
            <a:r>
              <a:rPr lang="ru-RU" sz="2800" dirty="0"/>
              <a:t> по формуле</a:t>
            </a:r>
          </a:p>
        </p:txBody>
      </p:sp>
      <p:sp>
        <p:nvSpPr>
          <p:cNvPr id="3" name="Rectangle 2"/>
          <p:cNvSpPr>
            <a:spLocks noChangeArrowheads="1"/>
          </p:cNvSpPr>
          <p:nvPr/>
        </p:nvSpPr>
        <p:spPr bwMode="auto">
          <a:xfrm>
            <a:off x="410966" y="70891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4" name="Объект 3"/>
          <p:cNvGraphicFramePr>
            <a:graphicFrameLocks noChangeAspect="1"/>
          </p:cNvGraphicFramePr>
          <p:nvPr>
            <p:extLst>
              <p:ext uri="{D42A27DB-BD31-4B8C-83A1-F6EECF244321}">
                <p14:modId xmlns:p14="http://schemas.microsoft.com/office/powerpoint/2010/main" val="1921399019"/>
              </p:ext>
            </p:extLst>
          </p:nvPr>
        </p:nvGraphicFramePr>
        <p:xfrm>
          <a:off x="3213014" y="559088"/>
          <a:ext cx="2717972" cy="936444"/>
        </p:xfrm>
        <a:graphic>
          <a:graphicData uri="http://schemas.openxmlformats.org/presentationml/2006/ole">
            <mc:AlternateContent xmlns:mc="http://schemas.openxmlformats.org/markup-compatibility/2006">
              <mc:Choice xmlns:v="urn:schemas-microsoft-com:vml" Requires="v">
                <p:oleObj r:id="rId2" imgW="1129810" imgH="393529" progId="">
                  <p:embed/>
                </p:oleObj>
              </mc:Choice>
              <mc:Fallback>
                <p:oleObj r:id="rId2" imgW="1129810" imgH="393529"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3014" y="559088"/>
                        <a:ext cx="2717972" cy="936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92466" y="1470595"/>
            <a:ext cx="9051533" cy="954107"/>
          </a:xfrm>
          <a:prstGeom prst="rect">
            <a:avLst/>
          </a:prstGeom>
          <a:noFill/>
        </p:spPr>
        <p:txBody>
          <a:bodyPr wrap="square" rtlCol="0">
            <a:spAutoFit/>
          </a:bodyPr>
          <a:lstStyle/>
          <a:p>
            <a:pPr hangingPunct="0"/>
            <a:r>
              <a:rPr lang="ru-RU" sz="2800" dirty="0"/>
              <a:t>Нечеткое множество </a:t>
            </a:r>
            <a:r>
              <a:rPr lang="ru-RU" sz="2800" b="1" dirty="0" err="1"/>
              <a:t>унимодально</a:t>
            </a:r>
            <a:r>
              <a:rPr lang="ru-RU" sz="2800" dirty="0"/>
              <a:t>, если µ</a:t>
            </a:r>
            <a:r>
              <a:rPr lang="ru-RU" sz="2800" baseline="-25000" dirty="0"/>
              <a:t>A</a:t>
            </a:r>
            <a:r>
              <a:rPr lang="ru-RU" sz="2800" dirty="0"/>
              <a:t>(</a:t>
            </a:r>
            <a:r>
              <a:rPr lang="ru-RU" sz="2800" i="1" dirty="0"/>
              <a:t>x</a:t>
            </a:r>
            <a:r>
              <a:rPr lang="ru-RU" sz="2800" dirty="0"/>
              <a:t>) = 1 только на одном </a:t>
            </a:r>
            <a:r>
              <a:rPr lang="ru-RU" sz="2800" b="1" i="1" dirty="0"/>
              <a:t>x </a:t>
            </a:r>
            <a:r>
              <a:rPr lang="ru-RU" sz="2800" dirty="0">
                <a:sym typeface="Symbol" panose="05050102010706020507" pitchFamily="18" charset="2"/>
              </a:rPr>
              <a:t></a:t>
            </a:r>
            <a:r>
              <a:rPr lang="ru-RU" sz="2800" dirty="0"/>
              <a:t> </a:t>
            </a:r>
            <a:r>
              <a:rPr lang="en-US" sz="2800" i="1" dirty="0"/>
              <a:t>U</a:t>
            </a:r>
            <a:r>
              <a:rPr lang="ru-RU" sz="2800" i="1" dirty="0"/>
              <a:t>.</a:t>
            </a:r>
            <a:endParaRPr lang="ru-RU" sz="2800" dirty="0"/>
          </a:p>
        </p:txBody>
      </p:sp>
      <p:sp>
        <p:nvSpPr>
          <p:cNvPr id="6" name="TextBox 5"/>
          <p:cNvSpPr txBox="1"/>
          <p:nvPr/>
        </p:nvSpPr>
        <p:spPr>
          <a:xfrm>
            <a:off x="92467" y="2278438"/>
            <a:ext cx="8979614" cy="1815882"/>
          </a:xfrm>
          <a:prstGeom prst="rect">
            <a:avLst/>
          </a:prstGeom>
          <a:noFill/>
        </p:spPr>
        <p:txBody>
          <a:bodyPr wrap="square" rtlCol="0">
            <a:spAutoFit/>
          </a:bodyPr>
          <a:lstStyle/>
          <a:p>
            <a:r>
              <a:rPr lang="ru-RU" sz="2800" dirty="0"/>
              <a:t>Существует свыше десятка типовых форм кривых для задания функций принадлежности µ</a:t>
            </a:r>
            <a:r>
              <a:rPr lang="ru-RU" sz="2800" baseline="-25000" dirty="0"/>
              <a:t>A</a:t>
            </a:r>
            <a:r>
              <a:rPr lang="ru-RU" sz="2800" dirty="0"/>
              <a:t>(</a:t>
            </a:r>
            <a:r>
              <a:rPr lang="ru-RU" sz="2800" i="1" dirty="0"/>
              <a:t>х</a:t>
            </a:r>
            <a:r>
              <a:rPr lang="ru-RU" sz="2800" dirty="0"/>
              <a:t>). Наибольшее распространение получили треугольная, </a:t>
            </a:r>
            <a:r>
              <a:rPr lang="ru-RU" sz="2800" dirty="0" err="1"/>
              <a:t>трапецеидаль-ная</a:t>
            </a:r>
            <a:r>
              <a:rPr lang="ru-RU" sz="2800" dirty="0"/>
              <a:t> и гауссова функции принадлежности.</a:t>
            </a:r>
          </a:p>
        </p:txBody>
      </p:sp>
      <p:sp>
        <p:nvSpPr>
          <p:cNvPr id="7" name="TextBox 6"/>
          <p:cNvSpPr txBox="1"/>
          <p:nvPr/>
        </p:nvSpPr>
        <p:spPr>
          <a:xfrm>
            <a:off x="82193" y="3895296"/>
            <a:ext cx="8979614" cy="1384995"/>
          </a:xfrm>
          <a:prstGeom prst="rect">
            <a:avLst/>
          </a:prstGeom>
          <a:noFill/>
        </p:spPr>
        <p:txBody>
          <a:bodyPr wrap="square" rtlCol="0">
            <a:spAutoFit/>
          </a:bodyPr>
          <a:lstStyle/>
          <a:p>
            <a:r>
              <a:rPr lang="ru-RU" sz="2800" dirty="0"/>
              <a:t>Треугольная функция принадлежности определяется тройкой чисел (</a:t>
            </a:r>
            <a:r>
              <a:rPr lang="ru-RU" sz="2800" i="1" dirty="0"/>
              <a:t>a, b, c</a:t>
            </a:r>
            <a:r>
              <a:rPr lang="ru-RU" sz="2800" dirty="0"/>
              <a:t>), и ее значение в точке </a:t>
            </a:r>
            <a:r>
              <a:rPr lang="ru-RU" sz="2800" i="1" dirty="0"/>
              <a:t>x</a:t>
            </a:r>
            <a:r>
              <a:rPr lang="ru-RU" sz="2800" dirty="0"/>
              <a:t> </a:t>
            </a:r>
            <a:r>
              <a:rPr lang="ru-RU" sz="2800" dirty="0" err="1"/>
              <a:t>вычисля-ется</a:t>
            </a:r>
            <a:r>
              <a:rPr lang="ru-RU" sz="2800" dirty="0"/>
              <a:t> согласно выражению</a:t>
            </a:r>
          </a:p>
        </p:txBody>
      </p:sp>
      <p:sp>
        <p:nvSpPr>
          <p:cNvPr id="8"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9" name="Объект 8"/>
          <p:cNvGraphicFramePr>
            <a:graphicFrameLocks noChangeAspect="1"/>
          </p:cNvGraphicFramePr>
          <p:nvPr>
            <p:extLst>
              <p:ext uri="{D42A27DB-BD31-4B8C-83A1-F6EECF244321}">
                <p14:modId xmlns:p14="http://schemas.microsoft.com/office/powerpoint/2010/main" val="254627696"/>
              </p:ext>
            </p:extLst>
          </p:nvPr>
        </p:nvGraphicFramePr>
        <p:xfrm>
          <a:off x="3852809" y="4843790"/>
          <a:ext cx="3452117" cy="1981392"/>
        </p:xfrm>
        <a:graphic>
          <a:graphicData uri="http://schemas.openxmlformats.org/presentationml/2006/ole">
            <mc:AlternateContent xmlns:mc="http://schemas.openxmlformats.org/markup-compatibility/2006">
              <mc:Choice xmlns:v="urn:schemas-microsoft-com:vml" Requires="v">
                <p:oleObj r:id="rId4" imgW="1625600" imgH="927100" progId="">
                  <p:embed/>
                </p:oleObj>
              </mc:Choice>
              <mc:Fallback>
                <p:oleObj r:id="rId4" imgW="1625600" imgH="927100" progId="">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2809" y="4843790"/>
                        <a:ext cx="3452117" cy="1981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6033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r>
              <a:rPr lang="ru-RU" sz="2800" dirty="0"/>
              <a:t>При </a:t>
            </a:r>
            <a:r>
              <a:rPr lang="ru-RU" sz="2800" i="1" dirty="0"/>
              <a:t>b</a:t>
            </a:r>
            <a:r>
              <a:rPr lang="ru-RU" sz="2800" dirty="0"/>
              <a:t> – </a:t>
            </a:r>
            <a:r>
              <a:rPr lang="ru-RU" sz="2800" i="1" dirty="0"/>
              <a:t>a</a:t>
            </a:r>
            <a:r>
              <a:rPr lang="ru-RU" sz="2800" dirty="0"/>
              <a:t> = </a:t>
            </a:r>
            <a:r>
              <a:rPr lang="ru-RU" sz="2800" i="1" dirty="0"/>
              <a:t>c – b</a:t>
            </a:r>
            <a:r>
              <a:rPr lang="ru-RU" sz="2800" dirty="0"/>
              <a:t> имеем случай симметричной треугольной функции принадлежности, которая может быть </a:t>
            </a:r>
            <a:r>
              <a:rPr lang="ru-RU" sz="2800" dirty="0" err="1"/>
              <a:t>однознач</a:t>
            </a:r>
            <a:r>
              <a:rPr lang="ru-RU" sz="2800" dirty="0"/>
              <a:t>-но задана двумя параметрами из тройки (</a:t>
            </a:r>
            <a:r>
              <a:rPr lang="ru-RU" sz="2800" i="1" dirty="0"/>
              <a:t>a, b, c</a:t>
            </a:r>
            <a:r>
              <a:rPr lang="ru-RU" sz="2800" dirty="0"/>
              <a:t>).</a:t>
            </a:r>
          </a:p>
        </p:txBody>
      </p:sp>
      <p:sp>
        <p:nvSpPr>
          <p:cNvPr id="4" name="Rectangle 2"/>
          <p:cNvSpPr>
            <a:spLocks noChangeArrowheads="1"/>
          </p:cNvSpPr>
          <p:nvPr/>
        </p:nvSpPr>
        <p:spPr bwMode="auto">
          <a:xfrm>
            <a:off x="-399194" y="1282254"/>
            <a:ext cx="9216562"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45720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Аналогично для задания трапецеидальной функции </a:t>
            </a:r>
          </a:p>
          <a:p>
            <a:pPr marL="0" marR="0" lvl="0" indent="45720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принадлежности необходима четверка чисел (</a:t>
            </a:r>
            <a:r>
              <a:rPr kumimoji="0" lang="ru-RU" altLang="ru-RU" sz="2800" b="0" i="1" u="none" strike="noStrike" cap="none" normalizeH="0" baseline="0" dirty="0">
                <a:ln>
                  <a:noFill/>
                </a:ln>
                <a:solidFill>
                  <a:schemeClr val="tx1"/>
                </a:solidFill>
                <a:effectLst/>
                <a:ea typeface="Times New Roman" panose="02020603050405020304" pitchFamily="18" charset="0"/>
              </a:rPr>
              <a:t>a, b, c, d</a:t>
            </a:r>
            <a:r>
              <a:rPr kumimoji="0" lang="ru-RU" altLang="ru-RU" sz="2800" b="0" i="0" u="none" strike="noStrike" cap="none" normalizeH="0" baseline="0" dirty="0">
                <a:ln>
                  <a:noFill/>
                </a:ln>
                <a:solidFill>
                  <a:schemeClr val="tx1"/>
                </a:solidFill>
                <a:effectLst/>
                <a:ea typeface="Times New Roman" panose="02020603050405020304" pitchFamily="18" charset="0"/>
              </a:rPr>
              <a:t>):</a:t>
            </a:r>
            <a:endParaRPr kumimoji="0" lang="ru-RU" altLang="ru-RU" sz="28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Объект 4"/>
          <p:cNvGraphicFramePr>
            <a:graphicFrameLocks noChangeAspect="1"/>
          </p:cNvGraphicFramePr>
          <p:nvPr>
            <p:extLst>
              <p:ext uri="{D42A27DB-BD31-4B8C-83A1-F6EECF244321}">
                <p14:modId xmlns:p14="http://schemas.microsoft.com/office/powerpoint/2010/main" val="2893584632"/>
              </p:ext>
            </p:extLst>
          </p:nvPr>
        </p:nvGraphicFramePr>
        <p:xfrm>
          <a:off x="2568538" y="2169174"/>
          <a:ext cx="3272516" cy="2304317"/>
        </p:xfrm>
        <a:graphic>
          <a:graphicData uri="http://schemas.openxmlformats.org/presentationml/2006/ole">
            <mc:AlternateContent xmlns:mc="http://schemas.openxmlformats.org/markup-compatibility/2006">
              <mc:Choice xmlns:v="urn:schemas-microsoft-com:vml" Requires="v">
                <p:oleObj r:id="rId2" imgW="1625600" imgH="1130300" progId="">
                  <p:embed/>
                </p:oleObj>
              </mc:Choice>
              <mc:Fallback>
                <p:oleObj r:id="rId2" imgW="1625600" imgH="1130300"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8538" y="2169174"/>
                        <a:ext cx="3272516" cy="2304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35959" y="4364067"/>
            <a:ext cx="9072081" cy="954107"/>
          </a:xfrm>
          <a:prstGeom prst="rect">
            <a:avLst/>
          </a:prstGeom>
          <a:noFill/>
        </p:spPr>
        <p:txBody>
          <a:bodyPr wrap="square" rtlCol="0">
            <a:spAutoFit/>
          </a:bodyPr>
          <a:lstStyle/>
          <a:p>
            <a:r>
              <a:rPr lang="ru-RU" sz="2800" dirty="0"/>
              <a:t>При </a:t>
            </a:r>
            <a:r>
              <a:rPr lang="ru-RU" sz="2800" i="1" dirty="0"/>
              <a:t>b – a</a:t>
            </a:r>
            <a:r>
              <a:rPr lang="ru-RU" sz="2800" dirty="0"/>
              <a:t> = </a:t>
            </a:r>
            <a:r>
              <a:rPr lang="ru-RU" sz="2800" i="1" dirty="0"/>
              <a:t>d – c</a:t>
            </a:r>
            <a:r>
              <a:rPr lang="ru-RU" sz="2800" dirty="0"/>
              <a:t> трапецеидальная функция </a:t>
            </a:r>
            <a:r>
              <a:rPr lang="ru-RU" sz="2800" dirty="0" err="1"/>
              <a:t>принадлеж-ности</a:t>
            </a:r>
            <a:r>
              <a:rPr lang="ru-RU" sz="2800" dirty="0"/>
              <a:t> принимает симметричный вид.</a:t>
            </a:r>
          </a:p>
        </p:txBody>
      </p:sp>
      <p:sp>
        <p:nvSpPr>
          <p:cNvPr id="7" name="TextBox 6"/>
          <p:cNvSpPr txBox="1"/>
          <p:nvPr/>
        </p:nvSpPr>
        <p:spPr>
          <a:xfrm>
            <a:off x="0" y="5188692"/>
            <a:ext cx="9041258" cy="954107"/>
          </a:xfrm>
          <a:prstGeom prst="rect">
            <a:avLst/>
          </a:prstGeom>
          <a:noFill/>
        </p:spPr>
        <p:txBody>
          <a:bodyPr wrap="square" rtlCol="0">
            <a:spAutoFit/>
          </a:bodyPr>
          <a:lstStyle/>
          <a:p>
            <a:r>
              <a:rPr lang="ru-RU" sz="2800" dirty="0"/>
              <a:t>Функция принадлежности гауссова типа описывается формулой</a:t>
            </a:r>
          </a:p>
        </p:txBody>
      </p:sp>
      <p:sp>
        <p:nvSpPr>
          <p:cNvPr id="8"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9" name="Объект 8"/>
          <p:cNvGraphicFramePr>
            <a:graphicFrameLocks noChangeAspect="1"/>
          </p:cNvGraphicFramePr>
          <p:nvPr>
            <p:extLst>
              <p:ext uri="{D42A27DB-BD31-4B8C-83A1-F6EECF244321}">
                <p14:modId xmlns:p14="http://schemas.microsoft.com/office/powerpoint/2010/main" val="4094924513"/>
              </p:ext>
            </p:extLst>
          </p:nvPr>
        </p:nvGraphicFramePr>
        <p:xfrm>
          <a:off x="2732926" y="5704394"/>
          <a:ext cx="3104250" cy="1153606"/>
        </p:xfrm>
        <a:graphic>
          <a:graphicData uri="http://schemas.openxmlformats.org/presentationml/2006/ole">
            <mc:AlternateContent xmlns:mc="http://schemas.openxmlformats.org/markup-compatibility/2006">
              <mc:Choice xmlns:v="urn:schemas-microsoft-com:vml" Requires="v">
                <p:oleObj r:id="rId4" imgW="1409088" imgH="520474" progId="">
                  <p:embed/>
                </p:oleObj>
              </mc:Choice>
              <mc:Fallback>
                <p:oleObj r:id="rId4" imgW="1409088" imgH="520474" progId="">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2926" y="5704394"/>
                        <a:ext cx="3104250" cy="1153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6068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292" y="0"/>
            <a:ext cx="9051533" cy="1384995"/>
          </a:xfrm>
          <a:prstGeom prst="rect">
            <a:avLst/>
          </a:prstGeom>
          <a:noFill/>
        </p:spPr>
        <p:txBody>
          <a:bodyPr wrap="square" rtlCol="0">
            <a:spAutoFit/>
          </a:bodyPr>
          <a:lstStyle/>
          <a:p>
            <a:r>
              <a:rPr lang="ru-RU" sz="2800" dirty="0"/>
              <a:t>и зависит от двух параметров: </a:t>
            </a:r>
            <a:r>
              <a:rPr lang="ru-RU" sz="2800" b="1" i="1" dirty="0"/>
              <a:t>c</a:t>
            </a:r>
            <a:r>
              <a:rPr lang="ru-RU" sz="2800" dirty="0"/>
              <a:t> обозначает центр нечет-кого множества, параметр </a:t>
            </a:r>
            <a:r>
              <a:rPr lang="ru-RU" sz="2800" dirty="0">
                <a:sym typeface="Symbol" panose="05050102010706020507" pitchFamily="18" charset="2"/>
              </a:rPr>
              <a:t></a:t>
            </a:r>
            <a:r>
              <a:rPr lang="ru-RU" sz="2800" dirty="0"/>
              <a:t> отвечает за крутизну </a:t>
            </a:r>
            <a:r>
              <a:rPr lang="ru-RU" sz="2800" dirty="0" err="1"/>
              <a:t>функ-ции</a:t>
            </a:r>
            <a:r>
              <a:rPr lang="ru-RU" sz="2800" dirty="0"/>
              <a:t>. </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33672" t="13390" r="13095" b="51282"/>
          <a:stretch>
            <a:fillRect/>
          </a:stretch>
        </p:blipFill>
        <p:spPr bwMode="auto">
          <a:xfrm>
            <a:off x="1222624" y="978313"/>
            <a:ext cx="7777537" cy="293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l="59120" t="32475" r="13971" b="31393"/>
          <a:stretch>
            <a:fillRect/>
          </a:stretch>
        </p:blipFill>
        <p:spPr bwMode="auto">
          <a:xfrm>
            <a:off x="5077684" y="4327368"/>
            <a:ext cx="3922478" cy="2530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311917" y="3804149"/>
            <a:ext cx="7832083" cy="523220"/>
          </a:xfrm>
          <a:prstGeom prst="rect">
            <a:avLst/>
          </a:prstGeom>
          <a:noFill/>
        </p:spPr>
        <p:txBody>
          <a:bodyPr wrap="square" rtlCol="0">
            <a:spAutoFit/>
          </a:bodyPr>
          <a:lstStyle/>
          <a:p>
            <a:r>
              <a:rPr lang="ru-RU" sz="2800" dirty="0"/>
              <a:t>          треугольная                      трапецеидальная</a:t>
            </a:r>
          </a:p>
        </p:txBody>
      </p:sp>
      <p:sp>
        <p:nvSpPr>
          <p:cNvPr id="4" name="TextBox 3"/>
          <p:cNvSpPr txBox="1"/>
          <p:nvPr/>
        </p:nvSpPr>
        <p:spPr>
          <a:xfrm>
            <a:off x="1941816" y="5379397"/>
            <a:ext cx="2965056" cy="954107"/>
          </a:xfrm>
          <a:prstGeom prst="rect">
            <a:avLst/>
          </a:prstGeom>
          <a:noFill/>
        </p:spPr>
        <p:txBody>
          <a:bodyPr wrap="square" rtlCol="0">
            <a:spAutoFit/>
          </a:bodyPr>
          <a:lstStyle/>
          <a:p>
            <a:r>
              <a:rPr lang="ru-RU" sz="2800" dirty="0"/>
              <a:t>гауссова функции принадлежности</a:t>
            </a:r>
          </a:p>
        </p:txBody>
      </p:sp>
    </p:spTree>
    <p:extLst>
      <p:ext uri="{BB962C8B-B14F-4D97-AF65-F5344CB8AC3E}">
        <p14:creationId xmlns:p14="http://schemas.microsoft.com/office/powerpoint/2010/main" val="285801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099"/>
                                        </p:tgtEl>
                                        <p:attrNameLst>
                                          <p:attrName>style.visibility</p:attrName>
                                        </p:attrNameLst>
                                      </p:cBhvr>
                                      <p:to>
                                        <p:strVal val="visible"/>
                                      </p:to>
                                    </p:set>
                                    <p:animEffect transition="in" filter="fade">
                                      <p:cBhvr>
                                        <p:cTn id="19" dur="1000"/>
                                        <p:tgtEl>
                                          <p:spTgt spid="4099"/>
                                        </p:tgtEl>
                                      </p:cBhvr>
                                    </p:animEffect>
                                    <p:anim calcmode="lin" valueType="num">
                                      <p:cBhvr>
                                        <p:cTn id="20" dur="1000" fill="hold"/>
                                        <p:tgtEl>
                                          <p:spTgt spid="4099"/>
                                        </p:tgtEl>
                                        <p:attrNameLst>
                                          <p:attrName>ppt_x</p:attrName>
                                        </p:attrNameLst>
                                      </p:cBhvr>
                                      <p:tavLst>
                                        <p:tav tm="0">
                                          <p:val>
                                            <p:strVal val="#ppt_x"/>
                                          </p:val>
                                        </p:tav>
                                        <p:tav tm="100000">
                                          <p:val>
                                            <p:strVal val="#ppt_x"/>
                                          </p:val>
                                        </p:tav>
                                      </p:tavLst>
                                    </p:anim>
                                    <p:anim calcmode="lin" valueType="num">
                                      <p:cBhvr>
                                        <p:cTn id="21" dur="1000" fill="hold"/>
                                        <p:tgtEl>
                                          <p:spTgt spid="409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523220"/>
          </a:xfrm>
          <a:prstGeom prst="rect">
            <a:avLst/>
          </a:prstGeom>
          <a:noFill/>
        </p:spPr>
        <p:txBody>
          <a:bodyPr wrap="square" rtlCol="0">
            <a:spAutoFit/>
          </a:bodyPr>
          <a:lstStyle/>
          <a:p>
            <a:pPr algn="ctr"/>
            <a:r>
              <a:rPr lang="ru-RU" sz="2800" b="1" dirty="0">
                <a:solidFill>
                  <a:srgbClr val="FF0000"/>
                </a:solidFill>
              </a:rPr>
              <a:t>Сравнение нечетких множеств</a:t>
            </a:r>
            <a:endParaRPr lang="ru-RU" sz="2800" dirty="0">
              <a:solidFill>
                <a:srgbClr val="FF0000"/>
              </a:solidFill>
            </a:endParaRPr>
          </a:p>
        </p:txBody>
      </p:sp>
      <p:sp>
        <p:nvSpPr>
          <p:cNvPr id="3" name="TextBox 2"/>
          <p:cNvSpPr txBox="1"/>
          <p:nvPr/>
        </p:nvSpPr>
        <p:spPr>
          <a:xfrm>
            <a:off x="0" y="402644"/>
            <a:ext cx="9144000" cy="954107"/>
          </a:xfrm>
          <a:prstGeom prst="rect">
            <a:avLst/>
          </a:prstGeom>
          <a:noFill/>
        </p:spPr>
        <p:txBody>
          <a:bodyPr wrap="square" rtlCol="0">
            <a:spAutoFit/>
          </a:bodyPr>
          <a:lstStyle/>
          <a:p>
            <a:r>
              <a:rPr lang="ru-RU" sz="2800" dirty="0"/>
              <a:t>Пусть </a:t>
            </a:r>
            <a:r>
              <a:rPr lang="en-US" sz="2800" i="1" dirty="0"/>
              <a:t>A</a:t>
            </a:r>
            <a:r>
              <a:rPr lang="ru-RU" sz="2800" dirty="0"/>
              <a:t>(</a:t>
            </a:r>
            <a:r>
              <a:rPr lang="en-US" sz="2800" i="1" dirty="0"/>
              <a:t>x</a:t>
            </a:r>
            <a:r>
              <a:rPr lang="ru-RU" sz="2800" dirty="0"/>
              <a:t>)</a:t>
            </a:r>
            <a:r>
              <a:rPr lang="ru-RU" sz="2800" i="1" dirty="0"/>
              <a:t> </a:t>
            </a:r>
            <a:r>
              <a:rPr lang="ru-RU" sz="2800" dirty="0"/>
              <a:t>и </a:t>
            </a:r>
            <a:r>
              <a:rPr lang="en-US" sz="2800" i="1" dirty="0"/>
              <a:t>B</a:t>
            </a:r>
            <a:r>
              <a:rPr lang="ru-RU" sz="2800" dirty="0"/>
              <a:t>(</a:t>
            </a:r>
            <a:r>
              <a:rPr lang="en-US" sz="2800" i="1" dirty="0"/>
              <a:t>x</a:t>
            </a:r>
            <a:r>
              <a:rPr lang="ru-RU" sz="2800" dirty="0"/>
              <a:t>)</a:t>
            </a:r>
            <a:r>
              <a:rPr lang="ru-RU" sz="2800" i="1" dirty="0"/>
              <a:t> — </a:t>
            </a:r>
            <a:r>
              <a:rPr lang="ru-RU" sz="2800" dirty="0"/>
              <a:t>нечеткие множества, заданные на универсальном множестве </a:t>
            </a:r>
            <a:r>
              <a:rPr lang="en-US" sz="2800" i="1" dirty="0"/>
              <a:t>U</a:t>
            </a:r>
            <a:r>
              <a:rPr lang="ru-RU" sz="2800" dirty="0"/>
              <a:t>(</a:t>
            </a:r>
            <a:r>
              <a:rPr lang="en-US" sz="2800" i="1" dirty="0"/>
              <a:t>x</a:t>
            </a:r>
            <a:r>
              <a:rPr lang="ru-RU" sz="2800" dirty="0"/>
              <a:t>).</a:t>
            </a:r>
          </a:p>
        </p:txBody>
      </p:sp>
      <p:sp>
        <p:nvSpPr>
          <p:cNvPr id="5" name="Rectangle 1"/>
          <p:cNvSpPr>
            <a:spLocks noChangeArrowheads="1"/>
          </p:cNvSpPr>
          <p:nvPr/>
        </p:nvSpPr>
        <p:spPr bwMode="auto">
          <a:xfrm>
            <a:off x="-380143" y="1258141"/>
            <a:ext cx="9072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1.</a:t>
            </a:r>
            <a:r>
              <a:rPr kumimoji="0" lang="ru-RU" altLang="ru-RU" sz="2800" b="0" i="1" u="none" strike="noStrike" cap="none" normalizeH="0" baseline="0" dirty="0">
                <a:ln>
                  <a:noFill/>
                </a:ln>
                <a:solidFill>
                  <a:schemeClr val="tx1"/>
                </a:solidFill>
                <a:effectLst/>
                <a:ea typeface="Times New Roman" panose="020206030504050203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rPr>
              <a:t>A </a:t>
            </a:r>
            <a:r>
              <a:rPr kumimoji="0" lang="ru-RU" altLang="ru-RU" sz="2800" b="0" i="0" u="none" strike="noStrike" cap="none" normalizeH="0" baseline="0" dirty="0">
                <a:ln>
                  <a:noFill/>
                </a:ln>
                <a:solidFill>
                  <a:schemeClr val="tx1"/>
                </a:solidFill>
                <a:effectLst/>
                <a:ea typeface="Times New Roman" panose="02020603050405020304" pitchFamily="18" charset="0"/>
              </a:rPr>
              <a:t>содержится в </a:t>
            </a:r>
            <a:r>
              <a:rPr kumimoji="0" lang="en-US" altLang="ru-RU" sz="2800" b="0" i="1" u="none" strike="noStrike" cap="none" normalizeH="0" baseline="0" dirty="0">
                <a:ln>
                  <a:noFill/>
                </a:ln>
                <a:solidFill>
                  <a:schemeClr val="tx1"/>
                </a:solidFill>
                <a:effectLst/>
                <a:ea typeface="Times New Roman" panose="02020603050405020304" pitchFamily="18" charset="0"/>
              </a:rPr>
              <a:t>B</a:t>
            </a:r>
            <a:r>
              <a:rPr kumimoji="0" lang="ru-RU" altLang="ru-RU" sz="2800" b="0" i="0" u="none" strike="noStrike" cap="none" normalizeH="0" baseline="0" dirty="0">
                <a:ln>
                  <a:noFill/>
                </a:ln>
                <a:solidFill>
                  <a:schemeClr val="tx1"/>
                </a:solidFill>
                <a:effectLst/>
                <a:ea typeface="Times New Roman" panose="020206030504050203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rPr>
              <a:t>A</a:t>
            </a:r>
            <a:r>
              <a:rPr kumimoji="0" lang="en-US" altLang="ru-RU" sz="2800" b="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rPr>
              <a:t> </a:t>
            </a:r>
            <a:r>
              <a:rPr kumimoji="0" lang="ru-RU" altLang="ru-RU" sz="2800" b="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ru-RU" altLang="ru-RU" sz="2800" b="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sym typeface="Symbol" panose="05050102010706020507" pitchFamily="18" charset="2"/>
              </a:rPr>
              <a:t>B</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ru-RU" altLang="ru-RU" sz="2800" b="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ru-RU"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 </a:t>
            </a:r>
            <a:r>
              <a:rPr kumimoji="0" lang="ru-RU" altLang="ru-RU" sz="2800" b="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если</a:t>
            </a:r>
            <a:r>
              <a:rPr kumimoji="0" lang="ru-RU"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 </a:t>
            </a:r>
            <a:r>
              <a:rPr kumimoji="0" lang="en-US" altLang="ru-RU" sz="2800" b="0" i="0" u="none" strike="noStrike" cap="none" normalizeH="0" baseline="0" dirty="0">
                <a:ln>
                  <a:noFill/>
                </a:ln>
                <a:solidFill>
                  <a:schemeClr val="tx1"/>
                </a:solidFill>
                <a:effectLst/>
                <a:ea typeface="Times New Roman" panose="02020603050405020304" pitchFamily="18" charset="0"/>
                <a:cs typeface="Symbol" panose="05050102010706020507" pitchFamily="18" charset="2"/>
                <a:sym typeface="Symbol" panose="05050102010706020507" pitchFamily="18" charset="2"/>
              </a:rPr>
              <a:t></a:t>
            </a:r>
            <a:r>
              <a:rPr kumimoji="0" lang="en-US" altLang="ru-RU" sz="2800" b="0" i="1" u="none" strike="noStrike" cap="none" normalizeH="0" baseline="0" dirty="0">
                <a:ln>
                  <a:noFill/>
                </a:ln>
                <a:solidFill>
                  <a:schemeClr val="tx1"/>
                </a:solidFill>
                <a:effectLst/>
                <a:ea typeface="Times New Roman" panose="02020603050405020304" pitchFamily="18" charset="0"/>
                <a:sym typeface="Symbol" panose="05050102010706020507" pitchFamily="18" charset="2"/>
              </a:rPr>
              <a:t>x</a:t>
            </a:r>
            <a:r>
              <a:rPr kumimoji="0" lang="en-US" altLang="ru-RU" sz="2800" b="0" i="1"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 </a:t>
            </a:r>
            <a:r>
              <a:rPr kumimoji="0" lang="ru-RU"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ru-RU"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U</a:t>
            </a:r>
            <a:r>
              <a:rPr kumimoji="0" lang="en-US"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 </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µ</a:t>
            </a:r>
            <a:r>
              <a:rPr kumimoji="0" lang="en-US" altLang="ru-RU" sz="2800" i="1" u="none" strike="noStrike" cap="none" normalizeH="0" baseline="-3000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en-US" altLang="ru-RU" sz="2800" i="1"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x</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 ≤ µ</a:t>
            </a:r>
            <a:r>
              <a:rPr kumimoji="0" lang="en-US" altLang="ru-RU" sz="2800" i="1" u="none" strike="noStrike" cap="none" normalizeH="0" baseline="-3000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B</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en-US" altLang="ru-RU" sz="2800" i="1"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x</a:t>
            </a:r>
            <a:r>
              <a:rPr kumimoji="0" lang="ru-RU" altLang="ru-RU" sz="2800"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r>
              <a:rPr kumimoji="0" lang="ru-RU" altLang="ru-RU" sz="2800" b="1" i="0" u="none" strike="noStrike" cap="none" normalizeH="0" baseline="0" dirty="0">
                <a:ln>
                  <a:noFill/>
                </a:ln>
                <a:solidFill>
                  <a:schemeClr val="tx1"/>
                </a:solidFill>
                <a:effectLst/>
                <a:ea typeface="Times New Roman" panose="02020603050405020304" pitchFamily="18" charset="0"/>
                <a:cs typeface="Cambria Math" panose="02040503050406030204" pitchFamily="18" charset="0"/>
                <a:sym typeface="Symbol" panose="05050102010706020507" pitchFamily="18" charset="2"/>
              </a:rPr>
              <a:t>.</a:t>
            </a:r>
          </a:p>
        </p:txBody>
      </p:sp>
      <p:sp>
        <p:nvSpPr>
          <p:cNvPr id="6" name="TextBox 5"/>
          <p:cNvSpPr txBox="1"/>
          <p:nvPr/>
        </p:nvSpPr>
        <p:spPr>
          <a:xfrm>
            <a:off x="87330" y="1662656"/>
            <a:ext cx="8969340" cy="1384995"/>
          </a:xfrm>
          <a:prstGeom prst="rect">
            <a:avLst/>
          </a:prstGeom>
          <a:noFill/>
        </p:spPr>
        <p:txBody>
          <a:bodyPr wrap="square" rtlCol="0">
            <a:spAutoFit/>
          </a:bodyPr>
          <a:lstStyle/>
          <a:p>
            <a:r>
              <a:rPr lang="ru-RU" sz="2800" dirty="0"/>
              <a:t>2. Если µ</a:t>
            </a:r>
            <a:r>
              <a:rPr lang="en-US" sz="2800" i="1" baseline="-25000" dirty="0"/>
              <a:t>A</a:t>
            </a:r>
            <a:r>
              <a:rPr lang="ru-RU" sz="2800" dirty="0"/>
              <a:t>(</a:t>
            </a:r>
            <a:r>
              <a:rPr lang="en-US" sz="2800" i="1" dirty="0"/>
              <a:t>x</a:t>
            </a:r>
            <a:r>
              <a:rPr lang="ru-RU" sz="2800" dirty="0"/>
              <a:t>) ≤ µ</a:t>
            </a:r>
            <a:r>
              <a:rPr lang="en-US" sz="2800" i="1" baseline="-25000" dirty="0"/>
              <a:t>B</a:t>
            </a:r>
            <a:r>
              <a:rPr lang="ru-RU" sz="2800" dirty="0"/>
              <a:t>(</a:t>
            </a:r>
            <a:r>
              <a:rPr lang="en-US" sz="2800" i="1" dirty="0"/>
              <a:t>x</a:t>
            </a:r>
            <a:r>
              <a:rPr lang="ru-RU" sz="2800" dirty="0"/>
              <a:t>) выполняется не для всех </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 то учитывается </a:t>
            </a:r>
            <a:r>
              <a:rPr lang="ru-RU" sz="2800" i="1" dirty="0"/>
              <a:t>степень включения </a:t>
            </a:r>
            <a:r>
              <a:rPr lang="ru-RU" sz="2800" dirty="0"/>
              <a:t>нечеткого множества</a:t>
            </a:r>
            <a:r>
              <a:rPr lang="ru-RU" sz="2800" b="1" dirty="0"/>
              <a:t> </a:t>
            </a:r>
            <a:r>
              <a:rPr lang="en-US" sz="2800" i="1" dirty="0"/>
              <a:t>A </a:t>
            </a:r>
            <a:r>
              <a:rPr lang="ru-RU" sz="2800" dirty="0"/>
              <a:t>в</a:t>
            </a:r>
            <a:r>
              <a:rPr lang="ru-RU" sz="2800" b="1" dirty="0"/>
              <a:t> </a:t>
            </a:r>
            <a:r>
              <a:rPr lang="en-US" sz="2800" i="1" dirty="0"/>
              <a:t>B</a:t>
            </a:r>
            <a:r>
              <a:rPr lang="ru-RU" sz="2800" dirty="0"/>
              <a:t>, которая определяется следующим образом: </a:t>
            </a:r>
          </a:p>
        </p:txBody>
      </p:sp>
      <p:sp>
        <p:nvSpPr>
          <p:cNvPr id="8" name="TextBox 7"/>
          <p:cNvSpPr txBox="1"/>
          <p:nvPr/>
        </p:nvSpPr>
        <p:spPr>
          <a:xfrm>
            <a:off x="43665" y="3542115"/>
            <a:ext cx="6477715" cy="523220"/>
          </a:xfrm>
          <a:prstGeom prst="rect">
            <a:avLst/>
          </a:prstGeom>
          <a:noFill/>
        </p:spPr>
        <p:txBody>
          <a:bodyPr wrap="square" rtlCol="0">
            <a:spAutoFit/>
          </a:bodyPr>
          <a:lstStyle/>
          <a:p>
            <a:r>
              <a:rPr lang="ru-RU" sz="2800" dirty="0"/>
              <a:t>где </a:t>
            </a:r>
            <a:r>
              <a:rPr lang="en-US" sz="2800" i="1" dirty="0"/>
              <a:t>T = </a:t>
            </a:r>
            <a:r>
              <a:rPr lang="en-US" sz="2800" dirty="0"/>
              <a:t>{</a:t>
            </a:r>
            <a:r>
              <a:rPr lang="en-US" sz="2800" i="1" dirty="0"/>
              <a:t>x </a:t>
            </a:r>
            <a:r>
              <a:rPr lang="ru-RU" sz="2800" dirty="0">
                <a:sym typeface="Symbol" panose="05050102010706020507" pitchFamily="18" charset="2"/>
              </a:rPr>
              <a:t></a:t>
            </a:r>
            <a:r>
              <a:rPr lang="ru-RU" sz="2800" dirty="0"/>
              <a:t> </a:t>
            </a:r>
            <a:r>
              <a:rPr lang="en-US" sz="2800" i="1" dirty="0"/>
              <a:t>U</a:t>
            </a:r>
            <a:r>
              <a:rPr lang="en-US" sz="2800" dirty="0"/>
              <a:t>: µ</a:t>
            </a:r>
            <a:r>
              <a:rPr lang="en-US" sz="2800" i="1" baseline="-25000" dirty="0"/>
              <a:t>A</a:t>
            </a:r>
            <a:r>
              <a:rPr lang="en-US" sz="2800" dirty="0"/>
              <a:t>(</a:t>
            </a:r>
            <a:r>
              <a:rPr lang="en-US" sz="2800" i="1" dirty="0"/>
              <a:t>x</a:t>
            </a:r>
            <a:r>
              <a:rPr lang="en-US" sz="2800" dirty="0"/>
              <a:t>) ≤ µ</a:t>
            </a:r>
            <a:r>
              <a:rPr lang="en-US" sz="2800" i="1" baseline="-25000" dirty="0"/>
              <a:t>B</a:t>
            </a:r>
            <a:r>
              <a:rPr lang="en-US" sz="2800" dirty="0"/>
              <a:t>(</a:t>
            </a:r>
            <a:r>
              <a:rPr lang="en-US" sz="2800" i="1" dirty="0"/>
              <a:t>x</a:t>
            </a:r>
            <a:r>
              <a:rPr lang="en-US" sz="2800" dirty="0"/>
              <a:t>), µ</a:t>
            </a:r>
            <a:r>
              <a:rPr lang="en-US" sz="2800" i="1" baseline="-25000" dirty="0"/>
              <a:t>A</a:t>
            </a:r>
            <a:r>
              <a:rPr lang="en-US" sz="2800" dirty="0"/>
              <a:t>(</a:t>
            </a:r>
            <a:r>
              <a:rPr lang="en-US" sz="2800" i="1" dirty="0"/>
              <a:t>x</a:t>
            </a:r>
            <a:r>
              <a:rPr lang="en-US" sz="2800" dirty="0"/>
              <a:t>) &gt; 0}.</a:t>
            </a:r>
            <a:endParaRPr lang="ru-RU" sz="2800" dirty="0"/>
          </a:p>
        </p:txBody>
      </p:sp>
      <p:sp>
        <p:nvSpPr>
          <p:cNvPr id="9" name="TextBox 8"/>
          <p:cNvSpPr txBox="1"/>
          <p:nvPr/>
        </p:nvSpPr>
        <p:spPr>
          <a:xfrm>
            <a:off x="87330" y="3927182"/>
            <a:ext cx="9056670" cy="523220"/>
          </a:xfrm>
          <a:prstGeom prst="rect">
            <a:avLst/>
          </a:prstGeom>
          <a:noFill/>
        </p:spPr>
        <p:txBody>
          <a:bodyPr wrap="square" rtlCol="0">
            <a:spAutoFit/>
          </a:bodyPr>
          <a:lstStyle/>
          <a:p>
            <a:r>
              <a:rPr lang="ru-RU" sz="2800" dirty="0"/>
              <a:t>3. Равные множества: </a:t>
            </a:r>
            <a:r>
              <a:rPr lang="en-US" sz="2800" i="1" dirty="0"/>
              <a:t>A </a:t>
            </a:r>
            <a:r>
              <a:rPr lang="ru-RU" sz="2800" i="1" dirty="0"/>
              <a:t>= </a:t>
            </a:r>
            <a:r>
              <a:rPr lang="en-US" sz="2800" i="1" dirty="0"/>
              <a:t>B</a:t>
            </a:r>
            <a:r>
              <a:rPr lang="ru-RU" sz="2800" dirty="0"/>
              <a:t>, если </a:t>
            </a:r>
            <a:r>
              <a:rPr lang="en-US" altLang="ru-RU" sz="2800" dirty="0">
                <a:ea typeface="Times New Roman" panose="02020603050405020304" pitchFamily="18" charset="0"/>
                <a:cs typeface="Symbol" panose="05050102010706020507" pitchFamily="18" charset="2"/>
                <a:sym typeface="Symbol" panose="05050102010706020507" pitchFamily="18" charset="2"/>
              </a:rPr>
              <a:t></a:t>
            </a:r>
            <a:r>
              <a:rPr lang="en-US" sz="2800" i="1" dirty="0"/>
              <a:t>x</a:t>
            </a:r>
            <a:r>
              <a:rPr lang="ru-RU" sz="2800" dirty="0">
                <a:sym typeface="Symbol" panose="05050102010706020507" pitchFamily="18" charset="2"/>
              </a:rPr>
              <a:t></a:t>
            </a:r>
            <a:r>
              <a:rPr lang="en-US" sz="2800" i="1" dirty="0"/>
              <a:t>U</a:t>
            </a:r>
            <a:r>
              <a:rPr lang="en-US" sz="2800" dirty="0"/>
              <a:t> </a:t>
            </a:r>
            <a:r>
              <a:rPr lang="ru-RU" sz="2800" dirty="0"/>
              <a:t>µ</a:t>
            </a:r>
            <a:r>
              <a:rPr lang="en-US" sz="2800" i="1" baseline="-25000" dirty="0"/>
              <a:t>A</a:t>
            </a:r>
            <a:r>
              <a:rPr lang="ru-RU" sz="2800" dirty="0"/>
              <a:t>(</a:t>
            </a:r>
            <a:r>
              <a:rPr lang="en-US" sz="2800" i="1" dirty="0"/>
              <a:t>x</a:t>
            </a:r>
            <a:r>
              <a:rPr lang="ru-RU" sz="2800" dirty="0"/>
              <a:t>) = µ</a:t>
            </a:r>
            <a:r>
              <a:rPr lang="en-US" sz="2800" i="1" baseline="-25000" dirty="0"/>
              <a:t>B</a:t>
            </a:r>
            <a:r>
              <a:rPr lang="ru-RU" sz="2800" dirty="0"/>
              <a:t>(</a:t>
            </a:r>
            <a:r>
              <a:rPr lang="en-US" sz="2800" i="1" dirty="0"/>
              <a:t>x</a:t>
            </a:r>
            <a:r>
              <a:rPr lang="ru-RU" sz="2800" dirty="0"/>
              <a:t>).</a:t>
            </a:r>
          </a:p>
        </p:txBody>
      </p:sp>
      <p:sp>
        <p:nvSpPr>
          <p:cNvPr id="10" name="TextBox 9"/>
          <p:cNvSpPr txBox="1"/>
          <p:nvPr/>
        </p:nvSpPr>
        <p:spPr>
          <a:xfrm>
            <a:off x="87330" y="4311600"/>
            <a:ext cx="9013005" cy="1384995"/>
          </a:xfrm>
          <a:prstGeom prst="rect">
            <a:avLst/>
          </a:prstGeom>
          <a:noFill/>
        </p:spPr>
        <p:txBody>
          <a:bodyPr wrap="square" rtlCol="0">
            <a:spAutoFit/>
          </a:bodyPr>
          <a:lstStyle/>
          <a:p>
            <a:r>
              <a:rPr lang="ru-RU" sz="2800" dirty="0"/>
              <a:t>4. Если значения функций принадлежности µ</a:t>
            </a:r>
            <a:r>
              <a:rPr lang="ru-RU" sz="2800" i="1" baseline="-25000" dirty="0"/>
              <a:t>A</a:t>
            </a:r>
            <a:r>
              <a:rPr lang="ru-RU" sz="2800" dirty="0"/>
              <a:t>(</a:t>
            </a:r>
            <a:r>
              <a:rPr lang="ru-RU" sz="2800" i="1" dirty="0"/>
              <a:t>x</a:t>
            </a:r>
            <a:r>
              <a:rPr lang="ru-RU" sz="2800" dirty="0"/>
              <a:t>) и µ</a:t>
            </a:r>
            <a:r>
              <a:rPr lang="ru-RU" sz="2800" i="1" baseline="-25000" dirty="0"/>
              <a:t>B</a:t>
            </a:r>
            <a:r>
              <a:rPr lang="ru-RU" sz="2800" dirty="0"/>
              <a:t>(</a:t>
            </a:r>
            <a:r>
              <a:rPr lang="ru-RU" sz="2800" i="1" dirty="0"/>
              <a:t>x</a:t>
            </a:r>
            <a:r>
              <a:rPr lang="ru-RU" sz="2800" dirty="0"/>
              <a:t>) почти равны, учитывается</a:t>
            </a:r>
            <a:r>
              <a:rPr lang="ru-RU" sz="2800" i="1" dirty="0"/>
              <a:t> степень равенства </a:t>
            </a:r>
            <a:r>
              <a:rPr lang="ru-RU" sz="2800" dirty="0"/>
              <a:t>нечетких множеств</a:t>
            </a:r>
            <a:r>
              <a:rPr lang="ru-RU" sz="2800" b="1" dirty="0"/>
              <a:t> </a:t>
            </a:r>
            <a:r>
              <a:rPr lang="en-US" sz="2800" i="1" dirty="0"/>
              <a:t>A </a:t>
            </a:r>
            <a:r>
              <a:rPr lang="ru-RU" sz="2800" dirty="0"/>
              <a:t>и</a:t>
            </a:r>
            <a:r>
              <a:rPr lang="ru-RU" sz="2800" b="1" dirty="0"/>
              <a:t> </a:t>
            </a:r>
            <a:r>
              <a:rPr lang="en-US" sz="2800" i="1" dirty="0"/>
              <a:t>B</a:t>
            </a:r>
            <a:r>
              <a:rPr lang="ru-RU" sz="2800" dirty="0"/>
              <a:t> в виде </a:t>
            </a:r>
          </a:p>
        </p:txBody>
      </p:sp>
      <mc:AlternateContent xmlns:mc="http://schemas.openxmlformats.org/markup-compatibility/2006" xmlns:a14="http://schemas.microsoft.com/office/drawing/2010/main">
        <mc:Choice Requires="a14">
          <p:sp>
            <p:nvSpPr>
              <p:cNvPr id="12" name="TextBox 11"/>
              <p:cNvSpPr txBox="1"/>
              <p:nvPr/>
            </p:nvSpPr>
            <p:spPr>
              <a:xfrm>
                <a:off x="2268879" y="5545755"/>
                <a:ext cx="5650787" cy="523220"/>
              </a:xfrm>
              <a:prstGeom prst="rect">
                <a:avLst/>
              </a:prstGeom>
              <a:noFill/>
            </p:spPr>
            <p:txBody>
              <a:bodyPr wrap="square" rtlCol="0">
                <a:spAutoFit/>
              </a:bodyPr>
              <a:lstStyle/>
              <a:p>
                <a:r>
                  <a:rPr lang="en-US" sz="2800" i="1" dirty="0"/>
                  <a:t>E</a:t>
                </a:r>
                <a:r>
                  <a:rPr lang="en-US" sz="2800" dirty="0"/>
                  <a:t>(</a:t>
                </a:r>
                <a:r>
                  <a:rPr lang="en-US" sz="2800" i="1" dirty="0"/>
                  <a:t>A</a:t>
                </a:r>
                <a:r>
                  <a:rPr lang="en-US" sz="2800" dirty="0">
                    <a:sym typeface="Symbol" panose="05050102010706020507" pitchFamily="18" charset="2"/>
                  </a:rPr>
                  <a:t>=</a:t>
                </a:r>
                <a:r>
                  <a:rPr lang="en-US" sz="2800" i="1" dirty="0">
                    <a:sym typeface="Symbol" panose="05050102010706020507" pitchFamily="18" charset="2"/>
                  </a:rPr>
                  <a:t>B</a:t>
                </a:r>
                <a:r>
                  <a:rPr lang="en-US" sz="2800" dirty="0"/>
                  <a:t>) =</a:t>
                </a:r>
                <a14:m>
                  <m:oMath xmlns:m="http://schemas.openxmlformats.org/officeDocument/2006/math">
                    <m:func>
                      <m:funcPr>
                        <m:ctrlPr>
                          <a:rPr lang="en-US" sz="2800" i="1" smtClean="0">
                            <a:latin typeface="Cambria Math" panose="02040503050406030204" pitchFamily="18" charset="0"/>
                          </a:rPr>
                        </m:ctrlPr>
                      </m:funcPr>
                      <m:fName>
                        <m:limLow>
                          <m:limLowPr>
                            <m:ctrlPr>
                              <a:rPr lang="en-US" sz="2800" i="1" smtClean="0">
                                <a:latin typeface="Cambria Math" panose="02040503050406030204" pitchFamily="18" charset="0"/>
                              </a:rPr>
                            </m:ctrlPr>
                          </m:limLowPr>
                          <m:e>
                            <m:r>
                              <m:rPr>
                                <m:sty m:val="p"/>
                              </m:rPr>
                              <a:rPr lang="en-US" sz="2800" i="0" smtClean="0">
                                <a:latin typeface="Cambria Math" panose="02040503050406030204" pitchFamily="18" charset="0"/>
                              </a:rPr>
                              <m:t>m</m:t>
                            </m:r>
                            <m:r>
                              <m:rPr>
                                <m:sty m:val="p"/>
                              </m:rPr>
                              <a:rPr lang="en-US" sz="2800" b="0" i="0" smtClean="0">
                                <a:latin typeface="Cambria Math" panose="02040503050406030204" pitchFamily="18" charset="0"/>
                              </a:rPr>
                              <m:t>a</m:t>
                            </m:r>
                            <m:r>
                              <a:rPr lang="en-US" sz="2800" b="0" i="1" smtClean="0">
                                <a:latin typeface="Cambria Math" panose="02040503050406030204" pitchFamily="18" charset="0"/>
                              </a:rPr>
                              <m:t>𝑥</m:t>
                            </m:r>
                          </m:e>
                          <m:lim>
                            <m:r>
                              <a:rPr lang="en-US" sz="2800" b="0" i="1" smtClean="0">
                                <a:latin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𝑇</m:t>
                            </m:r>
                          </m:lim>
                        </m:limLow>
                        <m:r>
                          <a:rPr lang="en-US" sz="2800" b="0" i="1" smtClean="0">
                            <a:latin typeface="Cambria Math" panose="02040503050406030204" pitchFamily="18" charset="0"/>
                          </a:rPr>
                          <m:t> </m:t>
                        </m:r>
                        <m:r>
                          <a:rPr lang="en-US" sz="2800" b="0" i="1" smtClean="0">
                            <a:latin typeface="Cambria Math" panose="02040503050406030204" pitchFamily="18" charset="0"/>
                            <a:sym typeface="Symbol" panose="05050102010706020507" pitchFamily="18" charset="2"/>
                          </a:rPr>
                          <m:t></m:t>
                        </m:r>
                      </m:fName>
                      <m:e>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µ</m:t>
                        </m:r>
                        <m:r>
                          <m:rPr>
                            <m:nor/>
                          </m:rPr>
                          <a:rPr lang="en-US" altLang="ru-RU" sz="2800" i="1" baseline="-30000" dirty="0">
                            <a:ea typeface="Times New Roman" panose="02020603050405020304" pitchFamily="18" charset="0"/>
                            <a:cs typeface="Cambria Math" panose="02040503050406030204" pitchFamily="18" charset="0"/>
                            <a:sym typeface="Symbol" panose="05050102010706020507" pitchFamily="18" charset="2"/>
                          </a:rPr>
                          <m:t>A</m:t>
                        </m:r>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m:t>
                        </m:r>
                        <m:r>
                          <m:rPr>
                            <m:nor/>
                          </m:rPr>
                          <a:rPr lang="en-US" altLang="ru-RU" sz="2800" i="1" dirty="0">
                            <a:ea typeface="Times New Roman" panose="02020603050405020304" pitchFamily="18" charset="0"/>
                            <a:cs typeface="Cambria Math" panose="02040503050406030204" pitchFamily="18" charset="0"/>
                            <a:sym typeface="Symbol" panose="05050102010706020507" pitchFamily="18" charset="2"/>
                          </a:rPr>
                          <m:t>x</m:t>
                        </m:r>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 </m:t>
                        </m:r>
                        <m:r>
                          <m:rPr>
                            <m:nor/>
                          </m:rPr>
                          <a:rPr lang="en-US" altLang="ru-RU" sz="2800" b="0" i="0" dirty="0" smtClean="0">
                            <a:ea typeface="Times New Roman" panose="02020603050405020304" pitchFamily="18" charset="0"/>
                            <a:cs typeface="Cambria Math" panose="02040503050406030204" pitchFamily="18" charset="0"/>
                            <a:sym typeface="Symbol" panose="05050102010706020507" pitchFamily="18" charset="2"/>
                          </a:rPr>
                          <m:t>−</m:t>
                        </m:r>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 µ</m:t>
                        </m:r>
                        <m:r>
                          <m:rPr>
                            <m:nor/>
                          </m:rPr>
                          <a:rPr lang="en-US" altLang="ru-RU" sz="2800" i="1" baseline="-30000" dirty="0">
                            <a:ea typeface="Times New Roman" panose="02020603050405020304" pitchFamily="18" charset="0"/>
                            <a:cs typeface="Cambria Math" panose="02040503050406030204" pitchFamily="18" charset="0"/>
                            <a:sym typeface="Symbol" panose="05050102010706020507" pitchFamily="18" charset="2"/>
                          </a:rPr>
                          <m:t>B</m:t>
                        </m:r>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m:t>
                        </m:r>
                        <m:r>
                          <m:rPr>
                            <m:nor/>
                          </m:rPr>
                          <a:rPr lang="en-US" altLang="ru-RU" sz="2800" i="1" dirty="0">
                            <a:ea typeface="Times New Roman" panose="02020603050405020304" pitchFamily="18" charset="0"/>
                            <a:cs typeface="Cambria Math" panose="02040503050406030204" pitchFamily="18" charset="0"/>
                            <a:sym typeface="Symbol" panose="05050102010706020507" pitchFamily="18" charset="2"/>
                          </a:rPr>
                          <m:t>x</m:t>
                        </m:r>
                        <m:r>
                          <m:rPr>
                            <m:nor/>
                          </m:rPr>
                          <a:rPr lang="ru-RU" altLang="ru-RU" sz="2800" dirty="0">
                            <a:ea typeface="Times New Roman" panose="02020603050405020304" pitchFamily="18" charset="0"/>
                            <a:cs typeface="Cambria Math" panose="02040503050406030204" pitchFamily="18" charset="0"/>
                            <a:sym typeface="Symbol" panose="05050102010706020507" pitchFamily="18" charset="2"/>
                          </a:rPr>
                          <m:t>)</m:t>
                        </m:r>
                        <m:r>
                          <a:rPr lang="en-US" sz="2800" i="1">
                            <a:latin typeface="Cambria Math" panose="02040503050406030204" pitchFamily="18" charset="0"/>
                            <a:sym typeface="Symbol" panose="05050102010706020507" pitchFamily="18" charset="2"/>
                          </a:rPr>
                          <m:t></m:t>
                        </m:r>
                        <m:r>
                          <a:rPr lang="en-US" sz="2800" b="0" i="1" smtClean="0">
                            <a:latin typeface="Cambria Math" panose="02040503050406030204" pitchFamily="18" charset="0"/>
                            <a:sym typeface="Symbol" panose="05050102010706020507" pitchFamily="18" charset="2"/>
                          </a:rPr>
                          <m:t>,</m:t>
                        </m:r>
                      </m:e>
                    </m:func>
                  </m:oMath>
                </a14:m>
                <a:endParaRPr lang="ru-RU" sz="2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268879" y="5545755"/>
                <a:ext cx="5650787" cy="523220"/>
              </a:xfrm>
              <a:prstGeom prst="rect">
                <a:avLst/>
              </a:prstGeom>
              <a:blipFill rotWithShape="0">
                <a:blip r:embed="rId2" cstate="print"/>
                <a:stretch>
                  <a:fillRect l="-2157" t="-11628" b="-32558"/>
                </a:stretch>
              </a:blipFill>
            </p:spPr>
            <p:txBody>
              <a:bodyPr/>
              <a:lstStyle/>
              <a:p>
                <a:r>
                  <a:rPr lang="ru-RU">
                    <a:noFill/>
                  </a:rPr>
                  <a:t> </a:t>
                </a:r>
              </a:p>
            </p:txBody>
          </p:sp>
        </mc:Fallback>
      </mc:AlternateContent>
      <p:sp>
        <p:nvSpPr>
          <p:cNvPr id="13" name="TextBox 12"/>
          <p:cNvSpPr txBox="1"/>
          <p:nvPr/>
        </p:nvSpPr>
        <p:spPr>
          <a:xfrm>
            <a:off x="87330" y="6102849"/>
            <a:ext cx="9013005" cy="523220"/>
          </a:xfrm>
          <a:prstGeom prst="rect">
            <a:avLst/>
          </a:prstGeom>
          <a:noFill/>
        </p:spPr>
        <p:txBody>
          <a:bodyPr wrap="square" rtlCol="0">
            <a:spAutoFit/>
          </a:bodyPr>
          <a:lstStyle/>
          <a:p>
            <a:endParaRPr lang="ru-RU" sz="2800" dirty="0"/>
          </a:p>
        </p:txBody>
      </p:sp>
      <p:sp>
        <p:nvSpPr>
          <p:cNvPr id="14" name="TextBox 13"/>
          <p:cNvSpPr txBox="1"/>
          <p:nvPr/>
        </p:nvSpPr>
        <p:spPr>
          <a:xfrm>
            <a:off x="43665" y="6139233"/>
            <a:ext cx="9578942" cy="523220"/>
          </a:xfrm>
          <a:prstGeom prst="rect">
            <a:avLst/>
          </a:prstGeom>
          <a:noFill/>
        </p:spPr>
        <p:txBody>
          <a:bodyPr wrap="square" rtlCol="0">
            <a:spAutoFit/>
          </a:bodyPr>
          <a:lstStyle/>
          <a:p>
            <a:r>
              <a:rPr lang="ru-RU" sz="2800" dirty="0"/>
              <a:t>где </a:t>
            </a:r>
            <a:r>
              <a:rPr lang="en-US" sz="2800" i="1" dirty="0"/>
              <a:t>T = </a:t>
            </a:r>
            <a:r>
              <a:rPr lang="en-US" sz="2800" dirty="0"/>
              <a:t>{</a:t>
            </a:r>
            <a:r>
              <a:rPr lang="en-US" sz="2800" i="1" dirty="0"/>
              <a:t>x </a:t>
            </a:r>
            <a:r>
              <a:rPr lang="ru-RU" sz="2800" dirty="0">
                <a:sym typeface="Symbol" panose="05050102010706020507" pitchFamily="18" charset="2"/>
              </a:rPr>
              <a:t></a:t>
            </a:r>
            <a:r>
              <a:rPr lang="ru-RU" sz="2800" dirty="0"/>
              <a:t> </a:t>
            </a:r>
            <a:r>
              <a:rPr lang="en-US" sz="2800" i="1" dirty="0"/>
              <a:t>U</a:t>
            </a:r>
            <a:r>
              <a:rPr lang="en-US" sz="2800" dirty="0"/>
              <a:t>: µ</a:t>
            </a:r>
            <a:r>
              <a:rPr lang="en-US" sz="2800" i="1" baseline="-25000" dirty="0"/>
              <a:t>A</a:t>
            </a:r>
            <a:r>
              <a:rPr lang="en-US" sz="2800" dirty="0"/>
              <a:t>(</a:t>
            </a:r>
            <a:r>
              <a:rPr lang="en-US" sz="2800" i="1" dirty="0"/>
              <a:t>x</a:t>
            </a:r>
            <a:r>
              <a:rPr lang="en-US" sz="2800" dirty="0"/>
              <a:t>) ≤ µ</a:t>
            </a:r>
            <a:r>
              <a:rPr lang="en-US" sz="2800" i="1" baseline="-25000" dirty="0"/>
              <a:t>B</a:t>
            </a:r>
            <a:r>
              <a:rPr lang="en-US" sz="2800" dirty="0"/>
              <a:t>(</a:t>
            </a:r>
            <a:r>
              <a:rPr lang="en-US" sz="2800" i="1" dirty="0"/>
              <a:t>x</a:t>
            </a:r>
            <a:r>
              <a:rPr lang="en-US" sz="2800" dirty="0"/>
              <a:t>)</a:t>
            </a:r>
            <a:r>
              <a:rPr lang="en-US" sz="2800" dirty="0">
                <a:sym typeface="Symbol" panose="05050102010706020507" pitchFamily="18" charset="2"/>
              </a:rPr>
              <a:t></a:t>
            </a:r>
            <a:r>
              <a:rPr lang="en-US" sz="2800" dirty="0"/>
              <a:t> µ</a:t>
            </a:r>
            <a:r>
              <a:rPr lang="en-US" sz="2800" i="1" baseline="-25000" dirty="0"/>
              <a:t>A</a:t>
            </a:r>
            <a:r>
              <a:rPr lang="en-US" sz="2800" dirty="0"/>
              <a:t>(</a:t>
            </a:r>
            <a:r>
              <a:rPr lang="en-US" sz="2800" i="1" dirty="0"/>
              <a:t>x</a:t>
            </a:r>
            <a:r>
              <a:rPr lang="en-US" sz="2800" dirty="0"/>
              <a:t>)}.</a:t>
            </a:r>
            <a:endParaRPr lang="ru-RU" sz="2800" dirty="0"/>
          </a:p>
        </p:txBody>
      </p:sp>
      <p:grpSp>
        <p:nvGrpSpPr>
          <p:cNvPr id="11" name="Группа 10">
            <a:extLst>
              <a:ext uri="{FF2B5EF4-FFF2-40B4-BE49-F238E27FC236}">
                <a16:creationId xmlns:a16="http://schemas.microsoft.com/office/drawing/2014/main" id="{E9667958-4E46-AB87-9C7D-6137FB4EF065}"/>
              </a:ext>
            </a:extLst>
          </p:cNvPr>
          <p:cNvGrpSpPr/>
          <p:nvPr/>
        </p:nvGrpSpPr>
        <p:grpSpPr>
          <a:xfrm>
            <a:off x="2342508" y="2946204"/>
            <a:ext cx="3298004" cy="651967"/>
            <a:chOff x="2342508" y="2946204"/>
            <a:chExt cx="3298004" cy="651967"/>
          </a:xfrm>
        </p:grpSpPr>
        <p:sp>
          <p:nvSpPr>
            <p:cNvPr id="15" name="TextBox 14"/>
            <p:cNvSpPr txBox="1">
              <a:spLocks noRot="1" noChangeAspect="1" noMove="1" noResize="1" noEditPoints="1" noAdjustHandles="1" noChangeArrowheads="1" noChangeShapeType="1" noTextEdit="1"/>
            </p:cNvSpPr>
            <p:nvPr/>
          </p:nvSpPr>
          <p:spPr>
            <a:xfrm>
              <a:off x="2342508" y="2946204"/>
              <a:ext cx="3298004" cy="523220"/>
            </a:xfrm>
            <a:prstGeom prst="rect">
              <a:avLst/>
            </a:prstGeom>
            <a:blipFill rotWithShape="0">
              <a:blip r:embed="rId3" cstate="print"/>
              <a:stretch>
                <a:fillRect l="-3697" t="-12791" b="-33721"/>
              </a:stretch>
            </a:blipFill>
          </p:spPr>
          <p:txBody>
            <a:bodyPr/>
            <a:lstStyle/>
            <a:p>
              <a:r>
                <a:rPr lang="ru-RU">
                  <a:noFill/>
                </a:rPr>
                <a:t> </a:t>
              </a:r>
            </a:p>
          </p:txBody>
        </p:sp>
        <p:pic>
          <p:nvPicPr>
            <p:cNvPr id="7" name="Рисунок 6">
              <a:extLst>
                <a:ext uri="{FF2B5EF4-FFF2-40B4-BE49-F238E27FC236}">
                  <a16:creationId xmlns:a16="http://schemas.microsoft.com/office/drawing/2014/main" id="{DCDD688C-A957-362C-4049-F641F1B4BDC1}"/>
                </a:ext>
              </a:extLst>
            </p:cNvPr>
            <p:cNvPicPr>
              <a:picLocks noChangeAspect="1"/>
            </p:cNvPicPr>
            <p:nvPr/>
          </p:nvPicPr>
          <p:blipFill>
            <a:blip r:embed="rId4"/>
            <a:stretch>
              <a:fillRect/>
            </a:stretch>
          </p:blipFill>
          <p:spPr>
            <a:xfrm>
              <a:off x="3768588" y="3379096"/>
              <a:ext cx="533400" cy="219075"/>
            </a:xfrm>
            <a:prstGeom prst="rect">
              <a:avLst/>
            </a:prstGeom>
          </p:spPr>
        </p:pic>
      </p:grpSp>
    </p:spTree>
    <p:extLst>
      <p:ext uri="{BB962C8B-B14F-4D97-AF65-F5344CB8AC3E}">
        <p14:creationId xmlns:p14="http://schemas.microsoft.com/office/powerpoint/2010/main" val="297421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1000"/>
                                        <p:tgtEl>
                                          <p:spTgt spid="12"/>
                                        </p:tgtEl>
                                      </p:cBhvr>
                                    </p:animEffect>
                                    <p:anim calcmode="lin" valueType="num">
                                      <p:cBhvr>
                                        <p:cTn id="46" dur="1000" fill="hold"/>
                                        <p:tgtEl>
                                          <p:spTgt spid="12"/>
                                        </p:tgtEl>
                                        <p:attrNameLst>
                                          <p:attrName>ppt_x</p:attrName>
                                        </p:attrNameLst>
                                      </p:cBhvr>
                                      <p:tavLst>
                                        <p:tav tm="0">
                                          <p:val>
                                            <p:strVal val="#ppt_x"/>
                                          </p:val>
                                        </p:tav>
                                        <p:tav tm="100000">
                                          <p:val>
                                            <p:strVal val="#ppt_x"/>
                                          </p:val>
                                        </p:tav>
                                      </p:tavLst>
                                    </p:anim>
                                    <p:anim calcmode="lin" valueType="num">
                                      <p:cBhvr>
                                        <p:cTn id="4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anim calcmode="lin" valueType="num">
                                      <p:cBhvr>
                                        <p:cTn id="53" dur="1000" fill="hold"/>
                                        <p:tgtEl>
                                          <p:spTgt spid="14"/>
                                        </p:tgtEl>
                                        <p:attrNameLst>
                                          <p:attrName>ppt_x</p:attrName>
                                        </p:attrNameLst>
                                      </p:cBhvr>
                                      <p:tavLst>
                                        <p:tav tm="0">
                                          <p:val>
                                            <p:strVal val="#ppt_x"/>
                                          </p:val>
                                        </p:tav>
                                        <p:tav tm="100000">
                                          <p:val>
                                            <p:strVal val="#ppt_x"/>
                                          </p:val>
                                        </p:tav>
                                      </p:tavLst>
                                    </p:anim>
                                    <p:anim calcmode="lin" valueType="num">
                                      <p:cBhvr>
                                        <p:cTn id="5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2" grpId="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5386" y="0"/>
            <a:ext cx="8239225" cy="523220"/>
          </a:xfrm>
          <a:prstGeom prst="rect">
            <a:avLst/>
          </a:prstGeom>
          <a:noFill/>
        </p:spPr>
        <p:txBody>
          <a:bodyPr wrap="square" rtlCol="0">
            <a:spAutoFit/>
          </a:bodyPr>
          <a:lstStyle/>
          <a:p>
            <a:pPr algn="ctr"/>
            <a:r>
              <a:rPr lang="ru-RU" sz="2800" b="1" dirty="0">
                <a:solidFill>
                  <a:srgbClr val="FF0000"/>
                </a:solidFill>
              </a:rPr>
              <a:t>Операции с нечеткими множествами</a:t>
            </a:r>
          </a:p>
        </p:txBody>
      </p:sp>
      <p:sp>
        <p:nvSpPr>
          <p:cNvPr id="5" name="TextBox 4"/>
          <p:cNvSpPr txBox="1"/>
          <p:nvPr/>
        </p:nvSpPr>
        <p:spPr>
          <a:xfrm>
            <a:off x="0" y="426968"/>
            <a:ext cx="8980371" cy="2246769"/>
          </a:xfrm>
          <a:prstGeom prst="rect">
            <a:avLst/>
          </a:prstGeom>
          <a:noFill/>
        </p:spPr>
        <p:txBody>
          <a:bodyPr wrap="square" rtlCol="0">
            <a:spAutoFit/>
          </a:bodyPr>
          <a:lstStyle/>
          <a:p>
            <a:r>
              <a:rPr lang="ru-RU" sz="2800" dirty="0"/>
              <a:t>Пусть на универсальном множестве </a:t>
            </a:r>
            <a:r>
              <a:rPr lang="en-US" sz="2800" i="1" dirty="0"/>
              <a:t>U</a:t>
            </a:r>
            <a:r>
              <a:rPr lang="ru-RU" sz="2800" dirty="0"/>
              <a:t> заданы следую-</a:t>
            </a:r>
            <a:r>
              <a:rPr lang="ru-RU" sz="2800" dirty="0" err="1"/>
              <a:t>щие</a:t>
            </a:r>
            <a:r>
              <a:rPr lang="ru-RU" sz="2800" dirty="0"/>
              <a:t> нечеткие подмножества: </a:t>
            </a:r>
            <a:endParaRPr lang="en-US" sz="2800" dirty="0"/>
          </a:p>
          <a:p>
            <a:r>
              <a:rPr lang="en-US" sz="2800" i="1" dirty="0"/>
              <a:t>A</a:t>
            </a:r>
            <a:r>
              <a:rPr lang="en-US" sz="2800" dirty="0"/>
              <a:t> </a:t>
            </a:r>
            <a:r>
              <a:rPr lang="ru-RU" sz="2800" dirty="0"/>
              <a:t>= {0,4/</a:t>
            </a:r>
            <a:r>
              <a:rPr lang="en-US" sz="2800" i="1" dirty="0"/>
              <a:t>x</a:t>
            </a:r>
            <a:r>
              <a:rPr lang="ru-RU" sz="2800" baseline="-25000" dirty="0"/>
              <a:t>1</a:t>
            </a:r>
            <a:r>
              <a:rPr lang="ru-RU" sz="2800" dirty="0"/>
              <a:t>, 0,2/</a:t>
            </a:r>
            <a:r>
              <a:rPr lang="en-US" sz="2800" i="1" dirty="0"/>
              <a:t>x</a:t>
            </a:r>
            <a:r>
              <a:rPr lang="ru-RU" sz="2800" baseline="-25000" dirty="0"/>
              <a:t>2</a:t>
            </a:r>
            <a:r>
              <a:rPr lang="ru-RU" sz="2800" dirty="0"/>
              <a:t>, 0/</a:t>
            </a:r>
            <a:r>
              <a:rPr lang="en-US" sz="2800" i="1" dirty="0"/>
              <a:t>x</a:t>
            </a:r>
            <a:r>
              <a:rPr lang="ru-RU" sz="2800" baseline="-25000" dirty="0"/>
              <a:t>3</a:t>
            </a:r>
            <a:r>
              <a:rPr lang="ru-RU" sz="2800" dirty="0"/>
              <a:t>, 1/</a:t>
            </a:r>
            <a:r>
              <a:rPr lang="en-US" sz="2800" i="1" dirty="0"/>
              <a:t>x</a:t>
            </a:r>
            <a:r>
              <a:rPr lang="ru-RU" sz="2800" baseline="-25000" dirty="0"/>
              <a:t>4</a:t>
            </a:r>
            <a:r>
              <a:rPr lang="ru-RU" sz="2800" dirty="0"/>
              <a:t>}; </a:t>
            </a:r>
            <a:endParaRPr lang="en-US" sz="2800" dirty="0"/>
          </a:p>
          <a:p>
            <a:r>
              <a:rPr lang="en-US" sz="2800" i="1" dirty="0"/>
              <a:t>B</a:t>
            </a:r>
            <a:r>
              <a:rPr lang="en-US" sz="2800" dirty="0"/>
              <a:t> </a:t>
            </a:r>
            <a:r>
              <a:rPr lang="ru-RU" sz="2800" dirty="0"/>
              <a:t>= {0,7/</a:t>
            </a:r>
            <a:r>
              <a:rPr lang="en-US" sz="2800" i="1" dirty="0"/>
              <a:t>x</a:t>
            </a:r>
            <a:r>
              <a:rPr lang="ru-RU" sz="2800" baseline="-25000" dirty="0"/>
              <a:t>1</a:t>
            </a:r>
            <a:r>
              <a:rPr lang="ru-RU" sz="2800" dirty="0"/>
              <a:t>, 0,9/</a:t>
            </a:r>
            <a:r>
              <a:rPr lang="en-US" sz="2800" i="1" dirty="0"/>
              <a:t>x</a:t>
            </a:r>
            <a:r>
              <a:rPr lang="ru-RU" sz="2800" baseline="-25000" dirty="0"/>
              <a:t>2</a:t>
            </a:r>
            <a:r>
              <a:rPr lang="ru-RU" sz="2800" dirty="0"/>
              <a:t>, 0,1/</a:t>
            </a:r>
            <a:r>
              <a:rPr lang="en-US" sz="2800" i="1" dirty="0"/>
              <a:t>x</a:t>
            </a:r>
            <a:r>
              <a:rPr lang="ru-RU" sz="2800" baseline="-25000" dirty="0"/>
              <a:t>3</a:t>
            </a:r>
            <a:r>
              <a:rPr lang="ru-RU" sz="2800" dirty="0"/>
              <a:t>, 1/</a:t>
            </a:r>
            <a:r>
              <a:rPr lang="en-US" sz="2800" i="1" dirty="0"/>
              <a:t>x</a:t>
            </a:r>
            <a:r>
              <a:rPr lang="ru-RU" sz="2800" baseline="-25000" dirty="0"/>
              <a:t>4</a:t>
            </a:r>
            <a:r>
              <a:rPr lang="ru-RU" sz="2800" dirty="0"/>
              <a:t>};</a:t>
            </a:r>
            <a:endParaRPr lang="en-US" sz="2800" dirty="0"/>
          </a:p>
          <a:p>
            <a:r>
              <a:rPr lang="ru-RU" sz="2800" dirty="0"/>
              <a:t> </a:t>
            </a:r>
            <a:r>
              <a:rPr lang="en-US" sz="2800" i="1" dirty="0"/>
              <a:t>C</a:t>
            </a:r>
            <a:r>
              <a:rPr lang="en-US" sz="2800" dirty="0"/>
              <a:t> </a:t>
            </a:r>
            <a:r>
              <a:rPr lang="ru-RU" sz="2800" dirty="0"/>
              <a:t>= {0,1/</a:t>
            </a:r>
            <a:r>
              <a:rPr lang="en-US" sz="2800" i="1" dirty="0"/>
              <a:t>x</a:t>
            </a:r>
            <a:r>
              <a:rPr lang="ru-RU" sz="2800" baseline="-25000" dirty="0"/>
              <a:t>1</a:t>
            </a:r>
            <a:r>
              <a:rPr lang="ru-RU" sz="2800" dirty="0"/>
              <a:t>, 1/</a:t>
            </a:r>
            <a:r>
              <a:rPr lang="en-US" sz="2800" i="1" dirty="0"/>
              <a:t>x</a:t>
            </a:r>
            <a:r>
              <a:rPr lang="ru-RU" sz="2800" baseline="-25000" dirty="0"/>
              <a:t>2 </a:t>
            </a:r>
            <a:r>
              <a:rPr lang="ru-RU" sz="2800" dirty="0"/>
              <a:t>, 0,2/</a:t>
            </a:r>
            <a:r>
              <a:rPr lang="en-US" sz="2800" i="1" dirty="0"/>
              <a:t>x</a:t>
            </a:r>
            <a:r>
              <a:rPr lang="ru-RU" sz="2800" baseline="-25000" dirty="0"/>
              <a:t>3</a:t>
            </a:r>
            <a:r>
              <a:rPr lang="ru-RU" sz="2800" dirty="0"/>
              <a:t>, 0,9/</a:t>
            </a:r>
            <a:r>
              <a:rPr lang="en-US" sz="2800" i="1" dirty="0"/>
              <a:t>x</a:t>
            </a:r>
            <a:r>
              <a:rPr lang="ru-RU" sz="2800" baseline="-25000" dirty="0"/>
              <a:t>4</a:t>
            </a:r>
            <a:r>
              <a:rPr lang="ru-RU" sz="2800" dirty="0"/>
              <a:t>}.</a:t>
            </a:r>
          </a:p>
        </p:txBody>
      </p:sp>
      <p:sp>
        <p:nvSpPr>
          <p:cNvPr id="6" name="TextBox 5"/>
          <p:cNvSpPr txBox="1"/>
          <p:nvPr/>
        </p:nvSpPr>
        <p:spPr>
          <a:xfrm>
            <a:off x="0" y="2480076"/>
            <a:ext cx="9076623" cy="1384995"/>
          </a:xfrm>
          <a:prstGeom prst="rect">
            <a:avLst/>
          </a:prstGeom>
          <a:noFill/>
        </p:spPr>
        <p:txBody>
          <a:bodyPr wrap="square" rtlCol="0">
            <a:spAutoFit/>
          </a:bodyPr>
          <a:lstStyle/>
          <a:p>
            <a:r>
              <a:rPr lang="ru-RU" sz="2800" b="1" dirty="0"/>
              <a:t>Дополнение </a:t>
            </a:r>
            <a:r>
              <a:rPr lang="ru-RU" sz="2800" dirty="0"/>
              <a:t>нечеткого множества </a:t>
            </a:r>
            <a:r>
              <a:rPr lang="ru-RU" sz="2800" i="1" dirty="0"/>
              <a:t>А</a:t>
            </a:r>
            <a:r>
              <a:rPr lang="ru-RU" sz="2800" dirty="0"/>
              <a:t> — нечеткое </a:t>
            </a:r>
            <a:r>
              <a:rPr lang="ru-RU" sz="2800" dirty="0" err="1"/>
              <a:t>множе-ство</a:t>
            </a:r>
            <a:r>
              <a:rPr lang="en-US" sz="2800" dirty="0"/>
              <a:t> </a:t>
            </a:r>
            <a:r>
              <a:rPr lang="ru-RU" sz="2800" dirty="0"/>
              <a:t>          с функцией принадлежности </a:t>
            </a:r>
          </a:p>
          <a:p>
            <a:r>
              <a:rPr lang="ru-RU" sz="2800" dirty="0"/>
              <a:t>            = 1 – µ</a:t>
            </a:r>
            <a:r>
              <a:rPr lang="en-US" sz="2800" baseline="-25000" dirty="0"/>
              <a:t>A</a:t>
            </a:r>
            <a:r>
              <a:rPr lang="ru-RU" sz="2800" dirty="0"/>
              <a:t>(</a:t>
            </a:r>
            <a:r>
              <a:rPr lang="en-US" sz="2800" i="1" dirty="0"/>
              <a:t>x</a:t>
            </a:r>
            <a:r>
              <a:rPr lang="ru-RU" sz="2800" dirty="0"/>
              <a:t>) </a:t>
            </a:r>
            <a:r>
              <a:rPr lang="en-US" sz="2800" dirty="0">
                <a:sym typeface="Symbol" panose="05050102010706020507" pitchFamily="18" charset="2"/>
              </a:rPr>
              <a:t></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 </a:t>
            </a:r>
          </a:p>
        </p:txBody>
      </p:sp>
      <p:sp>
        <p:nvSpPr>
          <p:cNvPr id="12" name="Rectangle 7"/>
          <p:cNvSpPr>
            <a:spLocks noChangeArrowheads="1"/>
          </p:cNvSpPr>
          <p:nvPr/>
        </p:nvSpPr>
        <p:spPr bwMode="auto">
          <a:xfrm>
            <a:off x="0" y="-90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3" name="Объект 12"/>
          <p:cNvGraphicFramePr>
            <a:graphicFrameLocks noChangeAspect="1"/>
          </p:cNvGraphicFramePr>
          <p:nvPr>
            <p:extLst>
              <p:ext uri="{D42A27DB-BD31-4B8C-83A1-F6EECF244321}">
                <p14:modId xmlns:p14="http://schemas.microsoft.com/office/powerpoint/2010/main" val="163460827"/>
              </p:ext>
            </p:extLst>
          </p:nvPr>
        </p:nvGraphicFramePr>
        <p:xfrm>
          <a:off x="1061876" y="2865691"/>
          <a:ext cx="403003" cy="546933"/>
        </p:xfrm>
        <a:graphic>
          <a:graphicData uri="http://schemas.openxmlformats.org/presentationml/2006/ole">
            <mc:AlternateContent xmlns:mc="http://schemas.openxmlformats.org/markup-compatibility/2006">
              <mc:Choice xmlns:v="urn:schemas-microsoft-com:vml" Requires="v">
                <p:oleObj r:id="rId2" imgW="139579" imgH="177646" progId="">
                  <p:embed/>
                </p:oleObj>
              </mc:Choice>
              <mc:Fallback>
                <p:oleObj r:id="rId2" imgW="139579" imgH="177646" progId="">
                  <p:embed/>
                  <p:pic>
                    <p:nvPicPr>
                      <p:cNvPr id="0"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876" y="2865691"/>
                        <a:ext cx="403003" cy="546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p:nvSpPr>
        <p:spPr bwMode="auto">
          <a:xfrm>
            <a:off x="2396691" y="3761980"/>
            <a:ext cx="198441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15" name="Объект 14"/>
          <p:cNvGraphicFramePr>
            <a:graphicFrameLocks noChangeAspect="1"/>
          </p:cNvGraphicFramePr>
          <p:nvPr>
            <p:extLst>
              <p:ext uri="{D42A27DB-BD31-4B8C-83A1-F6EECF244321}">
                <p14:modId xmlns:p14="http://schemas.microsoft.com/office/powerpoint/2010/main" val="1862503432"/>
              </p:ext>
            </p:extLst>
          </p:nvPr>
        </p:nvGraphicFramePr>
        <p:xfrm>
          <a:off x="55399" y="3296611"/>
          <a:ext cx="1006477" cy="613706"/>
        </p:xfrm>
        <a:graphic>
          <a:graphicData uri="http://schemas.openxmlformats.org/presentationml/2006/ole">
            <mc:AlternateContent xmlns:mc="http://schemas.openxmlformats.org/markup-compatibility/2006">
              <mc:Choice xmlns:v="urn:schemas-microsoft-com:vml" Requires="v">
                <p:oleObj name="Уравнение" r:id="rId4" imgW="393529" imgH="241195" progId="Equation.3">
                  <p:embed/>
                </p:oleObj>
              </mc:Choice>
              <mc:Fallback>
                <p:oleObj name="Уравнение" r:id="rId4" imgW="393529" imgH="241195" progId="Equation.3">
                  <p:embed/>
                  <p:pic>
                    <p:nvPicPr>
                      <p:cNvPr id="0" name="Picture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99" y="3296611"/>
                        <a:ext cx="1006477" cy="6137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Объект 15"/>
          <p:cNvGraphicFramePr>
            <a:graphicFrameLocks noChangeAspect="1"/>
          </p:cNvGraphicFramePr>
          <p:nvPr>
            <p:extLst>
              <p:ext uri="{D42A27DB-BD31-4B8C-83A1-F6EECF244321}">
                <p14:modId xmlns:p14="http://schemas.microsoft.com/office/powerpoint/2010/main" val="1082804950"/>
              </p:ext>
            </p:extLst>
          </p:nvPr>
        </p:nvGraphicFramePr>
        <p:xfrm>
          <a:off x="334704" y="4344183"/>
          <a:ext cx="403003" cy="546933"/>
        </p:xfrm>
        <a:graphic>
          <a:graphicData uri="http://schemas.openxmlformats.org/presentationml/2006/ole">
            <mc:AlternateContent xmlns:mc="http://schemas.openxmlformats.org/markup-compatibility/2006">
              <mc:Choice xmlns:v="urn:schemas-microsoft-com:vml" Requires="v">
                <p:oleObj r:id="rId6" imgW="139579" imgH="177646" progId="">
                  <p:embed/>
                </p:oleObj>
              </mc:Choice>
              <mc:Fallback>
                <p:oleObj r:id="rId6" imgW="139579" imgH="177646" progId="">
                  <p:embed/>
                  <p:pic>
                    <p:nvPicPr>
                      <p:cNvPr id="0"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704" y="4344183"/>
                        <a:ext cx="403003" cy="546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311563" y="3958559"/>
            <a:ext cx="9144000" cy="1815882"/>
          </a:xfrm>
          <a:prstGeom prst="rect">
            <a:avLst/>
          </a:prstGeom>
          <a:noFill/>
        </p:spPr>
        <p:txBody>
          <a:bodyPr wrap="square" rtlCol="0">
            <a:spAutoFit/>
          </a:bodyPr>
          <a:lstStyle/>
          <a:p>
            <a:r>
              <a:rPr lang="ru-RU" sz="2800" dirty="0"/>
              <a:t>Для наших данных имеем: </a:t>
            </a:r>
          </a:p>
          <a:p>
            <a:r>
              <a:rPr lang="ru-RU" sz="2800" dirty="0"/>
              <a:t>    </a:t>
            </a:r>
            <a:r>
              <a:rPr lang="en-US" sz="2800" dirty="0"/>
              <a:t> </a:t>
            </a:r>
            <a:r>
              <a:rPr lang="ru-RU" sz="2800" dirty="0"/>
              <a:t>= {0,6/</a:t>
            </a:r>
            <a:r>
              <a:rPr lang="en-US" sz="2800" i="1" dirty="0"/>
              <a:t>x</a:t>
            </a:r>
            <a:r>
              <a:rPr lang="ru-RU" sz="2800" baseline="-25000" dirty="0"/>
              <a:t>1</a:t>
            </a:r>
            <a:r>
              <a:rPr lang="ru-RU" sz="2800" dirty="0"/>
              <a:t>, 0,8/</a:t>
            </a:r>
            <a:r>
              <a:rPr lang="en-US" sz="2800" i="1" dirty="0"/>
              <a:t>x</a:t>
            </a:r>
            <a:r>
              <a:rPr lang="ru-RU" sz="2800" baseline="-25000" dirty="0"/>
              <a:t>2</a:t>
            </a:r>
            <a:r>
              <a:rPr lang="ru-RU" sz="2800" dirty="0"/>
              <a:t>, 1/</a:t>
            </a:r>
            <a:r>
              <a:rPr lang="en-US" sz="2800" i="1" dirty="0"/>
              <a:t>x</a:t>
            </a:r>
            <a:r>
              <a:rPr lang="ru-RU" sz="2800" baseline="-25000" dirty="0"/>
              <a:t>3</a:t>
            </a:r>
            <a:r>
              <a:rPr lang="ru-RU" sz="2800" dirty="0"/>
              <a:t>, 0/</a:t>
            </a:r>
            <a:r>
              <a:rPr lang="en-US" sz="2800" i="1" dirty="0"/>
              <a:t>x</a:t>
            </a:r>
            <a:r>
              <a:rPr lang="ru-RU" sz="2800" baseline="-25000" dirty="0"/>
              <a:t>4</a:t>
            </a:r>
            <a:r>
              <a:rPr lang="ru-RU" sz="2800" dirty="0"/>
              <a:t>};</a:t>
            </a:r>
          </a:p>
          <a:p>
            <a:r>
              <a:rPr lang="ru-RU" sz="2800" dirty="0"/>
              <a:t>     = {0,3/</a:t>
            </a:r>
            <a:r>
              <a:rPr lang="en-US" sz="2800" i="1" dirty="0"/>
              <a:t>x</a:t>
            </a:r>
            <a:r>
              <a:rPr lang="ru-RU" sz="2800" baseline="-25000" dirty="0"/>
              <a:t>1</a:t>
            </a:r>
            <a:r>
              <a:rPr lang="ru-RU" sz="2800" dirty="0"/>
              <a:t>, 0,1/</a:t>
            </a:r>
            <a:r>
              <a:rPr lang="en-US" sz="2800" i="1" dirty="0"/>
              <a:t>x</a:t>
            </a:r>
            <a:r>
              <a:rPr lang="ru-RU" sz="2800" baseline="-25000" dirty="0"/>
              <a:t>2</a:t>
            </a:r>
            <a:r>
              <a:rPr lang="ru-RU" sz="2800" dirty="0"/>
              <a:t>, 0,9/</a:t>
            </a:r>
            <a:r>
              <a:rPr lang="en-US" sz="2800" i="1" dirty="0"/>
              <a:t>x</a:t>
            </a:r>
            <a:r>
              <a:rPr lang="ru-RU" sz="2800" baseline="-25000" dirty="0"/>
              <a:t>3</a:t>
            </a:r>
            <a:r>
              <a:rPr lang="ru-RU" sz="2800" dirty="0"/>
              <a:t>, 0/</a:t>
            </a:r>
            <a:r>
              <a:rPr lang="en-US" sz="2800" i="1" dirty="0"/>
              <a:t>x</a:t>
            </a:r>
            <a:r>
              <a:rPr lang="ru-RU" sz="2800" baseline="-25000" dirty="0"/>
              <a:t>4</a:t>
            </a:r>
            <a:r>
              <a:rPr lang="ru-RU" sz="2800" dirty="0"/>
              <a:t>};     </a:t>
            </a:r>
          </a:p>
          <a:p>
            <a:r>
              <a:rPr lang="ru-RU" sz="2800" dirty="0"/>
              <a:t>     = {0,9/</a:t>
            </a:r>
            <a:r>
              <a:rPr lang="en-US" sz="2800" i="1" dirty="0"/>
              <a:t>x</a:t>
            </a:r>
            <a:r>
              <a:rPr lang="ru-RU" sz="2800" baseline="-25000" dirty="0"/>
              <a:t>1</a:t>
            </a:r>
            <a:r>
              <a:rPr lang="ru-RU" sz="2800" dirty="0"/>
              <a:t>, 0/</a:t>
            </a:r>
            <a:r>
              <a:rPr lang="en-US" sz="2800" i="1" dirty="0"/>
              <a:t>x</a:t>
            </a:r>
            <a:r>
              <a:rPr lang="ru-RU" sz="2800" baseline="-25000" dirty="0"/>
              <a:t>2</a:t>
            </a:r>
            <a:r>
              <a:rPr lang="ru-RU" sz="2800" dirty="0"/>
              <a:t>, 0,8/</a:t>
            </a:r>
            <a:r>
              <a:rPr lang="en-US" sz="2800" i="1" dirty="0"/>
              <a:t>x</a:t>
            </a:r>
            <a:r>
              <a:rPr lang="ru-RU" sz="2800" baseline="-25000" dirty="0"/>
              <a:t>3</a:t>
            </a:r>
            <a:r>
              <a:rPr lang="ru-RU" sz="2800" dirty="0"/>
              <a:t>, 0,1/</a:t>
            </a:r>
            <a:r>
              <a:rPr lang="en-US" sz="2800" i="1" dirty="0"/>
              <a:t>x</a:t>
            </a:r>
            <a:r>
              <a:rPr lang="ru-RU" sz="2800" baseline="-25000" dirty="0"/>
              <a:t>4</a:t>
            </a:r>
            <a:r>
              <a:rPr lang="ru-RU" sz="2800" dirty="0"/>
              <a:t>}. </a:t>
            </a:r>
          </a:p>
        </p:txBody>
      </p:sp>
      <p:sp>
        <p:nvSpPr>
          <p:cNvPr id="26" name="Rectangle 21"/>
          <p:cNvSpPr>
            <a:spLocks noChangeArrowheads="1"/>
          </p:cNvSpPr>
          <p:nvPr/>
        </p:nvSpPr>
        <p:spPr bwMode="auto">
          <a:xfrm>
            <a:off x="1617043" y="5156578"/>
            <a:ext cx="2310061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27" name="Объект 26"/>
          <p:cNvGraphicFramePr>
            <a:graphicFrameLocks noChangeAspect="1"/>
          </p:cNvGraphicFramePr>
          <p:nvPr>
            <p:extLst>
              <p:ext uri="{D42A27DB-BD31-4B8C-83A1-F6EECF244321}">
                <p14:modId xmlns:p14="http://schemas.microsoft.com/office/powerpoint/2010/main" val="3787993869"/>
              </p:ext>
            </p:extLst>
          </p:nvPr>
        </p:nvGraphicFramePr>
        <p:xfrm>
          <a:off x="390196" y="4858848"/>
          <a:ext cx="336884" cy="457200"/>
        </p:xfrm>
        <a:graphic>
          <a:graphicData uri="http://schemas.openxmlformats.org/presentationml/2006/ole">
            <mc:AlternateContent xmlns:mc="http://schemas.openxmlformats.org/markup-compatibility/2006">
              <mc:Choice xmlns:v="urn:schemas-microsoft-com:vml" Requires="v">
                <p:oleObj r:id="rId8" imgW="139579" imgH="177646" progId="">
                  <p:embed/>
                </p:oleObj>
              </mc:Choice>
              <mc:Fallback>
                <p:oleObj r:id="rId8" imgW="139579" imgH="177646" progId="">
                  <p:embed/>
                  <p:pic>
                    <p:nvPicPr>
                      <p:cNvPr id="0" name="Picture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196" y="4858848"/>
                        <a:ext cx="336884"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23"/>
          <p:cNvSpPr>
            <a:spLocks noChangeArrowheads="1"/>
          </p:cNvSpPr>
          <p:nvPr/>
        </p:nvSpPr>
        <p:spPr bwMode="auto">
          <a:xfrm>
            <a:off x="1915427" y="5293368"/>
            <a:ext cx="1905804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29" name="Объект 28"/>
          <p:cNvGraphicFramePr>
            <a:graphicFrameLocks noChangeAspect="1"/>
          </p:cNvGraphicFramePr>
          <p:nvPr>
            <p:extLst>
              <p:ext uri="{D42A27DB-BD31-4B8C-83A1-F6EECF244321}">
                <p14:modId xmlns:p14="http://schemas.microsoft.com/office/powerpoint/2010/main" val="557506018"/>
              </p:ext>
            </p:extLst>
          </p:nvPr>
        </p:nvGraphicFramePr>
        <p:xfrm>
          <a:off x="370944" y="5283623"/>
          <a:ext cx="317634" cy="456599"/>
        </p:xfrm>
        <a:graphic>
          <a:graphicData uri="http://schemas.openxmlformats.org/presentationml/2006/ole">
            <mc:AlternateContent xmlns:mc="http://schemas.openxmlformats.org/markup-compatibility/2006">
              <mc:Choice xmlns:v="urn:schemas-microsoft-com:vml" Requires="v">
                <p:oleObj name="Уравнение" r:id="rId10" imgW="152268" imgH="215713" progId="Equation.3">
                  <p:embed/>
                </p:oleObj>
              </mc:Choice>
              <mc:Fallback>
                <p:oleObj name="Уравнение" r:id="rId10" imgW="152268" imgH="215713" progId="Equation.3">
                  <p:embed/>
                  <p:pic>
                    <p:nvPicPr>
                      <p:cNvPr id="0" name="Picture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944" y="5283623"/>
                        <a:ext cx="317634" cy="456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5852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1000"/>
                                        <p:tgtEl>
                                          <p:spTgt spid="27"/>
                                        </p:tgtEl>
                                      </p:cBhvr>
                                    </p:animEffect>
                                    <p:anim calcmode="lin" valueType="num">
                                      <p:cBhvr>
                                        <p:cTn id="42" dur="1000" fill="hold"/>
                                        <p:tgtEl>
                                          <p:spTgt spid="27"/>
                                        </p:tgtEl>
                                        <p:attrNameLst>
                                          <p:attrName>ppt_x</p:attrName>
                                        </p:attrNameLst>
                                      </p:cBhvr>
                                      <p:tavLst>
                                        <p:tav tm="0">
                                          <p:val>
                                            <p:strVal val="#ppt_x"/>
                                          </p:val>
                                        </p:tav>
                                        <p:tav tm="100000">
                                          <p:val>
                                            <p:strVal val="#ppt_x"/>
                                          </p:val>
                                        </p:tav>
                                      </p:tavLst>
                                    </p:anim>
                                    <p:anim calcmode="lin" valueType="num">
                                      <p:cBhvr>
                                        <p:cTn id="43" dur="1000" fill="hold"/>
                                        <p:tgtEl>
                                          <p:spTgt spid="27"/>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1000"/>
                                        <p:tgtEl>
                                          <p:spTgt spid="29"/>
                                        </p:tgtEl>
                                      </p:cBhvr>
                                    </p:animEffect>
                                    <p:anim calcmode="lin" valueType="num">
                                      <p:cBhvr>
                                        <p:cTn id="47" dur="1000" fill="hold"/>
                                        <p:tgtEl>
                                          <p:spTgt spid="29"/>
                                        </p:tgtEl>
                                        <p:attrNameLst>
                                          <p:attrName>ppt_x</p:attrName>
                                        </p:attrNameLst>
                                      </p:cBhvr>
                                      <p:tavLst>
                                        <p:tav tm="0">
                                          <p:val>
                                            <p:strVal val="#ppt_x"/>
                                          </p:val>
                                        </p:tav>
                                        <p:tav tm="100000">
                                          <p:val>
                                            <p:strVal val="#ppt_x"/>
                                          </p:val>
                                        </p:tav>
                                      </p:tavLst>
                                    </p:anim>
                                    <p:anim calcmode="lin" valueType="num">
                                      <p:cBhvr>
                                        <p:cTn id="4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19" y="0"/>
            <a:ext cx="9072081" cy="1384995"/>
          </a:xfrm>
          <a:prstGeom prst="rect">
            <a:avLst/>
          </a:prstGeom>
          <a:noFill/>
        </p:spPr>
        <p:txBody>
          <a:bodyPr wrap="square" rtlCol="0">
            <a:spAutoFit/>
          </a:bodyPr>
          <a:lstStyle/>
          <a:p>
            <a:r>
              <a:rPr lang="ru-RU" sz="2800" b="1" dirty="0"/>
              <a:t>Пересечение</a:t>
            </a:r>
            <a:r>
              <a:rPr lang="ru-RU" sz="2800" b="1" i="1" dirty="0"/>
              <a:t> </a:t>
            </a:r>
            <a:r>
              <a:rPr lang="ru-RU" sz="2800" dirty="0"/>
              <a:t>нечетких множеств </a:t>
            </a:r>
            <a:r>
              <a:rPr lang="en-US" sz="2800" i="1" dirty="0"/>
              <a:t>A</a:t>
            </a:r>
            <a:r>
              <a:rPr lang="en-US" sz="2800" dirty="0"/>
              <a:t> </a:t>
            </a:r>
            <a:r>
              <a:rPr lang="ru-RU" sz="2800" dirty="0"/>
              <a:t>и </a:t>
            </a:r>
            <a:r>
              <a:rPr lang="en-US" sz="2800" i="1" dirty="0"/>
              <a:t>B</a:t>
            </a:r>
            <a:r>
              <a:rPr lang="en-US" sz="2800" dirty="0"/>
              <a:t> </a:t>
            </a:r>
            <a:r>
              <a:rPr lang="ru-RU" sz="2800" dirty="0"/>
              <a:t>— нечеткое </a:t>
            </a:r>
            <a:r>
              <a:rPr lang="ru-RU" sz="2800" dirty="0" err="1"/>
              <a:t>мно</a:t>
            </a:r>
            <a:r>
              <a:rPr lang="en-US" sz="2800" dirty="0"/>
              <a:t>-</a:t>
            </a:r>
            <a:r>
              <a:rPr lang="ru-RU" sz="2800" dirty="0" err="1"/>
              <a:t>жество</a:t>
            </a:r>
            <a:r>
              <a:rPr lang="ru-RU" sz="2800" dirty="0"/>
              <a:t> </a:t>
            </a:r>
            <a:r>
              <a:rPr lang="en-US" sz="2800" i="1" dirty="0"/>
              <a:t>D </a:t>
            </a:r>
            <a:r>
              <a:rPr lang="ru-RU" sz="2800" i="1" dirty="0"/>
              <a:t>= </a:t>
            </a:r>
            <a:r>
              <a:rPr lang="en-US" sz="2800" i="1" dirty="0"/>
              <a:t>A </a:t>
            </a:r>
            <a:r>
              <a:rPr lang="ru-RU" sz="2800" dirty="0">
                <a:sym typeface="Symbol" panose="05050102010706020507" pitchFamily="18" charset="2"/>
              </a:rPr>
              <a:t></a:t>
            </a:r>
            <a:r>
              <a:rPr lang="ru-RU" sz="2800" dirty="0"/>
              <a:t> </a:t>
            </a:r>
            <a:r>
              <a:rPr lang="en-US" sz="2800" i="1" dirty="0"/>
              <a:t>B</a:t>
            </a:r>
            <a:r>
              <a:rPr lang="en-US" sz="2800" dirty="0"/>
              <a:t> </a:t>
            </a:r>
            <a:r>
              <a:rPr lang="ru-RU" sz="2800" dirty="0"/>
              <a:t>с функцией принадлежности  </a:t>
            </a:r>
            <a:endParaRPr lang="en-US" sz="2800" dirty="0"/>
          </a:p>
          <a:p>
            <a:r>
              <a:rPr lang="ru-RU" sz="2800" dirty="0"/>
              <a:t>µ</a:t>
            </a:r>
            <a:r>
              <a:rPr lang="en-US" sz="2800" i="1" baseline="-25000" dirty="0"/>
              <a:t>D</a:t>
            </a:r>
            <a:r>
              <a:rPr lang="ru-RU" sz="2800" dirty="0"/>
              <a:t>(</a:t>
            </a:r>
            <a:r>
              <a:rPr lang="en-US" sz="2800" i="1" dirty="0"/>
              <a:t>x</a:t>
            </a:r>
            <a:r>
              <a:rPr lang="ru-RU" sz="2800" dirty="0"/>
              <a:t>) = </a:t>
            </a:r>
            <a:r>
              <a:rPr lang="en-US" sz="2800" dirty="0"/>
              <a:t>min</a:t>
            </a:r>
            <a:r>
              <a:rPr lang="ru-RU" sz="2800" dirty="0"/>
              <a:t>(µ</a:t>
            </a:r>
            <a:r>
              <a:rPr lang="en-US" sz="2800" i="1" baseline="-25000" dirty="0"/>
              <a:t>A</a:t>
            </a:r>
            <a:r>
              <a:rPr lang="ru-RU" sz="2800" dirty="0"/>
              <a:t>(</a:t>
            </a:r>
            <a:r>
              <a:rPr lang="en-US" sz="2800" i="1" dirty="0"/>
              <a:t>x</a:t>
            </a:r>
            <a:r>
              <a:rPr lang="ru-RU" sz="2800" dirty="0"/>
              <a:t>), µ</a:t>
            </a:r>
            <a:r>
              <a:rPr lang="en-US" sz="2800" i="1" baseline="-25000" dirty="0"/>
              <a:t>B</a:t>
            </a:r>
            <a:r>
              <a:rPr lang="ru-RU" sz="2800" dirty="0"/>
              <a:t>(</a:t>
            </a:r>
            <a:r>
              <a:rPr lang="en-US" sz="2800" i="1" dirty="0"/>
              <a:t>x</a:t>
            </a:r>
            <a:r>
              <a:rPr lang="ru-RU" sz="2800" dirty="0"/>
              <a:t>)) </a:t>
            </a:r>
            <a:r>
              <a:rPr lang="en-US" sz="2800" dirty="0">
                <a:sym typeface="Symbol" panose="05050102010706020507" pitchFamily="18" charset="2"/>
              </a:rPr>
              <a:t></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a:t>
            </a:r>
          </a:p>
        </p:txBody>
      </p:sp>
      <p:sp>
        <p:nvSpPr>
          <p:cNvPr id="3" name="TextBox 2"/>
          <p:cNvSpPr txBox="1"/>
          <p:nvPr/>
        </p:nvSpPr>
        <p:spPr>
          <a:xfrm>
            <a:off x="71919" y="1253447"/>
            <a:ext cx="8979614" cy="1815882"/>
          </a:xfrm>
          <a:prstGeom prst="rect">
            <a:avLst/>
          </a:prstGeom>
          <a:noFill/>
        </p:spPr>
        <p:txBody>
          <a:bodyPr wrap="square" rtlCol="0">
            <a:spAutoFit/>
          </a:bodyPr>
          <a:lstStyle/>
          <a:p>
            <a:r>
              <a:rPr lang="ru-RU" sz="2800" dirty="0"/>
              <a:t>Для наших данных имеем: </a:t>
            </a:r>
            <a:endParaRPr lang="en-US" sz="2800" dirty="0"/>
          </a:p>
          <a:p>
            <a:r>
              <a:rPr lang="en-US" sz="2800" i="1" dirty="0"/>
              <a:t>A </a:t>
            </a:r>
            <a:r>
              <a:rPr lang="ru-RU" sz="2800" dirty="0">
                <a:sym typeface="Symbol" panose="05050102010706020507" pitchFamily="18" charset="2"/>
              </a:rPr>
              <a:t></a:t>
            </a:r>
            <a:r>
              <a:rPr lang="ru-RU" sz="2800" dirty="0"/>
              <a:t> </a:t>
            </a:r>
            <a:r>
              <a:rPr lang="en-US" sz="2800" i="1" dirty="0"/>
              <a:t>B</a:t>
            </a:r>
            <a:r>
              <a:rPr lang="en-US" sz="2800" dirty="0"/>
              <a:t> </a:t>
            </a:r>
            <a:r>
              <a:rPr lang="ru-RU" sz="2800" dirty="0"/>
              <a:t>= {0,4/</a:t>
            </a:r>
            <a:r>
              <a:rPr lang="en-US" sz="2800" i="1" dirty="0"/>
              <a:t>x</a:t>
            </a:r>
            <a:r>
              <a:rPr lang="ru-RU" sz="2800" baseline="-25000" dirty="0"/>
              <a:t>1</a:t>
            </a:r>
            <a:r>
              <a:rPr lang="ru-RU" sz="2800" dirty="0"/>
              <a:t> , 0,2/</a:t>
            </a:r>
            <a:r>
              <a:rPr lang="en-US" sz="2800" i="1" dirty="0"/>
              <a:t>x</a:t>
            </a:r>
            <a:r>
              <a:rPr lang="ru-RU" sz="2800" baseline="-25000" dirty="0"/>
              <a:t>2</a:t>
            </a:r>
            <a:r>
              <a:rPr lang="ru-RU" sz="2800" dirty="0"/>
              <a:t>, 0/</a:t>
            </a:r>
            <a:r>
              <a:rPr lang="en-US" sz="2800" i="1" dirty="0"/>
              <a:t>x</a:t>
            </a:r>
            <a:r>
              <a:rPr lang="ru-RU" sz="2800" baseline="-25000" dirty="0"/>
              <a:t>3</a:t>
            </a:r>
            <a:r>
              <a:rPr lang="ru-RU" sz="2800" dirty="0"/>
              <a:t>, 1/</a:t>
            </a:r>
            <a:r>
              <a:rPr lang="en-US" sz="2800" i="1" dirty="0"/>
              <a:t>x</a:t>
            </a:r>
            <a:r>
              <a:rPr lang="ru-RU" sz="2800" baseline="-25000" dirty="0"/>
              <a:t>4</a:t>
            </a:r>
            <a:r>
              <a:rPr lang="ru-RU" sz="2800" dirty="0"/>
              <a:t>}; </a:t>
            </a:r>
            <a:endParaRPr lang="en-US" sz="2800" dirty="0"/>
          </a:p>
          <a:p>
            <a:r>
              <a:rPr lang="en-US" sz="2800" i="1" dirty="0"/>
              <a:t>B </a:t>
            </a:r>
            <a:r>
              <a:rPr lang="ru-RU" sz="2800" dirty="0">
                <a:sym typeface="Symbol" panose="05050102010706020507" pitchFamily="18" charset="2"/>
              </a:rPr>
              <a:t></a:t>
            </a:r>
            <a:r>
              <a:rPr lang="ru-RU" sz="2800" dirty="0"/>
              <a:t> </a:t>
            </a:r>
            <a:r>
              <a:rPr lang="en-US" sz="2800" i="1" dirty="0"/>
              <a:t>C</a:t>
            </a:r>
            <a:r>
              <a:rPr lang="en-US" sz="2800" dirty="0"/>
              <a:t> </a:t>
            </a:r>
            <a:r>
              <a:rPr lang="ru-RU" sz="2800" dirty="0"/>
              <a:t>= {0,1/</a:t>
            </a:r>
            <a:r>
              <a:rPr lang="en-US" sz="2800" i="1" dirty="0"/>
              <a:t>x</a:t>
            </a:r>
            <a:r>
              <a:rPr lang="ru-RU" sz="2800" baseline="-25000" dirty="0"/>
              <a:t>1</a:t>
            </a:r>
            <a:r>
              <a:rPr lang="ru-RU" sz="2800" dirty="0"/>
              <a:t> , 0,</a:t>
            </a:r>
            <a:r>
              <a:rPr lang="en-US" sz="2800" dirty="0"/>
              <a:t>1</a:t>
            </a:r>
            <a:r>
              <a:rPr lang="ru-RU" sz="2800" dirty="0"/>
              <a:t>/</a:t>
            </a:r>
            <a:r>
              <a:rPr lang="en-US" sz="2800" i="1" dirty="0"/>
              <a:t>x</a:t>
            </a:r>
            <a:r>
              <a:rPr lang="ru-RU" sz="2800" baseline="-25000" dirty="0"/>
              <a:t>2</a:t>
            </a:r>
            <a:r>
              <a:rPr lang="ru-RU" sz="2800" dirty="0"/>
              <a:t>, 0,1/</a:t>
            </a:r>
            <a:r>
              <a:rPr lang="en-US" sz="2800" i="1" dirty="0"/>
              <a:t>x</a:t>
            </a:r>
            <a:r>
              <a:rPr lang="ru-RU" sz="2800" baseline="-25000" dirty="0"/>
              <a:t>3</a:t>
            </a:r>
            <a:r>
              <a:rPr lang="ru-RU" sz="2800" dirty="0"/>
              <a:t>, 0,9/</a:t>
            </a:r>
            <a:r>
              <a:rPr lang="en-US" sz="2800" i="1" dirty="0"/>
              <a:t>x</a:t>
            </a:r>
            <a:r>
              <a:rPr lang="ru-RU" sz="2800" baseline="-25000" dirty="0"/>
              <a:t>4</a:t>
            </a:r>
            <a:r>
              <a:rPr lang="ru-RU" sz="2800" dirty="0"/>
              <a:t>}; </a:t>
            </a:r>
            <a:endParaRPr lang="en-US" sz="2800" dirty="0"/>
          </a:p>
          <a:p>
            <a:r>
              <a:rPr lang="en-US" sz="2800" i="1" dirty="0"/>
              <a:t>A </a:t>
            </a:r>
            <a:r>
              <a:rPr lang="ru-RU" sz="2800" dirty="0">
                <a:sym typeface="Symbol" panose="05050102010706020507" pitchFamily="18" charset="2"/>
              </a:rPr>
              <a:t></a:t>
            </a:r>
            <a:r>
              <a:rPr lang="ru-RU" sz="2800" dirty="0"/>
              <a:t> </a:t>
            </a:r>
            <a:r>
              <a:rPr lang="ru-RU" sz="2800" i="1" dirty="0"/>
              <a:t>С</a:t>
            </a:r>
            <a:r>
              <a:rPr lang="ru-RU" sz="2800" dirty="0"/>
              <a:t> = {0,1/</a:t>
            </a:r>
            <a:r>
              <a:rPr lang="en-US" sz="2800" i="1" dirty="0"/>
              <a:t>x</a:t>
            </a:r>
            <a:r>
              <a:rPr lang="ru-RU" sz="2800" baseline="-25000" dirty="0"/>
              <a:t>1</a:t>
            </a:r>
            <a:r>
              <a:rPr lang="ru-RU" sz="2800" dirty="0"/>
              <a:t> , 0,</a:t>
            </a:r>
            <a:r>
              <a:rPr lang="en-US" sz="2800" dirty="0"/>
              <a:t>1</a:t>
            </a:r>
            <a:r>
              <a:rPr lang="ru-RU" sz="2800" dirty="0"/>
              <a:t>/</a:t>
            </a:r>
            <a:r>
              <a:rPr lang="en-US" sz="2800" i="1" dirty="0"/>
              <a:t>x</a:t>
            </a:r>
            <a:r>
              <a:rPr lang="ru-RU" sz="2800" baseline="-25000" dirty="0"/>
              <a:t>2</a:t>
            </a:r>
            <a:r>
              <a:rPr lang="ru-RU" sz="2800" dirty="0"/>
              <a:t>, 0/</a:t>
            </a:r>
            <a:r>
              <a:rPr lang="en-US" sz="2800" i="1" dirty="0"/>
              <a:t>x</a:t>
            </a:r>
            <a:r>
              <a:rPr lang="ru-RU" sz="2800" baseline="-25000" dirty="0"/>
              <a:t>3</a:t>
            </a:r>
            <a:r>
              <a:rPr lang="ru-RU" sz="2800" dirty="0"/>
              <a:t>, 0,9/</a:t>
            </a:r>
            <a:r>
              <a:rPr lang="en-US" sz="2800" i="1" dirty="0"/>
              <a:t>x</a:t>
            </a:r>
            <a:r>
              <a:rPr lang="ru-RU" sz="2800" baseline="-25000" dirty="0"/>
              <a:t>4</a:t>
            </a:r>
            <a:r>
              <a:rPr lang="ru-RU" sz="2800" dirty="0"/>
              <a:t>}.</a:t>
            </a:r>
          </a:p>
        </p:txBody>
      </p:sp>
      <p:sp>
        <p:nvSpPr>
          <p:cNvPr id="4" name="TextBox 3"/>
          <p:cNvSpPr txBox="1"/>
          <p:nvPr/>
        </p:nvSpPr>
        <p:spPr>
          <a:xfrm>
            <a:off x="71918" y="2937781"/>
            <a:ext cx="9072081" cy="1384995"/>
          </a:xfrm>
          <a:prstGeom prst="rect">
            <a:avLst/>
          </a:prstGeom>
          <a:noFill/>
        </p:spPr>
        <p:txBody>
          <a:bodyPr wrap="square" rtlCol="0">
            <a:spAutoFit/>
          </a:bodyPr>
          <a:lstStyle/>
          <a:p>
            <a:r>
              <a:rPr lang="ru-RU" sz="2800" b="1" dirty="0"/>
              <a:t>Объединение</a:t>
            </a:r>
            <a:r>
              <a:rPr lang="ru-RU" sz="2800" dirty="0"/>
              <a:t> нечетких множеств </a:t>
            </a:r>
            <a:r>
              <a:rPr lang="en-US" sz="2800" i="1" dirty="0"/>
              <a:t>A</a:t>
            </a:r>
            <a:r>
              <a:rPr lang="en-US" sz="2800" dirty="0"/>
              <a:t> </a:t>
            </a:r>
            <a:r>
              <a:rPr lang="ru-RU" sz="2800" dirty="0"/>
              <a:t>и </a:t>
            </a:r>
            <a:r>
              <a:rPr lang="en-US" sz="2800" i="1" dirty="0"/>
              <a:t>B</a:t>
            </a:r>
            <a:r>
              <a:rPr lang="ru-RU" sz="2800" dirty="0"/>
              <a:t> — нечеткое множество </a:t>
            </a:r>
            <a:r>
              <a:rPr lang="en-US" sz="2800" i="1" dirty="0"/>
              <a:t>D </a:t>
            </a:r>
            <a:r>
              <a:rPr lang="ru-RU" sz="2800" i="1" dirty="0"/>
              <a:t>= </a:t>
            </a:r>
            <a:r>
              <a:rPr lang="en-US" sz="2800" i="1" dirty="0"/>
              <a:t>A </a:t>
            </a:r>
            <a:r>
              <a:rPr lang="ru-RU" sz="2800" dirty="0">
                <a:sym typeface="Symbol" panose="05050102010706020507" pitchFamily="18" charset="2"/>
              </a:rPr>
              <a:t></a:t>
            </a:r>
            <a:r>
              <a:rPr lang="ru-RU" sz="2800" dirty="0"/>
              <a:t> </a:t>
            </a:r>
            <a:r>
              <a:rPr lang="en-US" sz="2800" i="1" dirty="0"/>
              <a:t>B</a:t>
            </a:r>
            <a:r>
              <a:rPr lang="en-US" sz="2800" dirty="0"/>
              <a:t> </a:t>
            </a:r>
            <a:r>
              <a:rPr lang="ru-RU" sz="2800" dirty="0"/>
              <a:t>с функцией принадлежности </a:t>
            </a:r>
            <a:endParaRPr lang="en-US" sz="2800" dirty="0"/>
          </a:p>
          <a:p>
            <a:r>
              <a:rPr lang="ru-RU" sz="2800" dirty="0"/>
              <a:t> µ</a:t>
            </a:r>
            <a:r>
              <a:rPr lang="en-US" sz="2800" i="1" baseline="-25000" dirty="0"/>
              <a:t>D</a:t>
            </a:r>
            <a:r>
              <a:rPr lang="ru-RU" sz="2800" dirty="0"/>
              <a:t>(</a:t>
            </a:r>
            <a:r>
              <a:rPr lang="en-US" sz="2800" i="1" dirty="0"/>
              <a:t>x</a:t>
            </a:r>
            <a:r>
              <a:rPr lang="ru-RU" sz="2800" dirty="0"/>
              <a:t>) = </a:t>
            </a:r>
            <a:r>
              <a:rPr lang="en-US" sz="2800" dirty="0"/>
              <a:t>max</a:t>
            </a:r>
            <a:r>
              <a:rPr lang="ru-RU" sz="2800" dirty="0"/>
              <a:t>(µ</a:t>
            </a:r>
            <a:r>
              <a:rPr lang="en-US" sz="2800" baseline="-25000" dirty="0"/>
              <a:t>A</a:t>
            </a:r>
            <a:r>
              <a:rPr lang="ru-RU" sz="2800" dirty="0"/>
              <a:t>(</a:t>
            </a:r>
            <a:r>
              <a:rPr lang="en-US" sz="2800" i="1" dirty="0"/>
              <a:t>x</a:t>
            </a:r>
            <a:r>
              <a:rPr lang="ru-RU" sz="2800" dirty="0"/>
              <a:t>), µ</a:t>
            </a:r>
            <a:r>
              <a:rPr lang="en-US" sz="2800" baseline="-25000" dirty="0"/>
              <a:t>B</a:t>
            </a:r>
            <a:r>
              <a:rPr lang="ru-RU" sz="2800" dirty="0"/>
              <a:t>(</a:t>
            </a:r>
            <a:r>
              <a:rPr lang="en-US" sz="2800" i="1" dirty="0"/>
              <a:t>x</a:t>
            </a:r>
            <a:r>
              <a:rPr lang="ru-RU" sz="2800" dirty="0"/>
              <a:t>)) </a:t>
            </a:r>
            <a:r>
              <a:rPr lang="en-US" sz="2800" dirty="0">
                <a:sym typeface="Symbol" panose="05050102010706020507" pitchFamily="18" charset="2"/>
              </a:rPr>
              <a:t></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a:t>
            </a:r>
          </a:p>
        </p:txBody>
      </p:sp>
      <p:sp>
        <p:nvSpPr>
          <p:cNvPr id="5" name="TextBox 4"/>
          <p:cNvSpPr txBox="1"/>
          <p:nvPr/>
        </p:nvSpPr>
        <p:spPr>
          <a:xfrm>
            <a:off x="71918" y="4322776"/>
            <a:ext cx="8979615" cy="1815882"/>
          </a:xfrm>
          <a:prstGeom prst="rect">
            <a:avLst/>
          </a:prstGeom>
          <a:noFill/>
        </p:spPr>
        <p:txBody>
          <a:bodyPr wrap="square" rtlCol="0">
            <a:spAutoFit/>
          </a:bodyPr>
          <a:lstStyle/>
          <a:p>
            <a:r>
              <a:rPr lang="ru-RU" sz="2800" dirty="0"/>
              <a:t>Для наших данных имеем: </a:t>
            </a:r>
            <a:endParaRPr lang="en-US" sz="2800" dirty="0"/>
          </a:p>
          <a:p>
            <a:r>
              <a:rPr lang="ru-RU" sz="2800" i="1" dirty="0"/>
              <a:t>А </a:t>
            </a:r>
            <a:r>
              <a:rPr lang="ru-RU" sz="2800" dirty="0">
                <a:sym typeface="Symbol" panose="05050102010706020507" pitchFamily="18" charset="2"/>
              </a:rPr>
              <a:t></a:t>
            </a:r>
            <a:r>
              <a:rPr lang="ru-RU" sz="2800" dirty="0"/>
              <a:t> </a:t>
            </a:r>
            <a:r>
              <a:rPr lang="en-US" sz="2800" i="1" dirty="0"/>
              <a:t>B</a:t>
            </a:r>
            <a:r>
              <a:rPr lang="en-US" sz="2800" dirty="0"/>
              <a:t> </a:t>
            </a:r>
            <a:r>
              <a:rPr lang="ru-RU" sz="2800" dirty="0"/>
              <a:t>= {0,7/</a:t>
            </a:r>
            <a:r>
              <a:rPr lang="ru-RU" sz="2800" i="1" dirty="0"/>
              <a:t>x</a:t>
            </a:r>
            <a:r>
              <a:rPr lang="ru-RU" sz="2800" baseline="-25000" dirty="0"/>
              <a:t>1</a:t>
            </a:r>
            <a:r>
              <a:rPr lang="ru-RU" sz="2800" dirty="0"/>
              <a:t>, 0,9/</a:t>
            </a:r>
            <a:r>
              <a:rPr lang="ru-RU" sz="2800" i="1" dirty="0"/>
              <a:t>x</a:t>
            </a:r>
            <a:r>
              <a:rPr lang="ru-RU" sz="2800" baseline="-25000" dirty="0"/>
              <a:t>2</a:t>
            </a:r>
            <a:r>
              <a:rPr lang="ru-RU" sz="2800" dirty="0"/>
              <a:t>, 0,1/</a:t>
            </a:r>
            <a:r>
              <a:rPr lang="ru-RU" sz="2800" i="1" dirty="0"/>
              <a:t>x</a:t>
            </a:r>
            <a:r>
              <a:rPr lang="ru-RU" sz="2800" baseline="-25000" dirty="0"/>
              <a:t>3</a:t>
            </a:r>
            <a:r>
              <a:rPr lang="ru-RU" sz="2800" dirty="0"/>
              <a:t>, 1/</a:t>
            </a:r>
            <a:r>
              <a:rPr lang="ru-RU" sz="2800" i="1" dirty="0"/>
              <a:t>x</a:t>
            </a:r>
            <a:r>
              <a:rPr lang="ru-RU" sz="2800" baseline="-25000" dirty="0"/>
              <a:t>4</a:t>
            </a:r>
            <a:r>
              <a:rPr lang="ru-RU" sz="2800" dirty="0"/>
              <a:t>}; </a:t>
            </a:r>
            <a:endParaRPr lang="en-US" sz="2800" dirty="0"/>
          </a:p>
          <a:p>
            <a:r>
              <a:rPr lang="en-US" sz="2800" i="1" dirty="0"/>
              <a:t>B </a:t>
            </a:r>
            <a:r>
              <a:rPr lang="ru-RU" sz="2800" dirty="0">
                <a:sym typeface="Symbol" panose="05050102010706020507" pitchFamily="18" charset="2"/>
              </a:rPr>
              <a:t></a:t>
            </a:r>
            <a:r>
              <a:rPr lang="ru-RU" sz="2800" dirty="0"/>
              <a:t> </a:t>
            </a:r>
            <a:r>
              <a:rPr lang="en-US" sz="2800" i="1" dirty="0"/>
              <a:t>C</a:t>
            </a:r>
            <a:r>
              <a:rPr lang="en-US" sz="2800" dirty="0"/>
              <a:t> </a:t>
            </a:r>
            <a:r>
              <a:rPr lang="ru-RU" sz="2800" dirty="0"/>
              <a:t>= {0,7/</a:t>
            </a:r>
            <a:r>
              <a:rPr lang="ru-RU" sz="2800" i="1" dirty="0"/>
              <a:t>x</a:t>
            </a:r>
            <a:r>
              <a:rPr lang="ru-RU" sz="2800" baseline="-25000" dirty="0"/>
              <a:t>1</a:t>
            </a:r>
            <a:r>
              <a:rPr lang="ru-RU" sz="2800" dirty="0"/>
              <a:t>, 1/</a:t>
            </a:r>
            <a:r>
              <a:rPr lang="ru-RU" sz="2800" i="1" dirty="0"/>
              <a:t>x</a:t>
            </a:r>
            <a:r>
              <a:rPr lang="ru-RU" sz="2800" baseline="-25000" dirty="0"/>
              <a:t>2</a:t>
            </a:r>
            <a:r>
              <a:rPr lang="ru-RU" sz="2800" dirty="0"/>
              <a:t>, 0,2/</a:t>
            </a:r>
            <a:r>
              <a:rPr lang="ru-RU" sz="2800" i="1" dirty="0"/>
              <a:t>x</a:t>
            </a:r>
            <a:r>
              <a:rPr lang="ru-RU" sz="2800" baseline="-25000" dirty="0"/>
              <a:t>3</a:t>
            </a:r>
            <a:r>
              <a:rPr lang="ru-RU" sz="2800" dirty="0"/>
              <a:t>, 1/</a:t>
            </a:r>
            <a:r>
              <a:rPr lang="ru-RU" sz="2800" i="1" dirty="0"/>
              <a:t>x</a:t>
            </a:r>
            <a:r>
              <a:rPr lang="ru-RU" sz="2800" baseline="-25000" dirty="0"/>
              <a:t>4</a:t>
            </a:r>
            <a:r>
              <a:rPr lang="ru-RU" sz="2800" dirty="0"/>
              <a:t>}; </a:t>
            </a:r>
            <a:endParaRPr lang="en-US" sz="2800" dirty="0"/>
          </a:p>
          <a:p>
            <a:r>
              <a:rPr lang="ru-RU" sz="2800" i="1" dirty="0"/>
              <a:t>А </a:t>
            </a:r>
            <a:r>
              <a:rPr lang="ru-RU" sz="2800" dirty="0">
                <a:sym typeface="Symbol" panose="05050102010706020507" pitchFamily="18" charset="2"/>
              </a:rPr>
              <a:t></a:t>
            </a:r>
            <a:r>
              <a:rPr lang="ru-RU" sz="2800" dirty="0"/>
              <a:t> </a:t>
            </a:r>
            <a:r>
              <a:rPr lang="en-US" sz="2800" i="1" dirty="0"/>
              <a:t>C</a:t>
            </a:r>
            <a:r>
              <a:rPr lang="en-US" sz="2800" dirty="0"/>
              <a:t> </a:t>
            </a:r>
            <a:r>
              <a:rPr lang="ru-RU" sz="2800" dirty="0"/>
              <a:t>= {0,4/</a:t>
            </a:r>
            <a:r>
              <a:rPr lang="ru-RU" sz="2800" i="1" dirty="0"/>
              <a:t>x</a:t>
            </a:r>
            <a:r>
              <a:rPr lang="ru-RU" sz="2800" baseline="-25000" dirty="0"/>
              <a:t>1</a:t>
            </a:r>
            <a:r>
              <a:rPr lang="ru-RU" sz="2800" dirty="0"/>
              <a:t>, </a:t>
            </a:r>
            <a:r>
              <a:rPr lang="en-US" sz="2800" dirty="0"/>
              <a:t>0,2</a:t>
            </a:r>
            <a:r>
              <a:rPr lang="ru-RU" sz="2800" dirty="0"/>
              <a:t>/</a:t>
            </a:r>
            <a:r>
              <a:rPr lang="ru-RU" sz="2800" i="1" dirty="0"/>
              <a:t>x</a:t>
            </a:r>
            <a:r>
              <a:rPr lang="ru-RU" sz="2800" baseline="-25000" dirty="0"/>
              <a:t>2</a:t>
            </a:r>
            <a:r>
              <a:rPr lang="ru-RU" sz="2800" dirty="0"/>
              <a:t>, 0,2/</a:t>
            </a:r>
            <a:r>
              <a:rPr lang="ru-RU" sz="2800" i="1" dirty="0"/>
              <a:t>x</a:t>
            </a:r>
            <a:r>
              <a:rPr lang="ru-RU" sz="2800" baseline="-25000" dirty="0"/>
              <a:t>3</a:t>
            </a:r>
            <a:r>
              <a:rPr lang="ru-RU" sz="2800" dirty="0"/>
              <a:t>, 1/</a:t>
            </a:r>
            <a:r>
              <a:rPr lang="ru-RU" sz="2800" i="1" dirty="0"/>
              <a:t>x</a:t>
            </a:r>
            <a:r>
              <a:rPr lang="ru-RU" sz="2800" baseline="-25000" dirty="0"/>
              <a:t>4</a:t>
            </a:r>
            <a:r>
              <a:rPr lang="ru-RU" sz="2800" dirty="0"/>
              <a:t>}.</a:t>
            </a:r>
          </a:p>
        </p:txBody>
      </p:sp>
    </p:spTree>
    <p:extLst>
      <p:ext uri="{BB962C8B-B14F-4D97-AF65-F5344CB8AC3E}">
        <p14:creationId xmlns:p14="http://schemas.microsoft.com/office/powerpoint/2010/main" val="398739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1384995"/>
          </a:xfrm>
          <a:prstGeom prst="rect">
            <a:avLst/>
          </a:prstGeom>
          <a:noFill/>
        </p:spPr>
        <p:txBody>
          <a:bodyPr wrap="square" rtlCol="0">
            <a:spAutoFit/>
          </a:bodyPr>
          <a:lstStyle/>
          <a:p>
            <a:r>
              <a:rPr lang="ru-RU" sz="2800" b="1" dirty="0"/>
              <a:t>Разность</a:t>
            </a:r>
            <a:r>
              <a:rPr lang="ru-RU" sz="2800" b="1" i="1" dirty="0"/>
              <a:t> </a:t>
            </a:r>
            <a:r>
              <a:rPr lang="ru-RU" sz="2800" dirty="0"/>
              <a:t>нечетких множеств </a:t>
            </a:r>
            <a:r>
              <a:rPr lang="en-US" sz="2800" i="1" dirty="0"/>
              <a:t>A</a:t>
            </a:r>
            <a:r>
              <a:rPr lang="en-US" sz="2800" dirty="0"/>
              <a:t> </a:t>
            </a:r>
            <a:r>
              <a:rPr lang="ru-RU" sz="2800" dirty="0"/>
              <a:t>и </a:t>
            </a:r>
            <a:r>
              <a:rPr lang="en-US" sz="2800" i="1" dirty="0"/>
              <a:t>B</a:t>
            </a:r>
            <a:r>
              <a:rPr lang="en-US" sz="2800" dirty="0"/>
              <a:t> </a:t>
            </a:r>
            <a:r>
              <a:rPr lang="ru-RU" sz="2800" dirty="0"/>
              <a:t>— нечеткое множество </a:t>
            </a:r>
            <a:r>
              <a:rPr lang="en-US" sz="2800" i="1" dirty="0"/>
              <a:t>D </a:t>
            </a:r>
            <a:r>
              <a:rPr lang="ru-RU" sz="2800" i="1" dirty="0"/>
              <a:t>= </a:t>
            </a:r>
            <a:r>
              <a:rPr lang="en-US" sz="2800" i="1" dirty="0"/>
              <a:t>A </a:t>
            </a:r>
            <a:r>
              <a:rPr lang="ru-RU" sz="2800" dirty="0"/>
              <a:t>\ </a:t>
            </a:r>
            <a:r>
              <a:rPr lang="en-US" sz="2800" i="1" dirty="0"/>
              <a:t>B </a:t>
            </a:r>
            <a:r>
              <a:rPr lang="ru-RU" sz="2800" i="1" dirty="0"/>
              <a:t>= </a:t>
            </a:r>
            <a:r>
              <a:rPr lang="en-US" sz="2800" i="1" dirty="0"/>
              <a:t>A </a:t>
            </a:r>
            <a:r>
              <a:rPr lang="ru-RU" sz="2800" dirty="0">
                <a:sym typeface="Symbol" panose="05050102010706020507" pitchFamily="18" charset="2"/>
              </a:rPr>
              <a:t>       </a:t>
            </a:r>
            <a:r>
              <a:rPr lang="ru-RU" sz="2800" dirty="0"/>
              <a:t>с функцией принадлежности </a:t>
            </a:r>
          </a:p>
          <a:p>
            <a:r>
              <a:rPr lang="ru-RU" sz="2800" dirty="0"/>
              <a:t>µ</a:t>
            </a:r>
            <a:r>
              <a:rPr lang="en-US" sz="2800" i="1" baseline="-25000" dirty="0"/>
              <a:t>D</a:t>
            </a:r>
            <a:r>
              <a:rPr lang="ru-RU" sz="2800" dirty="0"/>
              <a:t>(</a:t>
            </a:r>
            <a:r>
              <a:rPr lang="en-US" sz="2800" i="1" dirty="0"/>
              <a:t>x</a:t>
            </a:r>
            <a:r>
              <a:rPr lang="ru-RU" sz="2800" dirty="0"/>
              <a:t>) = µ</a:t>
            </a:r>
            <a:r>
              <a:rPr lang="en-US" sz="2800" i="1" baseline="-25000" dirty="0"/>
              <a:t>A</a:t>
            </a:r>
            <a:r>
              <a:rPr lang="ru-RU" sz="2800" baseline="-25000" dirty="0"/>
              <a:t>\</a:t>
            </a:r>
            <a:r>
              <a:rPr lang="ru-RU" sz="2800" i="1" baseline="-25000" dirty="0"/>
              <a:t>В</a:t>
            </a:r>
            <a:r>
              <a:rPr lang="ru-RU" sz="2800" dirty="0"/>
              <a:t> =              = </a:t>
            </a:r>
            <a:r>
              <a:rPr lang="en-US" sz="2800" dirty="0"/>
              <a:t>min</a:t>
            </a:r>
            <a:r>
              <a:rPr lang="ru-RU" sz="2800" dirty="0"/>
              <a:t>(µ</a:t>
            </a:r>
            <a:r>
              <a:rPr lang="en-US" sz="2800" i="1" baseline="-25000" dirty="0"/>
              <a:t>A</a:t>
            </a:r>
            <a:r>
              <a:rPr lang="ru-RU" sz="2800" dirty="0"/>
              <a:t>(</a:t>
            </a:r>
            <a:r>
              <a:rPr lang="en-US" sz="2800" i="1" dirty="0"/>
              <a:t>x</a:t>
            </a:r>
            <a:r>
              <a:rPr lang="ru-RU" sz="2800" dirty="0"/>
              <a:t>), 1 – µ</a:t>
            </a:r>
            <a:r>
              <a:rPr lang="en-US" sz="2800" i="1" baseline="-25000" dirty="0"/>
              <a:t>B</a:t>
            </a:r>
            <a:r>
              <a:rPr lang="ru-RU" sz="2800" dirty="0"/>
              <a:t>(</a:t>
            </a:r>
            <a:r>
              <a:rPr lang="en-US" sz="2800" i="1" dirty="0"/>
              <a:t>x</a:t>
            </a:r>
            <a:r>
              <a:rPr lang="ru-RU" sz="2800" dirty="0"/>
              <a:t>)) </a:t>
            </a:r>
            <a:r>
              <a:rPr lang="en-US" sz="2800" dirty="0">
                <a:sym typeface="Symbol" panose="05050102010706020507" pitchFamily="18" charset="2"/>
              </a:rPr>
              <a:t></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  </a:t>
            </a:r>
          </a:p>
        </p:txBody>
      </p:sp>
      <p:graphicFrame>
        <p:nvGraphicFramePr>
          <p:cNvPr id="5" name="Объект 4"/>
          <p:cNvGraphicFramePr>
            <a:graphicFrameLocks noChangeAspect="1"/>
          </p:cNvGraphicFramePr>
          <p:nvPr>
            <p:extLst>
              <p:ext uri="{D42A27DB-BD31-4B8C-83A1-F6EECF244321}">
                <p14:modId xmlns:p14="http://schemas.microsoft.com/office/powerpoint/2010/main" val="3871879004"/>
              </p:ext>
            </p:extLst>
          </p:nvPr>
        </p:nvGraphicFramePr>
        <p:xfrm>
          <a:off x="2270934" y="454272"/>
          <a:ext cx="336884" cy="457200"/>
        </p:xfrm>
        <a:graphic>
          <a:graphicData uri="http://schemas.openxmlformats.org/presentationml/2006/ole">
            <mc:AlternateContent xmlns:mc="http://schemas.openxmlformats.org/markup-compatibility/2006">
              <mc:Choice xmlns:v="urn:schemas-microsoft-com:vml" Requires="v">
                <p:oleObj r:id="rId2" imgW="139579" imgH="177646" progId="">
                  <p:embed/>
                </p:oleObj>
              </mc:Choice>
              <mc:Fallback>
                <p:oleObj r:id="rId2" imgW="139579" imgH="177646"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934" y="454272"/>
                        <a:ext cx="336884"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ChangeArrowheads="1"/>
          </p:cNvSpPr>
          <p:nvPr/>
        </p:nvSpPr>
        <p:spPr bwMode="auto">
          <a:xfrm>
            <a:off x="0" y="-9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7" name="Объект 6"/>
          <p:cNvGraphicFramePr>
            <a:graphicFrameLocks noChangeAspect="1"/>
          </p:cNvGraphicFramePr>
          <p:nvPr>
            <p:extLst>
              <p:ext uri="{D42A27DB-BD31-4B8C-83A1-F6EECF244321}">
                <p14:modId xmlns:p14="http://schemas.microsoft.com/office/powerpoint/2010/main" val="1061964944"/>
              </p:ext>
            </p:extLst>
          </p:nvPr>
        </p:nvGraphicFramePr>
        <p:xfrm>
          <a:off x="1973180" y="882596"/>
          <a:ext cx="1077440" cy="489745"/>
        </p:xfrm>
        <a:graphic>
          <a:graphicData uri="http://schemas.openxmlformats.org/presentationml/2006/ole">
            <mc:AlternateContent xmlns:mc="http://schemas.openxmlformats.org/markup-compatibility/2006">
              <mc:Choice xmlns:v="urn:schemas-microsoft-com:vml" Requires="v">
                <p:oleObj name="Уравнение" r:id="rId4" imgW="533169" imgH="241195" progId="Equation.3">
                  <p:embed/>
                </p:oleObj>
              </mc:Choice>
              <mc:Fallback>
                <p:oleObj name="Уравнение" r:id="rId4" imgW="533169" imgH="241195" progId="Equation.3">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3180" y="882596"/>
                        <a:ext cx="1077440" cy="4897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0" y="1352046"/>
            <a:ext cx="9047747" cy="1384995"/>
          </a:xfrm>
          <a:prstGeom prst="rect">
            <a:avLst/>
          </a:prstGeom>
          <a:noFill/>
        </p:spPr>
        <p:txBody>
          <a:bodyPr wrap="square" rtlCol="0">
            <a:spAutoFit/>
          </a:bodyPr>
          <a:lstStyle/>
          <a:p>
            <a:r>
              <a:rPr lang="ru-RU" sz="2800" dirty="0"/>
              <a:t>Для наших данных имеем:</a:t>
            </a:r>
            <a:r>
              <a:rPr lang="ru-RU" sz="2800" i="1" dirty="0"/>
              <a:t> </a:t>
            </a:r>
          </a:p>
          <a:p>
            <a:r>
              <a:rPr lang="ru-RU" sz="2800" i="1" dirty="0"/>
              <a:t>А \ </a:t>
            </a:r>
            <a:r>
              <a:rPr lang="en-US" sz="2800" i="1" dirty="0"/>
              <a:t>B</a:t>
            </a:r>
            <a:r>
              <a:rPr lang="en-US" sz="2800" dirty="0"/>
              <a:t> </a:t>
            </a:r>
            <a:r>
              <a:rPr lang="ru-RU" sz="2800" dirty="0"/>
              <a:t>= {0,3/</a:t>
            </a:r>
            <a:r>
              <a:rPr lang="ru-RU" sz="2800" i="1" dirty="0"/>
              <a:t>x</a:t>
            </a:r>
            <a:r>
              <a:rPr lang="ru-RU" sz="2800" baseline="-25000" dirty="0"/>
              <a:t>1</a:t>
            </a:r>
            <a:r>
              <a:rPr lang="ru-RU" sz="2800" dirty="0"/>
              <a:t>, 0,1/</a:t>
            </a:r>
            <a:r>
              <a:rPr lang="ru-RU" sz="2800" i="1" dirty="0"/>
              <a:t>x</a:t>
            </a:r>
            <a:r>
              <a:rPr lang="ru-RU" sz="2800" baseline="-25000" dirty="0"/>
              <a:t>2</a:t>
            </a:r>
            <a:r>
              <a:rPr lang="ru-RU" sz="2800" dirty="0"/>
              <a:t>, 0/</a:t>
            </a:r>
            <a:r>
              <a:rPr lang="ru-RU" sz="2800" i="1" dirty="0"/>
              <a:t>x</a:t>
            </a:r>
            <a:r>
              <a:rPr lang="ru-RU" sz="2800" baseline="-25000" dirty="0"/>
              <a:t>3</a:t>
            </a:r>
            <a:r>
              <a:rPr lang="ru-RU" sz="2800" dirty="0"/>
              <a:t>, 0/</a:t>
            </a:r>
            <a:r>
              <a:rPr lang="ru-RU" sz="2800" i="1" dirty="0"/>
              <a:t>x</a:t>
            </a:r>
            <a:r>
              <a:rPr lang="ru-RU" sz="2800" baseline="-25000" dirty="0"/>
              <a:t>4</a:t>
            </a:r>
            <a:r>
              <a:rPr lang="ru-RU" sz="2800" dirty="0"/>
              <a:t>}; </a:t>
            </a:r>
          </a:p>
          <a:p>
            <a:r>
              <a:rPr lang="ru-RU" sz="2800" i="1" dirty="0"/>
              <a:t>В \ А</a:t>
            </a:r>
            <a:r>
              <a:rPr lang="ru-RU" sz="2800" dirty="0"/>
              <a:t> = {0,6/</a:t>
            </a:r>
            <a:r>
              <a:rPr lang="ru-RU" sz="2800" i="1" dirty="0"/>
              <a:t>x</a:t>
            </a:r>
            <a:r>
              <a:rPr lang="ru-RU" sz="2800" baseline="-25000" dirty="0"/>
              <a:t>1</a:t>
            </a:r>
            <a:r>
              <a:rPr lang="ru-RU" sz="2800" dirty="0"/>
              <a:t>, 0,8/</a:t>
            </a:r>
            <a:r>
              <a:rPr lang="ru-RU" sz="2800" i="1" dirty="0"/>
              <a:t>x</a:t>
            </a:r>
            <a:r>
              <a:rPr lang="ru-RU" sz="2800" baseline="-25000" dirty="0"/>
              <a:t>2</a:t>
            </a:r>
            <a:r>
              <a:rPr lang="ru-RU" sz="2800" dirty="0"/>
              <a:t>, 0,1/</a:t>
            </a:r>
            <a:r>
              <a:rPr lang="ru-RU" sz="2800" i="1" dirty="0"/>
              <a:t>x</a:t>
            </a:r>
            <a:r>
              <a:rPr lang="ru-RU" sz="2800" baseline="-25000" dirty="0"/>
              <a:t>3</a:t>
            </a:r>
            <a:r>
              <a:rPr lang="ru-RU" sz="2800" dirty="0"/>
              <a:t>, 0/</a:t>
            </a:r>
            <a:r>
              <a:rPr lang="ru-RU" sz="2800" i="1" dirty="0"/>
              <a:t>x</a:t>
            </a:r>
            <a:r>
              <a:rPr lang="ru-RU" sz="2800" baseline="-25000" dirty="0"/>
              <a:t>4</a:t>
            </a:r>
            <a:r>
              <a:rPr lang="ru-RU" sz="2800" dirty="0"/>
              <a:t>}.</a:t>
            </a:r>
          </a:p>
        </p:txBody>
      </p:sp>
      <p:sp>
        <p:nvSpPr>
          <p:cNvPr id="9" name="TextBox 8"/>
          <p:cNvSpPr txBox="1"/>
          <p:nvPr/>
        </p:nvSpPr>
        <p:spPr>
          <a:xfrm>
            <a:off x="-14439" y="2598821"/>
            <a:ext cx="9076623" cy="1384995"/>
          </a:xfrm>
          <a:prstGeom prst="rect">
            <a:avLst/>
          </a:prstGeom>
          <a:noFill/>
        </p:spPr>
        <p:txBody>
          <a:bodyPr wrap="square" rtlCol="0">
            <a:spAutoFit/>
          </a:bodyPr>
          <a:lstStyle/>
          <a:p>
            <a:r>
              <a:rPr lang="ru-RU" sz="2800" b="1" dirty="0"/>
              <a:t>Симметрическая разность</a:t>
            </a:r>
            <a:r>
              <a:rPr lang="ru-RU" sz="2800" dirty="0"/>
              <a:t> нечетких множеств </a:t>
            </a:r>
            <a:r>
              <a:rPr lang="ru-RU" sz="2800" i="1" dirty="0"/>
              <a:t>A</a:t>
            </a:r>
            <a:r>
              <a:rPr lang="ru-RU" sz="2800" dirty="0"/>
              <a:t> и </a:t>
            </a:r>
            <a:r>
              <a:rPr lang="ru-RU" sz="2800" i="1" dirty="0"/>
              <a:t>B</a:t>
            </a:r>
            <a:r>
              <a:rPr lang="ru-RU" sz="2800" dirty="0"/>
              <a:t> — нечеткое множество </a:t>
            </a:r>
            <a:r>
              <a:rPr lang="ru-RU" sz="2800" i="1" dirty="0"/>
              <a:t>С = A − B</a:t>
            </a:r>
            <a:r>
              <a:rPr lang="ru-RU" sz="2800" dirty="0"/>
              <a:t> с функцией принадлежности μ</a:t>
            </a:r>
            <a:r>
              <a:rPr lang="en-US" sz="2800" i="1" baseline="-25000" dirty="0"/>
              <a:t>A</a:t>
            </a:r>
            <a:r>
              <a:rPr lang="ru-RU" sz="2800" baseline="-25000" dirty="0"/>
              <a:t>-</a:t>
            </a:r>
            <a:r>
              <a:rPr lang="en-US" sz="2800" i="1" baseline="-25000" dirty="0"/>
              <a:t>B</a:t>
            </a:r>
            <a:r>
              <a:rPr lang="ru-RU" sz="2800" dirty="0"/>
              <a:t>(</a:t>
            </a:r>
            <a:r>
              <a:rPr lang="en-US" sz="2800" i="1" dirty="0"/>
              <a:t>x</a:t>
            </a:r>
            <a:r>
              <a:rPr lang="ru-RU" sz="2800" dirty="0"/>
              <a:t>) = |μ</a:t>
            </a:r>
            <a:r>
              <a:rPr lang="en-US" sz="2800" baseline="-25000" dirty="0"/>
              <a:t>A</a:t>
            </a:r>
            <a:r>
              <a:rPr lang="ru-RU" sz="2800" dirty="0"/>
              <a:t>(</a:t>
            </a:r>
            <a:r>
              <a:rPr lang="en-US" sz="2800" i="1" dirty="0"/>
              <a:t>x</a:t>
            </a:r>
            <a:r>
              <a:rPr lang="ru-RU" sz="2800" dirty="0"/>
              <a:t>) – μ</a:t>
            </a:r>
            <a:r>
              <a:rPr lang="en-US" sz="2800" baseline="-25000" dirty="0"/>
              <a:t>B</a:t>
            </a:r>
            <a:r>
              <a:rPr lang="ru-RU" sz="2800" dirty="0"/>
              <a:t>(</a:t>
            </a:r>
            <a:r>
              <a:rPr lang="en-US" sz="2800" i="1" dirty="0"/>
              <a:t>x</a:t>
            </a:r>
            <a:r>
              <a:rPr lang="ru-RU" sz="2800" dirty="0"/>
              <a:t>)| </a:t>
            </a:r>
            <a:r>
              <a:rPr lang="en-US" sz="2800" dirty="0">
                <a:sym typeface="Symbol" panose="05050102010706020507" pitchFamily="18" charset="2"/>
              </a:rPr>
              <a:t> </a:t>
            </a:r>
            <a:r>
              <a:rPr lang="en-US" sz="2800" i="1" dirty="0"/>
              <a:t>x </a:t>
            </a:r>
            <a:r>
              <a:rPr lang="ru-RU" sz="2800" dirty="0">
                <a:sym typeface="Symbol" panose="05050102010706020507" pitchFamily="18" charset="2"/>
              </a:rPr>
              <a:t></a:t>
            </a:r>
            <a:r>
              <a:rPr lang="ru-RU" sz="2800" dirty="0"/>
              <a:t> </a:t>
            </a:r>
            <a:r>
              <a:rPr lang="en-US" sz="2800" i="1" dirty="0"/>
              <a:t>U</a:t>
            </a:r>
            <a:r>
              <a:rPr lang="ru-RU" sz="2800" i="1" dirty="0"/>
              <a:t>.</a:t>
            </a:r>
            <a:endParaRPr lang="ru-RU" sz="2800" dirty="0"/>
          </a:p>
        </p:txBody>
      </p:sp>
      <p:sp>
        <p:nvSpPr>
          <p:cNvPr id="10" name="TextBox 9"/>
          <p:cNvSpPr txBox="1"/>
          <p:nvPr/>
        </p:nvSpPr>
        <p:spPr>
          <a:xfrm>
            <a:off x="-7220" y="3849062"/>
            <a:ext cx="9062184" cy="1815882"/>
          </a:xfrm>
          <a:prstGeom prst="rect">
            <a:avLst/>
          </a:prstGeom>
          <a:noFill/>
        </p:spPr>
        <p:txBody>
          <a:bodyPr wrap="square" rtlCol="0">
            <a:spAutoFit/>
          </a:bodyPr>
          <a:lstStyle/>
          <a:p>
            <a:r>
              <a:rPr lang="ru-RU" sz="2800" dirty="0"/>
              <a:t>Для наших данных имеем: </a:t>
            </a:r>
          </a:p>
          <a:p>
            <a:r>
              <a:rPr lang="ru-RU" sz="2800" i="1" dirty="0"/>
              <a:t>А – В</a:t>
            </a:r>
            <a:r>
              <a:rPr lang="ru-RU" sz="2800" dirty="0"/>
              <a:t> = {0,3/</a:t>
            </a:r>
            <a:r>
              <a:rPr lang="ru-RU" sz="2800" i="1" dirty="0"/>
              <a:t>x</a:t>
            </a:r>
            <a:r>
              <a:rPr lang="ru-RU" sz="2800" baseline="-25000" dirty="0"/>
              <a:t>1</a:t>
            </a:r>
            <a:r>
              <a:rPr lang="ru-RU" sz="2800" dirty="0"/>
              <a:t>, 0,7/</a:t>
            </a:r>
            <a:r>
              <a:rPr lang="ru-RU" sz="2800" i="1" dirty="0"/>
              <a:t>x</a:t>
            </a:r>
            <a:r>
              <a:rPr lang="ru-RU" sz="2800" baseline="-25000" dirty="0"/>
              <a:t>2</a:t>
            </a:r>
            <a:r>
              <a:rPr lang="ru-RU" sz="2800" dirty="0"/>
              <a:t>, 0,1/</a:t>
            </a:r>
            <a:r>
              <a:rPr lang="ru-RU" sz="2800" i="1" dirty="0"/>
              <a:t>x</a:t>
            </a:r>
            <a:r>
              <a:rPr lang="ru-RU" sz="2800" baseline="-25000" dirty="0"/>
              <a:t>3</a:t>
            </a:r>
            <a:r>
              <a:rPr lang="ru-RU" sz="2800" dirty="0"/>
              <a:t>, 0/</a:t>
            </a:r>
            <a:r>
              <a:rPr lang="ru-RU" sz="2800" i="1" dirty="0"/>
              <a:t>x</a:t>
            </a:r>
            <a:r>
              <a:rPr lang="ru-RU" sz="2800" baseline="-25000" dirty="0"/>
              <a:t>4</a:t>
            </a:r>
            <a:r>
              <a:rPr lang="ru-RU" sz="2800" dirty="0"/>
              <a:t>};  </a:t>
            </a:r>
          </a:p>
          <a:p>
            <a:r>
              <a:rPr lang="en-US" sz="2800" i="1" dirty="0"/>
              <a:t>B</a:t>
            </a:r>
            <a:r>
              <a:rPr lang="ru-RU" sz="2800" i="1" dirty="0"/>
              <a:t> – </a:t>
            </a:r>
            <a:r>
              <a:rPr lang="en-US" sz="2800" i="1" dirty="0"/>
              <a:t>C</a:t>
            </a:r>
            <a:r>
              <a:rPr lang="en-US" sz="2800" dirty="0"/>
              <a:t> </a:t>
            </a:r>
            <a:r>
              <a:rPr lang="ru-RU" sz="2800" dirty="0"/>
              <a:t>= {0,6/</a:t>
            </a:r>
            <a:r>
              <a:rPr lang="ru-RU" sz="2800" i="1" dirty="0"/>
              <a:t>x</a:t>
            </a:r>
            <a:r>
              <a:rPr lang="ru-RU" sz="2800" baseline="-25000" dirty="0"/>
              <a:t>1</a:t>
            </a:r>
            <a:r>
              <a:rPr lang="ru-RU" sz="2800" dirty="0"/>
              <a:t>, 0,1/</a:t>
            </a:r>
            <a:r>
              <a:rPr lang="ru-RU" sz="2800" i="1" dirty="0"/>
              <a:t>x</a:t>
            </a:r>
            <a:r>
              <a:rPr lang="ru-RU" sz="2800" baseline="-25000" dirty="0"/>
              <a:t>2</a:t>
            </a:r>
            <a:r>
              <a:rPr lang="ru-RU" sz="2800" dirty="0"/>
              <a:t>, 0,1/</a:t>
            </a:r>
            <a:r>
              <a:rPr lang="ru-RU" sz="2800" i="1" dirty="0"/>
              <a:t>x</a:t>
            </a:r>
            <a:r>
              <a:rPr lang="ru-RU" sz="2800" baseline="-25000" dirty="0"/>
              <a:t>3</a:t>
            </a:r>
            <a:r>
              <a:rPr lang="ru-RU" sz="2800" dirty="0"/>
              <a:t>, 0,1/</a:t>
            </a:r>
            <a:r>
              <a:rPr lang="ru-RU" sz="2800" i="1" dirty="0"/>
              <a:t>x</a:t>
            </a:r>
            <a:r>
              <a:rPr lang="ru-RU" sz="2800" baseline="-25000" dirty="0"/>
              <a:t>4</a:t>
            </a:r>
            <a:r>
              <a:rPr lang="ru-RU" sz="2800" dirty="0"/>
              <a:t>}; </a:t>
            </a:r>
          </a:p>
          <a:p>
            <a:r>
              <a:rPr lang="ru-RU" sz="2800" i="1" dirty="0"/>
              <a:t>А – С</a:t>
            </a:r>
            <a:r>
              <a:rPr lang="ru-RU" sz="2800" dirty="0"/>
              <a:t> = {0,3/</a:t>
            </a:r>
            <a:r>
              <a:rPr lang="ru-RU" sz="2800" i="1" dirty="0"/>
              <a:t>x</a:t>
            </a:r>
            <a:r>
              <a:rPr lang="ru-RU" sz="2800" baseline="-25000" dirty="0"/>
              <a:t>1</a:t>
            </a:r>
            <a:r>
              <a:rPr lang="ru-RU" sz="2800" dirty="0"/>
              <a:t>, 0,8/</a:t>
            </a:r>
            <a:r>
              <a:rPr lang="ru-RU" sz="2800" i="1" dirty="0"/>
              <a:t>x</a:t>
            </a:r>
            <a:r>
              <a:rPr lang="ru-RU" sz="2800" baseline="-25000" dirty="0"/>
              <a:t>2</a:t>
            </a:r>
            <a:r>
              <a:rPr lang="ru-RU" sz="2800" dirty="0"/>
              <a:t>, 0,2/</a:t>
            </a:r>
            <a:r>
              <a:rPr lang="ru-RU" sz="2800" i="1" dirty="0"/>
              <a:t>x</a:t>
            </a:r>
            <a:r>
              <a:rPr lang="ru-RU" sz="2800" baseline="-25000" dirty="0"/>
              <a:t>3</a:t>
            </a:r>
            <a:r>
              <a:rPr lang="ru-RU" sz="2800" dirty="0"/>
              <a:t>, 0,1/</a:t>
            </a:r>
            <a:r>
              <a:rPr lang="ru-RU" sz="2800" i="1" dirty="0"/>
              <a:t>x</a:t>
            </a:r>
            <a:r>
              <a:rPr lang="ru-RU" sz="2800" baseline="-25000" dirty="0"/>
              <a:t>4</a:t>
            </a:r>
            <a:r>
              <a:rPr lang="ru-RU" sz="2800" dirty="0"/>
              <a:t>}.</a:t>
            </a:r>
          </a:p>
        </p:txBody>
      </p:sp>
    </p:spTree>
    <p:extLst>
      <p:ext uri="{BB962C8B-B14F-4D97-AF65-F5344CB8AC3E}">
        <p14:creationId xmlns:p14="http://schemas.microsoft.com/office/powerpoint/2010/main" val="22209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7377"/>
            <a:ext cx="9144000" cy="2246769"/>
          </a:xfrm>
          <a:prstGeom prst="rect">
            <a:avLst/>
          </a:prstGeom>
          <a:noFill/>
        </p:spPr>
        <p:txBody>
          <a:bodyPr wrap="square" rtlCol="0">
            <a:spAutoFit/>
          </a:bodyPr>
          <a:lstStyle/>
          <a:p>
            <a:r>
              <a:rPr lang="ru-RU" sz="2800" b="1" dirty="0"/>
              <a:t>Дизъюнктивная сумма</a:t>
            </a:r>
            <a:r>
              <a:rPr lang="ru-RU" sz="2800" b="1" i="1" dirty="0"/>
              <a:t> </a:t>
            </a:r>
            <a:r>
              <a:rPr lang="ru-RU" sz="2800" dirty="0"/>
              <a:t>нечетких множеств </a:t>
            </a:r>
            <a:r>
              <a:rPr lang="en-US" sz="2800" i="1" dirty="0"/>
              <a:t>A</a:t>
            </a:r>
            <a:r>
              <a:rPr lang="en-US" sz="2800" dirty="0"/>
              <a:t> </a:t>
            </a:r>
            <a:r>
              <a:rPr lang="ru-RU" sz="2800" dirty="0"/>
              <a:t>и </a:t>
            </a:r>
            <a:r>
              <a:rPr lang="en-US" sz="2800" i="1" dirty="0"/>
              <a:t>B</a:t>
            </a:r>
            <a:r>
              <a:rPr lang="ru-RU" sz="2800" dirty="0"/>
              <a:t> — нечеткое множество </a:t>
            </a:r>
            <a:r>
              <a:rPr lang="en-US" sz="2800" i="1" dirty="0"/>
              <a:t>C </a:t>
            </a:r>
            <a:r>
              <a:rPr lang="ru-RU" sz="2800" i="1" dirty="0"/>
              <a:t>= </a:t>
            </a:r>
            <a:r>
              <a:rPr lang="en-US" sz="2800" i="1" dirty="0"/>
              <a:t>A</a:t>
            </a:r>
            <a:r>
              <a:rPr lang="en-US" sz="2800" dirty="0"/>
              <a:t> </a:t>
            </a:r>
            <a:r>
              <a:rPr lang="ru-RU" sz="2800" dirty="0">
                <a:sym typeface="Symbol" panose="05050102010706020507" pitchFamily="18" charset="2"/>
              </a:rPr>
              <a:t></a:t>
            </a:r>
            <a:r>
              <a:rPr lang="ru-RU" sz="2800" dirty="0"/>
              <a:t> </a:t>
            </a:r>
            <a:r>
              <a:rPr lang="en-US" sz="2800" i="1" dirty="0"/>
              <a:t>B </a:t>
            </a:r>
            <a:r>
              <a:rPr lang="ru-RU" sz="2800" i="1" dirty="0"/>
              <a:t>= </a:t>
            </a:r>
            <a:r>
              <a:rPr lang="ru-RU" sz="2800" dirty="0"/>
              <a:t>(</a:t>
            </a:r>
            <a:r>
              <a:rPr lang="en-US" sz="2800" i="1" dirty="0"/>
              <a:t>A </a:t>
            </a:r>
            <a:r>
              <a:rPr lang="ru-RU" sz="2800" i="1" dirty="0"/>
              <a:t>\ </a:t>
            </a:r>
            <a:r>
              <a:rPr lang="en-US" sz="2800" i="1" dirty="0"/>
              <a:t>B</a:t>
            </a:r>
            <a:r>
              <a:rPr lang="ru-RU" sz="2800" dirty="0"/>
              <a:t>) </a:t>
            </a:r>
            <a:r>
              <a:rPr lang="ru-RU" sz="2800" dirty="0">
                <a:sym typeface="Symbol" panose="05050102010706020507" pitchFamily="18" charset="2"/>
              </a:rPr>
              <a:t></a:t>
            </a:r>
            <a:r>
              <a:rPr lang="ru-RU" sz="2800" dirty="0"/>
              <a:t> (</a:t>
            </a:r>
            <a:r>
              <a:rPr lang="en-US" sz="2800" i="1" dirty="0"/>
              <a:t>B </a:t>
            </a:r>
            <a:r>
              <a:rPr lang="ru-RU" sz="2800" i="1" dirty="0"/>
              <a:t>\ </a:t>
            </a:r>
            <a:r>
              <a:rPr lang="en-US" sz="2800" i="1" dirty="0"/>
              <a:t>A</a:t>
            </a:r>
            <a:r>
              <a:rPr lang="ru-RU" sz="2800" dirty="0"/>
              <a:t>) = </a:t>
            </a:r>
          </a:p>
          <a:p>
            <a:r>
              <a:rPr lang="ru-RU" sz="2800" dirty="0"/>
              <a:t>=(</a:t>
            </a:r>
            <a:r>
              <a:rPr lang="en-US" sz="2800" i="1" dirty="0"/>
              <a:t>A </a:t>
            </a:r>
            <a:r>
              <a:rPr lang="en-US" sz="2800" dirty="0">
                <a:sym typeface="Symbol" panose="05050102010706020507" pitchFamily="18" charset="2"/>
              </a:rPr>
              <a:t></a:t>
            </a:r>
            <a:r>
              <a:rPr lang="ru-RU" sz="2800" dirty="0">
                <a:sym typeface="Symbol" panose="05050102010706020507" pitchFamily="18" charset="2"/>
              </a:rPr>
              <a:t>    ) (     </a:t>
            </a:r>
            <a:r>
              <a:rPr lang="en-US" sz="2800" dirty="0">
                <a:sym typeface="Symbol" panose="05050102010706020507" pitchFamily="18" charset="2"/>
              </a:rPr>
              <a:t></a:t>
            </a:r>
            <a:r>
              <a:rPr lang="ru-RU" sz="2800" dirty="0">
                <a:sym typeface="Symbol" panose="05050102010706020507" pitchFamily="18" charset="2"/>
              </a:rPr>
              <a:t> </a:t>
            </a:r>
            <a:r>
              <a:rPr lang="en-US" sz="2800" i="1" dirty="0"/>
              <a:t>B</a:t>
            </a:r>
            <a:r>
              <a:rPr lang="ru-RU" sz="2800" dirty="0"/>
              <a:t>) с функцией принадлежности µ</a:t>
            </a:r>
            <a:r>
              <a:rPr lang="ru-RU" sz="2800" i="1" baseline="-25000" dirty="0"/>
              <a:t>С</a:t>
            </a:r>
            <a:r>
              <a:rPr lang="ru-RU" sz="2800" dirty="0"/>
              <a:t>(</a:t>
            </a:r>
            <a:r>
              <a:rPr lang="en-US" sz="2800" i="1" dirty="0"/>
              <a:t>x</a:t>
            </a:r>
            <a:r>
              <a:rPr lang="ru-RU" sz="2800" dirty="0"/>
              <a:t>) = µ</a:t>
            </a:r>
            <a:r>
              <a:rPr lang="en-US" sz="2800" i="1" baseline="-25000" dirty="0"/>
              <a:t>A</a:t>
            </a:r>
            <a:r>
              <a:rPr lang="en-US" sz="2800" baseline="-25000" dirty="0">
                <a:sym typeface="Symbol" panose="05050102010706020507" pitchFamily="18" charset="2"/>
              </a:rPr>
              <a:t></a:t>
            </a:r>
            <a:r>
              <a:rPr lang="ru-RU" sz="2800" i="1" baseline="-25000" dirty="0"/>
              <a:t>В</a:t>
            </a:r>
            <a:r>
              <a:rPr lang="ru-RU" sz="2800" dirty="0"/>
              <a:t>(</a:t>
            </a:r>
            <a:r>
              <a:rPr lang="en-US" sz="2800" i="1" dirty="0"/>
              <a:t>x</a:t>
            </a:r>
            <a:r>
              <a:rPr lang="ru-RU" sz="2800" dirty="0"/>
              <a:t>) = </a:t>
            </a:r>
            <a:r>
              <a:rPr lang="en-US" sz="2800" dirty="0"/>
              <a:t>max</a:t>
            </a:r>
            <a:r>
              <a:rPr lang="ru-RU" sz="2800" dirty="0"/>
              <a:t>{</a:t>
            </a:r>
            <a:r>
              <a:rPr lang="en-US" sz="2800" dirty="0"/>
              <a:t>min</a:t>
            </a:r>
            <a:r>
              <a:rPr lang="ru-RU" sz="2800" dirty="0"/>
              <a:t>{µ</a:t>
            </a:r>
            <a:r>
              <a:rPr lang="en-US" sz="2800" i="1" baseline="-25000" dirty="0"/>
              <a:t>A</a:t>
            </a:r>
            <a:r>
              <a:rPr lang="ru-RU" sz="2800" dirty="0"/>
              <a:t>(</a:t>
            </a:r>
            <a:r>
              <a:rPr lang="en-US" sz="2800" i="1" dirty="0"/>
              <a:t>x</a:t>
            </a:r>
            <a:r>
              <a:rPr lang="ru-RU" sz="2800" dirty="0"/>
              <a:t>), 1 – µ</a:t>
            </a:r>
            <a:r>
              <a:rPr lang="en-US" sz="2800" i="1" baseline="-25000" dirty="0"/>
              <a:t>B</a:t>
            </a:r>
            <a:r>
              <a:rPr lang="ru-RU" sz="2800" dirty="0"/>
              <a:t>(</a:t>
            </a:r>
            <a:r>
              <a:rPr lang="en-US" sz="2800" i="1" dirty="0"/>
              <a:t>x</a:t>
            </a:r>
            <a:r>
              <a:rPr lang="ru-RU" sz="2800" dirty="0"/>
              <a:t>)}; </a:t>
            </a:r>
            <a:r>
              <a:rPr lang="en-US" sz="2800" dirty="0"/>
              <a:t>min</a:t>
            </a:r>
            <a:r>
              <a:rPr lang="ru-RU" sz="2800" dirty="0"/>
              <a:t>{1 – µ</a:t>
            </a:r>
            <a:r>
              <a:rPr lang="en-US" sz="2800" i="1" baseline="-25000" dirty="0"/>
              <a:t>A</a:t>
            </a:r>
            <a:r>
              <a:rPr lang="ru-RU" sz="2800" dirty="0"/>
              <a:t>(</a:t>
            </a:r>
            <a:r>
              <a:rPr lang="en-US" sz="2800" i="1" dirty="0"/>
              <a:t>x</a:t>
            </a:r>
            <a:r>
              <a:rPr lang="ru-RU" sz="2800" dirty="0"/>
              <a:t>), µ</a:t>
            </a:r>
            <a:r>
              <a:rPr lang="en-US" sz="2800" i="1" baseline="-25000" dirty="0"/>
              <a:t>B</a:t>
            </a:r>
            <a:r>
              <a:rPr lang="ru-RU" sz="2800" dirty="0"/>
              <a:t>(</a:t>
            </a:r>
            <a:r>
              <a:rPr lang="en-US" sz="2800" i="1" dirty="0"/>
              <a:t>x</a:t>
            </a:r>
            <a:r>
              <a:rPr lang="ru-RU" sz="2800" dirty="0"/>
              <a:t>)}} </a:t>
            </a:r>
          </a:p>
          <a:p>
            <a:r>
              <a:rPr lang="en-US" sz="2800" dirty="0">
                <a:sym typeface="Symbol" panose="05050102010706020507" pitchFamily="18" charset="2"/>
              </a:rPr>
              <a:t></a:t>
            </a:r>
            <a:r>
              <a:rPr lang="en-US" sz="2800" i="1" dirty="0"/>
              <a:t>x </a:t>
            </a:r>
            <a:r>
              <a:rPr lang="ru-RU" sz="2800" dirty="0">
                <a:sym typeface="Symbol" panose="05050102010706020507" pitchFamily="18" charset="2"/>
              </a:rPr>
              <a:t></a:t>
            </a:r>
            <a:r>
              <a:rPr lang="ru-RU" sz="2800" dirty="0"/>
              <a:t> </a:t>
            </a:r>
            <a:r>
              <a:rPr lang="en-US" sz="2800" i="1" dirty="0"/>
              <a:t>U</a:t>
            </a:r>
            <a:r>
              <a:rPr lang="ru-RU" sz="2800" i="1" dirty="0"/>
              <a:t>.</a:t>
            </a:r>
            <a:endParaRPr lang="ru-RU" sz="2800" dirty="0"/>
          </a:p>
        </p:txBody>
      </p:sp>
      <p:sp>
        <p:nvSpPr>
          <p:cNvPr id="5" name="Rectangle 2"/>
          <p:cNvSpPr>
            <a:spLocks noChangeArrowheads="1"/>
          </p:cNvSpPr>
          <p:nvPr/>
        </p:nvSpPr>
        <p:spPr bwMode="auto">
          <a:xfrm>
            <a:off x="1636295" y="1992429"/>
            <a:ext cx="2136804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6" name="Объект 5"/>
          <p:cNvGraphicFramePr>
            <a:graphicFrameLocks noChangeAspect="1"/>
          </p:cNvGraphicFramePr>
          <p:nvPr>
            <p:extLst>
              <p:ext uri="{D42A27DB-BD31-4B8C-83A1-F6EECF244321}">
                <p14:modId xmlns:p14="http://schemas.microsoft.com/office/powerpoint/2010/main" val="152705725"/>
              </p:ext>
            </p:extLst>
          </p:nvPr>
        </p:nvGraphicFramePr>
        <p:xfrm>
          <a:off x="924026" y="933651"/>
          <a:ext cx="356134" cy="445168"/>
        </p:xfrm>
        <a:graphic>
          <a:graphicData uri="http://schemas.openxmlformats.org/presentationml/2006/ole">
            <mc:AlternateContent xmlns:mc="http://schemas.openxmlformats.org/markup-compatibility/2006">
              <mc:Choice xmlns:v="urn:schemas-microsoft-com:vml" Requires="v">
                <p:oleObj name="Уравнение" r:id="rId2" imgW="152268" imgH="203024" progId="Equation.3">
                  <p:embed/>
                </p:oleObj>
              </mc:Choice>
              <mc:Fallback>
                <p:oleObj name="Уравнение" r:id="rId2" imgW="152268" imgH="203024" progId="Equation.3">
                  <p:embed/>
                  <p:pic>
                    <p:nvPicPr>
                      <p:cNvPr id="0"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026" y="933651"/>
                        <a:ext cx="356134" cy="445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3734602" y="2342347"/>
            <a:ext cx="207906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8" name="Объект 7"/>
          <p:cNvGraphicFramePr>
            <a:graphicFrameLocks noChangeAspect="1"/>
          </p:cNvGraphicFramePr>
          <p:nvPr>
            <p:extLst>
              <p:ext uri="{D42A27DB-BD31-4B8C-83A1-F6EECF244321}">
                <p14:modId xmlns:p14="http://schemas.microsoft.com/office/powerpoint/2010/main" val="2482109687"/>
              </p:ext>
            </p:extLst>
          </p:nvPr>
        </p:nvGraphicFramePr>
        <p:xfrm>
          <a:off x="1857676" y="990999"/>
          <a:ext cx="346510" cy="433138"/>
        </p:xfrm>
        <a:graphic>
          <a:graphicData uri="http://schemas.openxmlformats.org/presentationml/2006/ole">
            <mc:AlternateContent xmlns:mc="http://schemas.openxmlformats.org/markup-compatibility/2006">
              <mc:Choice xmlns:v="urn:schemas-microsoft-com:vml" Requires="v">
                <p:oleObj name="Уравнение" r:id="rId4" imgW="152268" imgH="203024" progId="Equation.3">
                  <p:embed/>
                </p:oleObj>
              </mc:Choice>
              <mc:Fallback>
                <p:oleObj name="Уравнение" r:id="rId4" imgW="152268" imgH="203024" progId="Equation.3">
                  <p:embed/>
                  <p:pic>
                    <p:nvPicPr>
                      <p:cNvPr id="0"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676" y="990999"/>
                        <a:ext cx="346510" cy="43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0" y="2121239"/>
            <a:ext cx="9144000" cy="954107"/>
          </a:xfrm>
          <a:prstGeom prst="rect">
            <a:avLst/>
          </a:prstGeom>
          <a:noFill/>
        </p:spPr>
        <p:txBody>
          <a:bodyPr wrap="square" rtlCol="0">
            <a:spAutoFit/>
          </a:bodyPr>
          <a:lstStyle/>
          <a:p>
            <a:r>
              <a:rPr lang="ru-RU" sz="2800" dirty="0"/>
              <a:t>Для наших данных имеем: </a:t>
            </a:r>
          </a:p>
          <a:p>
            <a:r>
              <a:rPr lang="ru-RU" sz="2800" i="1" dirty="0"/>
              <a:t>А </a:t>
            </a:r>
            <a:r>
              <a:rPr lang="ru-RU" sz="2800" dirty="0">
                <a:sym typeface="Symbol" panose="05050102010706020507" pitchFamily="18" charset="2"/>
              </a:rPr>
              <a:t></a:t>
            </a:r>
            <a:r>
              <a:rPr lang="ru-RU" sz="2800" dirty="0"/>
              <a:t> </a:t>
            </a:r>
            <a:r>
              <a:rPr lang="ru-RU" sz="2800" i="1" dirty="0"/>
              <a:t>В</a:t>
            </a:r>
            <a:r>
              <a:rPr lang="ru-RU" sz="2800" dirty="0"/>
              <a:t> = {0,6/</a:t>
            </a:r>
            <a:r>
              <a:rPr lang="ru-RU" sz="2800" i="1" dirty="0"/>
              <a:t>x</a:t>
            </a:r>
            <a:r>
              <a:rPr lang="ru-RU" sz="2800" baseline="-25000" dirty="0"/>
              <a:t>1</a:t>
            </a:r>
            <a:r>
              <a:rPr lang="ru-RU" sz="2800" dirty="0"/>
              <a:t>, 0,8/</a:t>
            </a:r>
            <a:r>
              <a:rPr lang="ru-RU" sz="2800" i="1" dirty="0"/>
              <a:t>x</a:t>
            </a:r>
            <a:r>
              <a:rPr lang="ru-RU" sz="2800" baseline="-25000" dirty="0"/>
              <a:t>2</a:t>
            </a:r>
            <a:r>
              <a:rPr lang="ru-RU" sz="2800" dirty="0"/>
              <a:t>, 0,1/</a:t>
            </a:r>
            <a:r>
              <a:rPr lang="ru-RU" sz="2800" i="1" dirty="0"/>
              <a:t>x</a:t>
            </a:r>
            <a:r>
              <a:rPr lang="ru-RU" sz="2800" baseline="-25000" dirty="0"/>
              <a:t>3</a:t>
            </a:r>
            <a:r>
              <a:rPr lang="ru-RU" sz="2800" dirty="0"/>
              <a:t>, 0/</a:t>
            </a:r>
            <a:r>
              <a:rPr lang="ru-RU" sz="2800" i="1" dirty="0"/>
              <a:t>x</a:t>
            </a:r>
            <a:r>
              <a:rPr lang="ru-RU" sz="2800" baseline="-25000" dirty="0"/>
              <a:t>4</a:t>
            </a:r>
            <a:r>
              <a:rPr lang="ru-RU" sz="2800" dirty="0"/>
              <a:t>}.</a:t>
            </a:r>
          </a:p>
        </p:txBody>
      </p:sp>
      <p:sp>
        <p:nvSpPr>
          <p:cNvPr id="10" name="TextBox 9"/>
          <p:cNvSpPr txBox="1"/>
          <p:nvPr/>
        </p:nvSpPr>
        <p:spPr>
          <a:xfrm>
            <a:off x="0" y="3056566"/>
            <a:ext cx="5342021" cy="3539430"/>
          </a:xfrm>
          <a:prstGeom prst="rect">
            <a:avLst/>
          </a:prstGeom>
          <a:noFill/>
        </p:spPr>
        <p:txBody>
          <a:bodyPr wrap="square" rtlCol="0">
            <a:spAutoFit/>
          </a:bodyPr>
          <a:lstStyle/>
          <a:p>
            <a:r>
              <a:rPr lang="ru-RU" sz="2800" dirty="0"/>
              <a:t>Рассмотрим прямоугольную систему координат, на оси ординат которой откладываются значение µ</a:t>
            </a:r>
            <a:r>
              <a:rPr lang="en-US" sz="2800" i="1" baseline="-25000" dirty="0"/>
              <a:t>A</a:t>
            </a:r>
            <a:r>
              <a:rPr lang="ru-RU" sz="2800" dirty="0"/>
              <a:t>(</a:t>
            </a:r>
            <a:r>
              <a:rPr lang="en-US" sz="2800" i="1" dirty="0"/>
              <a:t>x</a:t>
            </a:r>
            <a:r>
              <a:rPr lang="ru-RU" sz="2800" dirty="0"/>
              <a:t>), на оси абсцисс расположены элементы </a:t>
            </a:r>
            <a:r>
              <a:rPr lang="en-US" sz="2800" i="1" dirty="0"/>
              <a:t>U</a:t>
            </a:r>
            <a:r>
              <a:rPr lang="ru-RU" sz="2800" dirty="0"/>
              <a:t>. Такое представление делает наглядными простые операции над нечеткими множествами.</a:t>
            </a:r>
          </a:p>
        </p:txBody>
      </p:sp>
      <p:pic>
        <p:nvPicPr>
          <p:cNvPr id="615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l="45453" t="11317" r="27388" b="52699"/>
          <a:stretch>
            <a:fillRect/>
          </a:stretch>
        </p:blipFill>
        <p:spPr bwMode="auto">
          <a:xfrm>
            <a:off x="5168766" y="3379545"/>
            <a:ext cx="3891390" cy="28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Объект 11"/>
          <p:cNvGraphicFramePr>
            <a:graphicFrameLocks noChangeAspect="1"/>
          </p:cNvGraphicFramePr>
          <p:nvPr>
            <p:extLst>
              <p:ext uri="{D42A27DB-BD31-4B8C-83A1-F6EECF244321}">
                <p14:modId xmlns:p14="http://schemas.microsoft.com/office/powerpoint/2010/main" val="1149705513"/>
              </p:ext>
            </p:extLst>
          </p:nvPr>
        </p:nvGraphicFramePr>
        <p:xfrm>
          <a:off x="7027833" y="6360595"/>
          <a:ext cx="346510" cy="433138"/>
        </p:xfrm>
        <a:graphic>
          <a:graphicData uri="http://schemas.openxmlformats.org/presentationml/2006/ole">
            <mc:AlternateContent xmlns:mc="http://schemas.openxmlformats.org/markup-compatibility/2006">
              <mc:Choice xmlns:v="urn:schemas-microsoft-com:vml" Requires="v">
                <p:oleObj name="Уравнение" r:id="rId7" imgW="152268" imgH="203024" progId="Equation.3">
                  <p:embed/>
                </p:oleObj>
              </mc:Choice>
              <mc:Fallback>
                <p:oleObj name="Уравнение" r:id="rId7" imgW="152268" imgH="203024" progId="Equation.3">
                  <p:embed/>
                  <p:pic>
                    <p:nvPicPr>
                      <p:cNvPr id="0" name="Picture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7833" y="6360595"/>
                        <a:ext cx="346510" cy="43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6358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151"/>
                                        </p:tgtEl>
                                        <p:attrNameLst>
                                          <p:attrName>style.visibility</p:attrName>
                                        </p:attrNameLst>
                                      </p:cBhvr>
                                      <p:to>
                                        <p:strVal val="visible"/>
                                      </p:to>
                                    </p:set>
                                    <p:animEffect transition="in" filter="fade">
                                      <p:cBhvr>
                                        <p:cTn id="21" dur="1000"/>
                                        <p:tgtEl>
                                          <p:spTgt spid="6151"/>
                                        </p:tgtEl>
                                      </p:cBhvr>
                                    </p:animEffect>
                                    <p:anim calcmode="lin" valueType="num">
                                      <p:cBhvr>
                                        <p:cTn id="22" dur="1000" fill="hold"/>
                                        <p:tgtEl>
                                          <p:spTgt spid="6151"/>
                                        </p:tgtEl>
                                        <p:attrNameLst>
                                          <p:attrName>ppt_x</p:attrName>
                                        </p:attrNameLst>
                                      </p:cBhvr>
                                      <p:tavLst>
                                        <p:tav tm="0">
                                          <p:val>
                                            <p:strVal val="#ppt_x"/>
                                          </p:val>
                                        </p:tav>
                                        <p:tav tm="100000">
                                          <p:val>
                                            <p:strVal val="#ppt_x"/>
                                          </p:val>
                                        </p:tav>
                                      </p:tavLst>
                                    </p:anim>
                                    <p:anim calcmode="lin" valueType="num">
                                      <p:cBhvr>
                                        <p:cTn id="23" dur="1000" fill="hold"/>
                                        <p:tgtEl>
                                          <p:spTgt spid="6151"/>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45319" t="55942" r="27380" b="8986"/>
          <a:stretch>
            <a:fillRect/>
          </a:stretch>
        </p:blipFill>
        <p:spPr bwMode="auto">
          <a:xfrm>
            <a:off x="4684198" y="28685"/>
            <a:ext cx="3161481" cy="227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l="45647" t="17271" r="27776" b="47090"/>
          <a:stretch>
            <a:fillRect/>
          </a:stretch>
        </p:blipFill>
        <p:spPr bwMode="auto">
          <a:xfrm>
            <a:off x="157685" y="2269625"/>
            <a:ext cx="2999401" cy="225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972514" y="1746405"/>
            <a:ext cx="1356188" cy="523220"/>
          </a:xfrm>
          <a:prstGeom prst="rect">
            <a:avLst/>
          </a:prstGeom>
          <a:noFill/>
        </p:spPr>
        <p:txBody>
          <a:bodyPr wrap="square" rtlCol="0">
            <a:spAutoFit/>
          </a:bodyPr>
          <a:lstStyle/>
          <a:p>
            <a:r>
              <a:rPr lang="ru-RU" sz="2800" i="1" dirty="0"/>
              <a:t>А </a:t>
            </a:r>
            <a:r>
              <a:rPr lang="ru-RU" sz="2800" dirty="0">
                <a:sym typeface="Symbol" panose="05050102010706020507" pitchFamily="18" charset="2"/>
              </a:rPr>
              <a:t></a:t>
            </a:r>
            <a:r>
              <a:rPr lang="ru-RU" sz="2800" dirty="0"/>
              <a:t> </a:t>
            </a:r>
            <a:r>
              <a:rPr lang="en-US" sz="2800" i="1" dirty="0"/>
              <a:t>B</a:t>
            </a:r>
            <a:endParaRPr lang="ru-RU" sz="2800" dirty="0"/>
          </a:p>
        </p:txBody>
      </p:sp>
      <p:sp>
        <p:nvSpPr>
          <p:cNvPr id="3" name="TextBox 2"/>
          <p:cNvSpPr txBox="1"/>
          <p:nvPr/>
        </p:nvSpPr>
        <p:spPr>
          <a:xfrm>
            <a:off x="3157086" y="3999451"/>
            <a:ext cx="1099335" cy="523220"/>
          </a:xfrm>
          <a:prstGeom prst="rect">
            <a:avLst/>
          </a:prstGeom>
          <a:noFill/>
        </p:spPr>
        <p:txBody>
          <a:bodyPr wrap="square" rtlCol="0">
            <a:spAutoFit/>
          </a:bodyPr>
          <a:lstStyle/>
          <a:p>
            <a:r>
              <a:rPr lang="en-US" sz="2800" i="1" dirty="0"/>
              <a:t>A</a:t>
            </a:r>
            <a:r>
              <a:rPr lang="en-US" sz="2800" dirty="0"/>
              <a:t> </a:t>
            </a:r>
            <a:r>
              <a:rPr lang="ru-RU" sz="2800" dirty="0"/>
              <a:t>\ </a:t>
            </a:r>
            <a:r>
              <a:rPr lang="en-US" sz="2800" i="1" dirty="0"/>
              <a:t>B</a:t>
            </a:r>
            <a:endParaRPr lang="ru-RU" sz="2800" dirty="0"/>
          </a:p>
        </p:txBody>
      </p:sp>
      <p:pic>
        <p:nvPicPr>
          <p:cNvPr id="9221" name="Picture 5"/>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1509" t="32132" r="40794" b="32230"/>
          <a:stretch/>
        </p:blipFill>
        <p:spPr bwMode="auto">
          <a:xfrm>
            <a:off x="4684198" y="2744810"/>
            <a:ext cx="3218196" cy="229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9586" t="32132" r="14054" b="32230"/>
          <a:stretch/>
        </p:blipFill>
        <p:spPr bwMode="auto">
          <a:xfrm>
            <a:off x="232230" y="4574463"/>
            <a:ext cx="2999402" cy="225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3231632" y="6301898"/>
            <a:ext cx="1253213" cy="523220"/>
          </a:xfrm>
          <a:prstGeom prst="rect">
            <a:avLst/>
          </a:prstGeom>
          <a:noFill/>
        </p:spPr>
        <p:txBody>
          <a:bodyPr wrap="square" rtlCol="0">
            <a:spAutoFit/>
          </a:bodyPr>
          <a:lstStyle/>
          <a:p>
            <a:r>
              <a:rPr lang="ru-RU" sz="2800" i="1" dirty="0"/>
              <a:t>А </a:t>
            </a:r>
            <a:r>
              <a:rPr lang="ru-RU" sz="2800" dirty="0">
                <a:sym typeface="Symbol" panose="05050102010706020507" pitchFamily="18" charset="2"/>
              </a:rPr>
              <a:t></a:t>
            </a:r>
            <a:r>
              <a:rPr lang="ru-RU" sz="2800" dirty="0"/>
              <a:t> </a:t>
            </a:r>
            <a:r>
              <a:rPr lang="ru-RU" sz="2800" i="1" dirty="0"/>
              <a:t>В</a:t>
            </a:r>
            <a:endParaRPr lang="ru-RU" sz="2800" dirty="0"/>
          </a:p>
        </p:txBody>
      </p:sp>
      <p:pic>
        <p:nvPicPr>
          <p:cNvPr id="717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l="45343" t="8710" r="27721" b="56242"/>
          <a:stretch>
            <a:fillRect/>
          </a:stretch>
        </p:blipFill>
        <p:spPr bwMode="auto">
          <a:xfrm>
            <a:off x="157685" y="32136"/>
            <a:ext cx="2999401" cy="218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333765" y="1626670"/>
            <a:ext cx="1173754" cy="523220"/>
          </a:xfrm>
          <a:prstGeom prst="rect">
            <a:avLst/>
          </a:prstGeom>
          <a:noFill/>
        </p:spPr>
        <p:txBody>
          <a:bodyPr wrap="square" rtlCol="0">
            <a:spAutoFit/>
          </a:bodyPr>
          <a:lstStyle/>
          <a:p>
            <a:r>
              <a:rPr lang="en-US" sz="2800" i="1" dirty="0"/>
              <a:t>A </a:t>
            </a:r>
            <a:r>
              <a:rPr lang="ru-RU" sz="2800" dirty="0">
                <a:sym typeface="Symbol" panose="05050102010706020507" pitchFamily="18" charset="2"/>
              </a:rPr>
              <a:t></a:t>
            </a:r>
            <a:r>
              <a:rPr lang="ru-RU" sz="2800" dirty="0"/>
              <a:t> </a:t>
            </a:r>
            <a:r>
              <a:rPr lang="en-US" sz="2800" i="1" dirty="0"/>
              <a:t>B</a:t>
            </a:r>
            <a:endParaRPr lang="ru-RU" sz="2800" dirty="0"/>
          </a:p>
        </p:txBody>
      </p:sp>
      <p:sp>
        <p:nvSpPr>
          <p:cNvPr id="7" name="Прямоугольник 6"/>
          <p:cNvSpPr/>
          <p:nvPr/>
        </p:nvSpPr>
        <p:spPr>
          <a:xfrm>
            <a:off x="8106105" y="4574463"/>
            <a:ext cx="761747" cy="461665"/>
          </a:xfrm>
          <a:prstGeom prst="rect">
            <a:avLst/>
          </a:prstGeom>
        </p:spPr>
        <p:txBody>
          <a:bodyPr wrap="none">
            <a:spAutoFit/>
          </a:bodyPr>
          <a:lstStyle/>
          <a:p>
            <a:r>
              <a:rPr lang="en-US" sz="2400" i="1" dirty="0">
                <a:ea typeface="Times New Roman" panose="02020603050405020304" pitchFamily="18" charset="0"/>
              </a:rPr>
              <a:t>A </a:t>
            </a:r>
            <a:r>
              <a:rPr lang="ru-RU" sz="2400" dirty="0">
                <a:ea typeface="Times New Roman" panose="02020603050405020304" pitchFamily="18" charset="0"/>
                <a:cs typeface="Times New Roman" panose="02020603050405020304" pitchFamily="18" charset="0"/>
                <a:sym typeface="Symbol" panose="05050102010706020507" pitchFamily="18" charset="2"/>
              </a:rPr>
              <a:t>-</a:t>
            </a:r>
            <a:r>
              <a:rPr lang="ru-RU" sz="2400" dirty="0">
                <a:ea typeface="Times New Roman" panose="02020603050405020304" pitchFamily="18" charset="0"/>
              </a:rPr>
              <a:t> </a:t>
            </a:r>
            <a:r>
              <a:rPr lang="en-US" sz="2400" i="1" dirty="0">
                <a:ea typeface="Times New Roman" panose="02020603050405020304" pitchFamily="18" charset="0"/>
              </a:rPr>
              <a:t>B</a:t>
            </a:r>
            <a:endParaRPr lang="ru-RU" sz="2400" dirty="0"/>
          </a:p>
        </p:txBody>
      </p:sp>
    </p:spTree>
    <p:extLst>
      <p:ext uri="{BB962C8B-B14F-4D97-AF65-F5344CB8AC3E}">
        <p14:creationId xmlns:p14="http://schemas.microsoft.com/office/powerpoint/2010/main" val="338878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1000"/>
                                        <p:tgtEl>
                                          <p:spTgt spid="9218"/>
                                        </p:tgtEl>
                                      </p:cBhvr>
                                    </p:animEffect>
                                    <p:anim calcmode="lin" valueType="num">
                                      <p:cBhvr>
                                        <p:cTn id="8" dur="1000" fill="hold"/>
                                        <p:tgtEl>
                                          <p:spTgt spid="9218"/>
                                        </p:tgtEl>
                                        <p:attrNameLst>
                                          <p:attrName>ppt_x</p:attrName>
                                        </p:attrNameLst>
                                      </p:cBhvr>
                                      <p:tavLst>
                                        <p:tav tm="0">
                                          <p:val>
                                            <p:strVal val="#ppt_x"/>
                                          </p:val>
                                        </p:tav>
                                        <p:tav tm="100000">
                                          <p:val>
                                            <p:strVal val="#ppt_x"/>
                                          </p:val>
                                        </p:tav>
                                      </p:tavLst>
                                    </p:anim>
                                    <p:anim calcmode="lin" valueType="num">
                                      <p:cBhvr>
                                        <p:cTn id="9" dur="1000" fill="hold"/>
                                        <p:tgtEl>
                                          <p:spTgt spid="92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219"/>
                                        </p:tgtEl>
                                        <p:attrNameLst>
                                          <p:attrName>style.visibility</p:attrName>
                                        </p:attrNameLst>
                                      </p:cBhvr>
                                      <p:to>
                                        <p:strVal val="visible"/>
                                      </p:to>
                                    </p:set>
                                    <p:animEffect transition="in" filter="fade">
                                      <p:cBhvr>
                                        <p:cTn id="19" dur="1000"/>
                                        <p:tgtEl>
                                          <p:spTgt spid="9219"/>
                                        </p:tgtEl>
                                      </p:cBhvr>
                                    </p:animEffect>
                                    <p:anim calcmode="lin" valueType="num">
                                      <p:cBhvr>
                                        <p:cTn id="20" dur="1000" fill="hold"/>
                                        <p:tgtEl>
                                          <p:spTgt spid="9219"/>
                                        </p:tgtEl>
                                        <p:attrNameLst>
                                          <p:attrName>ppt_x</p:attrName>
                                        </p:attrNameLst>
                                      </p:cBhvr>
                                      <p:tavLst>
                                        <p:tav tm="0">
                                          <p:val>
                                            <p:strVal val="#ppt_x"/>
                                          </p:val>
                                        </p:tav>
                                        <p:tav tm="100000">
                                          <p:val>
                                            <p:strVal val="#ppt_x"/>
                                          </p:val>
                                        </p:tav>
                                      </p:tavLst>
                                    </p:anim>
                                    <p:anim calcmode="lin" valueType="num">
                                      <p:cBhvr>
                                        <p:cTn id="21" dur="1000" fill="hold"/>
                                        <p:tgtEl>
                                          <p:spTgt spid="921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221"/>
                                        </p:tgtEl>
                                        <p:attrNameLst>
                                          <p:attrName>style.visibility</p:attrName>
                                        </p:attrNameLst>
                                      </p:cBhvr>
                                      <p:to>
                                        <p:strVal val="visible"/>
                                      </p:to>
                                    </p:set>
                                    <p:animEffect transition="in" filter="fade">
                                      <p:cBhvr>
                                        <p:cTn id="31" dur="1000"/>
                                        <p:tgtEl>
                                          <p:spTgt spid="9221"/>
                                        </p:tgtEl>
                                      </p:cBhvr>
                                    </p:animEffect>
                                    <p:anim calcmode="lin" valueType="num">
                                      <p:cBhvr>
                                        <p:cTn id="32" dur="1000" fill="hold"/>
                                        <p:tgtEl>
                                          <p:spTgt spid="9221"/>
                                        </p:tgtEl>
                                        <p:attrNameLst>
                                          <p:attrName>ppt_x</p:attrName>
                                        </p:attrNameLst>
                                      </p:cBhvr>
                                      <p:tavLst>
                                        <p:tav tm="0">
                                          <p:val>
                                            <p:strVal val="#ppt_x"/>
                                          </p:val>
                                        </p:tav>
                                        <p:tav tm="100000">
                                          <p:val>
                                            <p:strVal val="#ppt_x"/>
                                          </p:val>
                                        </p:tav>
                                      </p:tavLst>
                                    </p:anim>
                                    <p:anim calcmode="lin" valueType="num">
                                      <p:cBhvr>
                                        <p:cTn id="33" dur="1000" fill="hold"/>
                                        <p:tgtEl>
                                          <p:spTgt spid="922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222"/>
                                        </p:tgtEl>
                                        <p:attrNameLst>
                                          <p:attrName>style.visibility</p:attrName>
                                        </p:attrNameLst>
                                      </p:cBhvr>
                                      <p:to>
                                        <p:strVal val="visible"/>
                                      </p:to>
                                    </p:set>
                                    <p:animEffect transition="in" filter="fade">
                                      <p:cBhvr>
                                        <p:cTn id="43" dur="1000"/>
                                        <p:tgtEl>
                                          <p:spTgt spid="9222"/>
                                        </p:tgtEl>
                                      </p:cBhvr>
                                    </p:animEffect>
                                    <p:anim calcmode="lin" valueType="num">
                                      <p:cBhvr>
                                        <p:cTn id="44" dur="1000" fill="hold"/>
                                        <p:tgtEl>
                                          <p:spTgt spid="9222"/>
                                        </p:tgtEl>
                                        <p:attrNameLst>
                                          <p:attrName>ppt_x</p:attrName>
                                        </p:attrNameLst>
                                      </p:cBhvr>
                                      <p:tavLst>
                                        <p:tav tm="0">
                                          <p:val>
                                            <p:strVal val="#ppt_x"/>
                                          </p:val>
                                        </p:tav>
                                        <p:tav tm="100000">
                                          <p:val>
                                            <p:strVal val="#ppt_x"/>
                                          </p:val>
                                        </p:tav>
                                      </p:tavLst>
                                    </p:anim>
                                    <p:anim calcmode="lin" valueType="num">
                                      <p:cBhvr>
                                        <p:cTn id="45" dur="1000" fill="hold"/>
                                        <p:tgtEl>
                                          <p:spTgt spid="922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anim calcmode="lin" valueType="num">
                                      <p:cBhvr>
                                        <p:cTn id="49" dur="1000" fill="hold"/>
                                        <p:tgtEl>
                                          <p:spTgt spid="5"/>
                                        </p:tgtEl>
                                        <p:attrNameLst>
                                          <p:attrName>ppt_x</p:attrName>
                                        </p:attrNameLst>
                                      </p:cBhvr>
                                      <p:tavLst>
                                        <p:tav tm="0">
                                          <p:val>
                                            <p:strVal val="#ppt_x"/>
                                          </p:val>
                                        </p:tav>
                                        <p:tav tm="100000">
                                          <p:val>
                                            <p:strVal val="#ppt_x"/>
                                          </p:val>
                                        </p:tav>
                                      </p:tavLst>
                                    </p:anim>
                                    <p:anim calcmode="lin" valueType="num">
                                      <p:cBhvr>
                                        <p:cTn id="5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7377" y="0"/>
            <a:ext cx="9076623" cy="954107"/>
          </a:xfrm>
          <a:prstGeom prst="rect">
            <a:avLst/>
          </a:prstGeom>
          <a:noFill/>
        </p:spPr>
        <p:txBody>
          <a:bodyPr wrap="square" rtlCol="0">
            <a:spAutoFit/>
          </a:bodyPr>
          <a:lstStyle/>
          <a:p>
            <a:r>
              <a:rPr lang="ru-RU" sz="2800" dirty="0"/>
              <a:t>Пусть </a:t>
            </a:r>
            <a:r>
              <a:rPr lang="ru-RU" sz="2800" i="1" dirty="0"/>
              <a:t>A</a:t>
            </a:r>
            <a:r>
              <a:rPr lang="ru-RU" sz="2800" dirty="0"/>
              <a:t> — нечеткий интервал между 5 до 8 и </a:t>
            </a:r>
          </a:p>
          <a:p>
            <a:r>
              <a:rPr lang="ru-RU" sz="2800" i="1" dirty="0"/>
              <a:t>B</a:t>
            </a:r>
            <a:r>
              <a:rPr lang="ru-RU" sz="2800" dirty="0"/>
              <a:t> — нечеткое число около 4, как показано на рисунках </a:t>
            </a:r>
          </a:p>
        </p:txBody>
      </p:sp>
      <p:pic>
        <p:nvPicPr>
          <p:cNvPr id="8194" name="Picture 2" descr="http://www.victoria.lviv.ua/html/oio/images/theme11/image028.gif"/>
          <p:cNvPicPr>
            <a:picLocks noChangeAspect="1" noChangeArrowheads="1"/>
          </p:cNvPicPr>
          <p:nvPr/>
        </p:nvPicPr>
        <p:blipFill>
          <a:blip r:embed="rId2" cstate="print">
            <a:extLst>
              <a:ext uri="{28A0092B-C50C-407E-A947-70E740481C1C}">
                <a14:useLocalDpi xmlns:a14="http://schemas.microsoft.com/office/drawing/2010/main" val="0"/>
              </a:ext>
            </a:extLst>
          </a:blip>
          <a:srcRect t="7843" b="7843"/>
          <a:stretch>
            <a:fillRect/>
          </a:stretch>
        </p:blipFill>
        <p:spPr bwMode="auto">
          <a:xfrm>
            <a:off x="-101115" y="938016"/>
            <a:ext cx="3497487" cy="168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3" descr="http://www.victoria.lviv.ua/html/oio/images/theme11/image030.gif"/>
          <p:cNvPicPr>
            <a:picLocks noChangeAspect="1" noChangeArrowheads="1"/>
          </p:cNvPicPr>
          <p:nvPr/>
        </p:nvPicPr>
        <p:blipFill>
          <a:blip r:embed="rId3" cstate="print">
            <a:extLst>
              <a:ext uri="{28A0092B-C50C-407E-A947-70E740481C1C}">
                <a14:useLocalDpi xmlns:a14="http://schemas.microsoft.com/office/drawing/2010/main" val="0"/>
              </a:ext>
            </a:extLst>
          </a:blip>
          <a:srcRect t="9390" b="7512"/>
          <a:stretch>
            <a:fillRect/>
          </a:stretch>
        </p:blipFill>
        <p:spPr bwMode="auto">
          <a:xfrm>
            <a:off x="3396372" y="938015"/>
            <a:ext cx="3511707" cy="168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55069" y="2621230"/>
            <a:ext cx="8701238" cy="523220"/>
          </a:xfrm>
          <a:prstGeom prst="rect">
            <a:avLst/>
          </a:prstGeom>
          <a:noFill/>
        </p:spPr>
        <p:txBody>
          <a:bodyPr wrap="square" rtlCol="0">
            <a:spAutoFit/>
          </a:bodyPr>
          <a:lstStyle/>
          <a:p>
            <a:r>
              <a:rPr lang="ru-RU" sz="2800" dirty="0"/>
              <a:t>Операции над этими множествами </a:t>
            </a:r>
          </a:p>
        </p:txBody>
      </p:sp>
      <p:sp>
        <p:nvSpPr>
          <p:cNvPr id="6" name="Rectangle 8"/>
          <p:cNvSpPr>
            <a:spLocks noChangeArrowheads="1"/>
          </p:cNvSpPr>
          <p:nvPr/>
        </p:nvSpPr>
        <p:spPr bwMode="auto">
          <a:xfrm>
            <a:off x="-47677" y="3301465"/>
            <a:ext cx="1433778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pSp>
        <p:nvGrpSpPr>
          <p:cNvPr id="7" name="Group 4"/>
          <p:cNvGrpSpPr>
            <a:grpSpLocks/>
          </p:cNvGrpSpPr>
          <p:nvPr/>
        </p:nvGrpSpPr>
        <p:grpSpPr bwMode="auto">
          <a:xfrm>
            <a:off x="67377" y="3301466"/>
            <a:ext cx="8888930" cy="2175310"/>
            <a:chOff x="1584" y="2858"/>
            <a:chExt cx="8927" cy="1852"/>
          </a:xfrm>
        </p:grpSpPr>
        <p:pic>
          <p:nvPicPr>
            <p:cNvPr id="8199" name="Рисунок 60" descr="http://www.victoria.lviv.ua/html/oio/images/theme11/image036.gif"/>
            <p:cNvPicPr>
              <a:picLocks noChangeAspect="1" noChangeArrowheads="1"/>
            </p:cNvPicPr>
            <p:nvPr/>
          </p:nvPicPr>
          <p:blipFill>
            <a:blip r:embed="rId4" cstate="print">
              <a:extLst>
                <a:ext uri="{28A0092B-C50C-407E-A947-70E740481C1C}">
                  <a14:useLocalDpi xmlns:a14="http://schemas.microsoft.com/office/drawing/2010/main" val="0"/>
                </a:ext>
              </a:extLst>
            </a:blip>
            <a:srcRect t="8333" b="7443"/>
            <a:stretch>
              <a:fillRect/>
            </a:stretch>
          </p:blipFill>
          <p:spPr bwMode="auto">
            <a:xfrm>
              <a:off x="1584" y="2858"/>
              <a:ext cx="2851" cy="1843"/>
            </a:xfrm>
            <a:prstGeom prst="rect">
              <a:avLst/>
            </a:prstGeom>
            <a:noFill/>
            <a:extLst>
              <a:ext uri="{909E8E84-426E-40DD-AFC4-6F175D3DCCD1}">
                <a14:hiddenFill xmlns:a14="http://schemas.microsoft.com/office/drawing/2010/main">
                  <a:solidFill>
                    <a:srgbClr val="FFFFFF"/>
                  </a:solidFill>
                </a14:hiddenFill>
              </a:ext>
            </a:extLst>
          </p:spPr>
        </p:pic>
        <p:pic>
          <p:nvPicPr>
            <p:cNvPr id="8198" name="Рисунок 58" descr="http://www.victoria.lviv.ua/html/oio/images/theme11/image032.gif"/>
            <p:cNvPicPr>
              <a:picLocks noChangeAspect="1" noChangeArrowheads="1"/>
            </p:cNvPicPr>
            <p:nvPr/>
          </p:nvPicPr>
          <p:blipFill>
            <a:blip r:embed="rId5" cstate="print">
              <a:extLst>
                <a:ext uri="{28A0092B-C50C-407E-A947-70E740481C1C}">
                  <a14:useLocalDpi xmlns:a14="http://schemas.microsoft.com/office/drawing/2010/main" val="0"/>
                </a:ext>
              </a:extLst>
            </a:blip>
            <a:srcRect t="7018" b="8324"/>
            <a:stretch>
              <a:fillRect/>
            </a:stretch>
          </p:blipFill>
          <p:spPr bwMode="auto">
            <a:xfrm>
              <a:off x="4478" y="2858"/>
              <a:ext cx="2928" cy="1852"/>
            </a:xfrm>
            <a:prstGeom prst="rect">
              <a:avLst/>
            </a:prstGeom>
            <a:noFill/>
            <a:extLst>
              <a:ext uri="{909E8E84-426E-40DD-AFC4-6F175D3DCCD1}">
                <a14:hiddenFill xmlns:a14="http://schemas.microsoft.com/office/drawing/2010/main">
                  <a:solidFill>
                    <a:srgbClr val="FFFFFF"/>
                  </a:solidFill>
                </a14:hiddenFill>
              </a:ext>
            </a:extLst>
          </p:spPr>
        </p:pic>
        <p:pic>
          <p:nvPicPr>
            <p:cNvPr id="8197" name="Рисунок 59" descr="http://www.victoria.lviv.ua/html/oio/images/theme11/image034.gif"/>
            <p:cNvPicPr>
              <a:picLocks noChangeAspect="1" noChangeArrowheads="1"/>
            </p:cNvPicPr>
            <p:nvPr/>
          </p:nvPicPr>
          <p:blipFill>
            <a:blip r:embed="rId6" cstate="print">
              <a:extLst>
                <a:ext uri="{28A0092B-C50C-407E-A947-70E740481C1C}">
                  <a14:useLocalDpi xmlns:a14="http://schemas.microsoft.com/office/drawing/2010/main" val="0"/>
                </a:ext>
              </a:extLst>
            </a:blip>
            <a:srcRect t="8621" b="8621"/>
            <a:stretch>
              <a:fillRect/>
            </a:stretch>
          </p:blipFill>
          <p:spPr bwMode="auto">
            <a:xfrm>
              <a:off x="7430" y="2858"/>
              <a:ext cx="3081" cy="184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p:cNvSpPr txBox="1"/>
          <p:nvPr/>
        </p:nvSpPr>
        <p:spPr>
          <a:xfrm>
            <a:off x="4041264" y="5491808"/>
            <a:ext cx="5314491" cy="523220"/>
          </a:xfrm>
          <a:prstGeom prst="rect">
            <a:avLst/>
          </a:prstGeom>
          <a:noFill/>
        </p:spPr>
        <p:txBody>
          <a:bodyPr wrap="square" rtlCol="0">
            <a:spAutoFit/>
          </a:bodyPr>
          <a:lstStyle/>
          <a:p>
            <a:r>
              <a:rPr lang="en-US" sz="2800" i="1" dirty="0"/>
              <a:t>A </a:t>
            </a:r>
            <a:r>
              <a:rPr lang="ru-RU" sz="2800" dirty="0">
                <a:sym typeface="Symbol" panose="05050102010706020507" pitchFamily="18" charset="2"/>
              </a:rPr>
              <a:t></a:t>
            </a:r>
            <a:r>
              <a:rPr lang="ru-RU" sz="2800" dirty="0"/>
              <a:t> </a:t>
            </a:r>
            <a:r>
              <a:rPr lang="en-US" sz="2800" i="1" dirty="0"/>
              <a:t>B </a:t>
            </a:r>
            <a:r>
              <a:rPr lang="ru-RU" sz="2800" i="1" dirty="0"/>
              <a:t>                              А </a:t>
            </a:r>
            <a:r>
              <a:rPr lang="ru-RU" sz="2800" dirty="0">
                <a:sym typeface="Symbol" panose="05050102010706020507" pitchFamily="18" charset="2"/>
              </a:rPr>
              <a:t></a:t>
            </a:r>
            <a:r>
              <a:rPr lang="ru-RU" sz="2800" dirty="0"/>
              <a:t> </a:t>
            </a:r>
            <a:r>
              <a:rPr lang="en-US" sz="2800" i="1" dirty="0"/>
              <a:t>B </a:t>
            </a:r>
            <a:endParaRPr lang="ru-RU" sz="2800" dirty="0"/>
          </a:p>
        </p:txBody>
      </p:sp>
      <p:sp>
        <p:nvSpPr>
          <p:cNvPr id="9" name="Rectangle 10"/>
          <p:cNvSpPr>
            <a:spLocks noChangeArrowheads="1"/>
          </p:cNvSpPr>
          <p:nvPr/>
        </p:nvSpPr>
        <p:spPr bwMode="auto">
          <a:xfrm>
            <a:off x="1626669" y="5491807"/>
            <a:ext cx="2376061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10" name="Объект 9"/>
          <p:cNvGraphicFramePr>
            <a:graphicFrameLocks noChangeAspect="1"/>
          </p:cNvGraphicFramePr>
          <p:nvPr>
            <p:extLst>
              <p:ext uri="{D42A27DB-BD31-4B8C-83A1-F6EECF244321}">
                <p14:modId xmlns:p14="http://schemas.microsoft.com/office/powerpoint/2010/main" val="682397928"/>
              </p:ext>
            </p:extLst>
          </p:nvPr>
        </p:nvGraphicFramePr>
        <p:xfrm>
          <a:off x="1626669" y="5491808"/>
          <a:ext cx="346509" cy="470262"/>
        </p:xfrm>
        <a:graphic>
          <a:graphicData uri="http://schemas.openxmlformats.org/presentationml/2006/ole">
            <mc:AlternateContent xmlns:mc="http://schemas.openxmlformats.org/markup-compatibility/2006">
              <mc:Choice xmlns:v="urn:schemas-microsoft-com:vml" Requires="v">
                <p:oleObj r:id="rId7" imgW="139579" imgH="177646" progId="">
                  <p:embed/>
                </p:oleObj>
              </mc:Choice>
              <mc:Fallback>
                <p:oleObj r:id="rId7" imgW="139579" imgH="177646" progId="">
                  <p:embed/>
                  <p:pic>
                    <p:nvPicPr>
                      <p:cNvPr id="0"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6669" y="5491808"/>
                        <a:ext cx="346509" cy="470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4526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1000"/>
                                        <p:tgtEl>
                                          <p:spTgt spid="8194"/>
                                        </p:tgtEl>
                                      </p:cBhvr>
                                    </p:animEffect>
                                    <p:anim calcmode="lin" valueType="num">
                                      <p:cBhvr>
                                        <p:cTn id="8" dur="1000" fill="hold"/>
                                        <p:tgtEl>
                                          <p:spTgt spid="8194"/>
                                        </p:tgtEl>
                                        <p:attrNameLst>
                                          <p:attrName>ppt_x</p:attrName>
                                        </p:attrNameLst>
                                      </p:cBhvr>
                                      <p:tavLst>
                                        <p:tav tm="0">
                                          <p:val>
                                            <p:strVal val="#ppt_x"/>
                                          </p:val>
                                        </p:tav>
                                        <p:tav tm="100000">
                                          <p:val>
                                            <p:strVal val="#ppt_x"/>
                                          </p:val>
                                        </p:tav>
                                      </p:tavLst>
                                    </p:anim>
                                    <p:anim calcmode="lin" valueType="num">
                                      <p:cBhvr>
                                        <p:cTn id="9"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gtEl>
                                        <p:attrNameLst>
                                          <p:attrName>style.visibility</p:attrName>
                                        </p:attrNameLst>
                                      </p:cBhvr>
                                      <p:to>
                                        <p:strVal val="visible"/>
                                      </p:to>
                                    </p:set>
                                    <p:animEffect transition="in" filter="fade">
                                      <p:cBhvr>
                                        <p:cTn id="14" dur="1000"/>
                                        <p:tgtEl>
                                          <p:spTgt spid="8195"/>
                                        </p:tgtEl>
                                      </p:cBhvr>
                                    </p:animEffect>
                                    <p:anim calcmode="lin" valueType="num">
                                      <p:cBhvr>
                                        <p:cTn id="15" dur="1000" fill="hold"/>
                                        <p:tgtEl>
                                          <p:spTgt spid="8195"/>
                                        </p:tgtEl>
                                        <p:attrNameLst>
                                          <p:attrName>ppt_x</p:attrName>
                                        </p:attrNameLst>
                                      </p:cBhvr>
                                      <p:tavLst>
                                        <p:tav tm="0">
                                          <p:val>
                                            <p:strVal val="#ppt_x"/>
                                          </p:val>
                                        </p:tav>
                                        <p:tav tm="100000">
                                          <p:val>
                                            <p:strVal val="#ppt_x"/>
                                          </p:val>
                                        </p:tav>
                                      </p:tavLst>
                                    </p:anim>
                                    <p:anim calcmode="lin" valueType="num">
                                      <p:cBhvr>
                                        <p:cTn id="16" dur="1000" fill="hold"/>
                                        <p:tgtEl>
                                          <p:spTgt spid="819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anim calcmode="lin" valueType="num">
                                      <p:cBhvr>
                                        <p:cTn id="39" dur="1000" fill="hold"/>
                                        <p:tgtEl>
                                          <p:spTgt spid="8"/>
                                        </p:tgtEl>
                                        <p:attrNameLst>
                                          <p:attrName>ppt_x</p:attrName>
                                        </p:attrNameLst>
                                      </p:cBhvr>
                                      <p:tavLst>
                                        <p:tav tm="0">
                                          <p:val>
                                            <p:strVal val="#ppt_x"/>
                                          </p:val>
                                        </p:tav>
                                        <p:tav tm="100000">
                                          <p:val>
                                            <p:strVal val="#ppt_x"/>
                                          </p:val>
                                        </p:tav>
                                      </p:tavLst>
                                    </p:anim>
                                    <p:anim calcmode="lin" valueType="num">
                                      <p:cBhvr>
                                        <p:cTn id="4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9144000" cy="2677656"/>
          </a:xfrm>
          <a:prstGeom prst="rect">
            <a:avLst/>
          </a:prstGeom>
          <a:noFill/>
        </p:spPr>
        <p:txBody>
          <a:bodyPr wrap="square" rtlCol="0">
            <a:spAutoFit/>
          </a:bodyPr>
          <a:lstStyle/>
          <a:p>
            <a:pPr hangingPunct="0"/>
            <a:r>
              <a:rPr lang="ru-RU" sz="2800" dirty="0"/>
              <a:t>Свойства операций пересечения и объединения нечетких множеств следующие. </a:t>
            </a:r>
          </a:p>
          <a:p>
            <a:pPr hangingPunct="0"/>
            <a:r>
              <a:rPr lang="ru-RU" sz="2800" dirty="0"/>
              <a:t>Ряд свойств  совпадают со свойствами операций с предикатами в логике одноместных предикатов </a:t>
            </a:r>
            <a:r>
              <a:rPr lang="en-US" sz="2800" i="1" dirty="0"/>
              <a:t>A</a:t>
            </a:r>
            <a:r>
              <a:rPr lang="en-US" sz="2800" dirty="0"/>
              <a:t> </a:t>
            </a:r>
            <a:r>
              <a:rPr lang="en-US" sz="2800" dirty="0">
                <a:sym typeface="Symbol" panose="05050102010706020507" pitchFamily="18" charset="2"/>
              </a:rPr>
              <a:t></a:t>
            </a:r>
            <a:r>
              <a:rPr lang="en-US" sz="2800" dirty="0"/>
              <a:t> </a:t>
            </a:r>
            <a:r>
              <a:rPr lang="en-US" sz="2800" i="1" dirty="0"/>
              <a:t>B</a:t>
            </a:r>
            <a:r>
              <a:rPr lang="ru-RU" sz="2800" i="1" dirty="0"/>
              <a:t>, </a:t>
            </a:r>
          </a:p>
          <a:p>
            <a:pPr hangingPunct="0"/>
            <a:r>
              <a:rPr lang="en-US" sz="2800" i="1" dirty="0"/>
              <a:t>A</a:t>
            </a:r>
            <a:r>
              <a:rPr lang="en-US" sz="2800" dirty="0"/>
              <a:t> </a:t>
            </a:r>
            <a:r>
              <a:rPr lang="en-US" sz="2800" dirty="0">
                <a:sym typeface="Symbol" panose="05050102010706020507" pitchFamily="18" charset="2"/>
              </a:rPr>
              <a:t></a:t>
            </a:r>
            <a:r>
              <a:rPr lang="en-US" sz="2800" dirty="0"/>
              <a:t> </a:t>
            </a:r>
            <a:r>
              <a:rPr lang="en-US" sz="2800" i="1" dirty="0"/>
              <a:t>B</a:t>
            </a:r>
            <a:r>
              <a:rPr lang="en-US" sz="2800" b="1" i="1" dirty="0"/>
              <a:t> </a:t>
            </a:r>
            <a:r>
              <a:rPr lang="ru-RU" sz="2800" dirty="0"/>
              <a:t>(коммутативность ассоциативность; дистрибутивность; идемпотентность). </a:t>
            </a:r>
          </a:p>
        </p:txBody>
      </p:sp>
      <p:sp>
        <p:nvSpPr>
          <p:cNvPr id="6" name="TextBox 5"/>
          <p:cNvSpPr txBox="1"/>
          <p:nvPr/>
        </p:nvSpPr>
        <p:spPr>
          <a:xfrm>
            <a:off x="0" y="2531444"/>
            <a:ext cx="9038122" cy="954107"/>
          </a:xfrm>
          <a:prstGeom prst="rect">
            <a:avLst/>
          </a:prstGeom>
          <a:noFill/>
        </p:spPr>
        <p:txBody>
          <a:bodyPr wrap="square" rtlCol="0">
            <a:spAutoFit/>
          </a:bodyPr>
          <a:lstStyle/>
          <a:p>
            <a:r>
              <a:rPr lang="ru-RU" sz="2800" dirty="0"/>
              <a:t>Выполняются законы дополнительного элемента, правила Де Моргана. </a:t>
            </a:r>
          </a:p>
        </p:txBody>
      </p:sp>
      <p:sp>
        <p:nvSpPr>
          <p:cNvPr id="7" name="TextBox 6"/>
          <p:cNvSpPr txBox="1"/>
          <p:nvPr/>
        </p:nvSpPr>
        <p:spPr>
          <a:xfrm>
            <a:off x="52939" y="3370047"/>
            <a:ext cx="9038122" cy="954107"/>
          </a:xfrm>
          <a:prstGeom prst="rect">
            <a:avLst/>
          </a:prstGeom>
          <a:noFill/>
        </p:spPr>
        <p:txBody>
          <a:bodyPr wrap="square" rtlCol="0">
            <a:spAutoFit/>
          </a:bodyPr>
          <a:lstStyle/>
          <a:p>
            <a:r>
              <a:rPr lang="ru-RU" sz="2800" dirty="0"/>
              <a:t>Некоторые отличаются с учетом характеристической функции. Имеем:</a:t>
            </a:r>
          </a:p>
        </p:txBody>
      </p:sp>
      <p:sp>
        <p:nvSpPr>
          <p:cNvPr id="8" name="TextBox 7"/>
          <p:cNvSpPr txBox="1"/>
          <p:nvPr/>
        </p:nvSpPr>
        <p:spPr>
          <a:xfrm>
            <a:off x="67377" y="4324047"/>
            <a:ext cx="9076623" cy="1384995"/>
          </a:xfrm>
          <a:prstGeom prst="rect">
            <a:avLst/>
          </a:prstGeom>
          <a:noFill/>
        </p:spPr>
        <p:txBody>
          <a:bodyPr wrap="square" rtlCol="0">
            <a:spAutoFit/>
          </a:bodyPr>
          <a:lstStyle/>
          <a:p>
            <a:r>
              <a:rPr lang="ru-RU" sz="2800" i="1" dirty="0"/>
              <a:t>A</a:t>
            </a:r>
            <a:r>
              <a:rPr lang="ru-RU" sz="2800" dirty="0"/>
              <a:t> </a:t>
            </a:r>
            <a:r>
              <a:rPr lang="en-US" sz="2800" dirty="0">
                <a:sym typeface="Symbol" panose="05050102010706020507" pitchFamily="18" charset="2"/>
              </a:rPr>
              <a:t></a:t>
            </a:r>
            <a:r>
              <a:rPr lang="en-US" sz="2800" dirty="0"/>
              <a:t> </a:t>
            </a:r>
            <a:r>
              <a:rPr lang="ru-RU" sz="2800" dirty="0">
                <a:sym typeface="Symbol" panose="05050102010706020507" pitchFamily="18" charset="2"/>
              </a:rPr>
              <a:t></a:t>
            </a:r>
            <a:r>
              <a:rPr lang="ru-RU" sz="2800" dirty="0"/>
              <a:t> = </a:t>
            </a:r>
            <a:r>
              <a:rPr lang="ru-RU" sz="2800" i="1" dirty="0"/>
              <a:t>A</a:t>
            </a:r>
            <a:r>
              <a:rPr lang="ru-RU" sz="2800" dirty="0"/>
              <a:t>, где </a:t>
            </a:r>
            <a:r>
              <a:rPr lang="ru-RU" sz="2800" dirty="0">
                <a:sym typeface="Symbol" panose="05050102010706020507" pitchFamily="18" charset="2"/>
              </a:rPr>
              <a:t></a:t>
            </a:r>
            <a:r>
              <a:rPr lang="ru-RU" sz="2800" dirty="0"/>
              <a:t> — пустое множество, </a:t>
            </a:r>
          </a:p>
          <a:p>
            <a:r>
              <a:rPr lang="ru-RU" sz="2800" dirty="0"/>
              <a:t>т.е. μ</a:t>
            </a:r>
            <a:r>
              <a:rPr lang="ru-RU" sz="2800" baseline="-25000" dirty="0">
                <a:sym typeface="Symbol" panose="05050102010706020507" pitchFamily="18" charset="2"/>
              </a:rPr>
              <a:t></a:t>
            </a:r>
            <a:r>
              <a:rPr lang="ru-RU" sz="2800" dirty="0"/>
              <a:t>(</a:t>
            </a:r>
            <a:r>
              <a:rPr lang="ru-RU" sz="2800" i="1" dirty="0"/>
              <a:t>x</a:t>
            </a:r>
            <a:r>
              <a:rPr lang="ru-RU" sz="2800" dirty="0"/>
              <a:t>) = 0 </a:t>
            </a:r>
            <a:r>
              <a:rPr lang="en-US" sz="2800" dirty="0">
                <a:sym typeface="Symbol" panose="05050102010706020507" pitchFamily="18" charset="2"/>
              </a:rPr>
              <a:t></a:t>
            </a:r>
            <a:r>
              <a:rPr lang="ru-RU" sz="2800" i="1" dirty="0"/>
              <a:t>x</a:t>
            </a:r>
            <a:r>
              <a:rPr lang="ru-RU" sz="2800" dirty="0"/>
              <a:t> </a:t>
            </a:r>
            <a:r>
              <a:rPr lang="ru-RU" sz="2800" dirty="0">
                <a:sym typeface="Symbol" panose="05050102010706020507" pitchFamily="18" charset="2"/>
              </a:rPr>
              <a:t></a:t>
            </a:r>
            <a:r>
              <a:rPr lang="ru-RU" sz="2800" dirty="0"/>
              <a:t> </a:t>
            </a:r>
            <a:r>
              <a:rPr lang="en-US" sz="2800" i="1" dirty="0"/>
              <a:t>U</a:t>
            </a:r>
            <a:r>
              <a:rPr lang="ru-RU" sz="2800" dirty="0"/>
              <a:t>;</a:t>
            </a:r>
          </a:p>
          <a:p>
            <a:endParaRPr lang="ru-RU" sz="2800" dirty="0"/>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 name="Объект 9"/>
          <p:cNvGraphicFramePr>
            <a:graphicFrameLocks noChangeAspect="1"/>
          </p:cNvGraphicFramePr>
          <p:nvPr>
            <p:extLst>
              <p:ext uri="{D42A27DB-BD31-4B8C-83A1-F6EECF244321}">
                <p14:modId xmlns:p14="http://schemas.microsoft.com/office/powerpoint/2010/main" val="3616938287"/>
              </p:ext>
            </p:extLst>
          </p:nvPr>
        </p:nvGraphicFramePr>
        <p:xfrm>
          <a:off x="240630" y="5251323"/>
          <a:ext cx="1472661" cy="457719"/>
        </p:xfrm>
        <a:graphic>
          <a:graphicData uri="http://schemas.openxmlformats.org/presentationml/2006/ole">
            <mc:AlternateContent xmlns:mc="http://schemas.openxmlformats.org/markup-compatibility/2006">
              <mc:Choice xmlns:v="urn:schemas-microsoft-com:vml" Requires="v">
                <p:oleObj r:id="rId2" imgW="609336" imgH="190417" progId="">
                  <p:embed/>
                </p:oleObj>
              </mc:Choice>
              <mc:Fallback>
                <p:oleObj r:id="rId2" imgW="609336" imgH="190417"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30" y="5251323"/>
                        <a:ext cx="1472661" cy="4577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4"/>
          <p:cNvSpPr>
            <a:spLocks noChangeArrowheads="1"/>
          </p:cNvSpPr>
          <p:nvPr/>
        </p:nvSpPr>
        <p:spPr bwMode="auto">
          <a:xfrm>
            <a:off x="259885" y="5780444"/>
            <a:ext cx="1222532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12" name="Объект 11"/>
          <p:cNvGraphicFramePr>
            <a:graphicFrameLocks noChangeAspect="1"/>
          </p:cNvGraphicFramePr>
          <p:nvPr>
            <p:extLst>
              <p:ext uri="{D42A27DB-BD31-4B8C-83A1-F6EECF244321}">
                <p14:modId xmlns:p14="http://schemas.microsoft.com/office/powerpoint/2010/main" val="636301100"/>
              </p:ext>
            </p:extLst>
          </p:nvPr>
        </p:nvGraphicFramePr>
        <p:xfrm>
          <a:off x="240630" y="5709041"/>
          <a:ext cx="1591289" cy="489627"/>
        </p:xfrm>
        <a:graphic>
          <a:graphicData uri="http://schemas.openxmlformats.org/presentationml/2006/ole">
            <mc:AlternateContent xmlns:mc="http://schemas.openxmlformats.org/markup-compatibility/2006">
              <mc:Choice xmlns:v="urn:schemas-microsoft-com:vml" Requires="v">
                <p:oleObj r:id="rId4" imgW="609336" imgH="190417" progId="">
                  <p:embed/>
                </p:oleObj>
              </mc:Choice>
              <mc:Fallback>
                <p:oleObj r:id="rId4" imgW="609336" imgH="190417" progId="">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30" y="5709041"/>
                        <a:ext cx="1591289" cy="4896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021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523220"/>
          </a:xfrm>
          <a:prstGeom prst="rect">
            <a:avLst/>
          </a:prstGeom>
          <a:noFill/>
        </p:spPr>
        <p:txBody>
          <a:bodyPr wrap="square" rtlCol="0">
            <a:spAutoFit/>
          </a:bodyPr>
          <a:lstStyle/>
          <a:p>
            <a:pPr algn="ctr"/>
            <a:r>
              <a:rPr lang="ru-RU" sz="2800" b="1" dirty="0">
                <a:solidFill>
                  <a:srgbClr val="FF0000"/>
                </a:solidFill>
              </a:rPr>
              <a:t>Лингвистическая переменная</a:t>
            </a:r>
          </a:p>
        </p:txBody>
      </p:sp>
      <p:sp>
        <p:nvSpPr>
          <p:cNvPr id="3" name="TextBox 2"/>
          <p:cNvSpPr txBox="1"/>
          <p:nvPr/>
        </p:nvSpPr>
        <p:spPr>
          <a:xfrm>
            <a:off x="0" y="410967"/>
            <a:ext cx="9144000" cy="2246769"/>
          </a:xfrm>
          <a:prstGeom prst="rect">
            <a:avLst/>
          </a:prstGeom>
          <a:noFill/>
        </p:spPr>
        <p:txBody>
          <a:bodyPr wrap="square" rtlCol="0">
            <a:spAutoFit/>
          </a:bodyPr>
          <a:lstStyle/>
          <a:p>
            <a:r>
              <a:rPr lang="ru-RU" sz="2800" dirty="0"/>
              <a:t>Нечеткая логика — обобщение классической логики с лингвистической переменной, принимающей значения «очень истинно», «более-менее истинно», «не очень ложно» и т.п. </a:t>
            </a:r>
          </a:p>
          <a:p>
            <a:endParaRPr lang="ru-RU" sz="2800" dirty="0"/>
          </a:p>
        </p:txBody>
      </p:sp>
      <p:sp>
        <p:nvSpPr>
          <p:cNvPr id="4" name="TextBox 3"/>
          <p:cNvSpPr txBox="1"/>
          <p:nvPr/>
        </p:nvSpPr>
        <p:spPr>
          <a:xfrm>
            <a:off x="0" y="2188396"/>
            <a:ext cx="9144000" cy="3970318"/>
          </a:xfrm>
          <a:prstGeom prst="rect">
            <a:avLst/>
          </a:prstGeom>
          <a:noFill/>
        </p:spPr>
        <p:txBody>
          <a:bodyPr wrap="square" rtlCol="0">
            <a:spAutoFit/>
          </a:bodyPr>
          <a:lstStyle/>
          <a:p>
            <a:pPr hangingPunct="0"/>
            <a:r>
              <a:rPr lang="ru-RU" sz="2800" dirty="0"/>
              <a:t>Лингвистическая переменная принимает значения из множества слов или словосочетаний естественного или искусственного языка. Множество допустимых значений лингвистической переменной называется </a:t>
            </a:r>
            <a:r>
              <a:rPr lang="ru-RU" sz="2800" b="1" dirty="0"/>
              <a:t>терм-множеством</a:t>
            </a:r>
            <a:r>
              <a:rPr lang="ru-RU" sz="2800" dirty="0"/>
              <a:t>. Задание значения переменной словами, без использования чисел, для человека более естественно. Понятие лингвистической переменной играет важную роль в нечетком логическом выводе и в принятии решений на основе приближенных рассуждений. </a:t>
            </a:r>
          </a:p>
        </p:txBody>
      </p:sp>
    </p:spTree>
    <p:extLst>
      <p:ext uri="{BB962C8B-B14F-4D97-AF65-F5344CB8AC3E}">
        <p14:creationId xmlns:p14="http://schemas.microsoft.com/office/powerpoint/2010/main" val="39309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2000" fill="hold"/>
                                        <p:tgtEl>
                                          <p:spTgt spid="4"/>
                                        </p:tgtEl>
                                        <p:attrNameLst>
                                          <p:attrName>ppt_x</p:attrName>
                                        </p:attrNameLst>
                                      </p:cBhvr>
                                      <p:tavLst>
                                        <p:tav tm="0">
                                          <p:val>
                                            <p:strVal val="#ppt_x"/>
                                          </p:val>
                                        </p:tav>
                                        <p:tav tm="100000">
                                          <p:val>
                                            <p:strVal val="#ppt_x"/>
                                          </p:val>
                                        </p:tav>
                                      </p:tavLst>
                                    </p:anim>
                                    <p:anim calcmode="lin" valueType="num">
                                      <p:cBhvr additive="base">
                                        <p:cTn id="15" dur="2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2193"/>
            <a:ext cx="9144000" cy="4832092"/>
          </a:xfrm>
          <a:prstGeom prst="rect">
            <a:avLst/>
          </a:prstGeom>
          <a:noFill/>
        </p:spPr>
        <p:txBody>
          <a:bodyPr wrap="square" rtlCol="0">
            <a:spAutoFit/>
          </a:bodyPr>
          <a:lstStyle/>
          <a:p>
            <a:r>
              <a:rPr lang="ru-RU" sz="2800" b="1" dirty="0"/>
              <a:t>Определение. Лингвистическая переменная</a:t>
            </a:r>
            <a:r>
              <a:rPr lang="ru-RU" sz="2800" dirty="0"/>
              <a:t> задается пятеркой</a:t>
            </a:r>
            <a:r>
              <a:rPr lang="ru-RU" sz="2800" b="1" dirty="0"/>
              <a:t> </a:t>
            </a:r>
            <a:r>
              <a:rPr lang="ru-RU" sz="2800" b="1" dirty="0">
                <a:sym typeface="Symbol" panose="05050102010706020507" pitchFamily="18" charset="2"/>
              </a:rPr>
              <a:t></a:t>
            </a:r>
            <a:r>
              <a:rPr lang="en-US" sz="2800" b="1" i="1" dirty="0"/>
              <a:t>X</a:t>
            </a:r>
            <a:r>
              <a:rPr lang="ru-RU" sz="2800" b="1" i="1" dirty="0"/>
              <a:t>, </a:t>
            </a:r>
            <a:r>
              <a:rPr lang="en-US" sz="2800" b="1" i="1" dirty="0"/>
              <a:t>T</a:t>
            </a:r>
            <a:r>
              <a:rPr lang="ru-RU" sz="2800" b="1" i="1" dirty="0"/>
              <a:t>, </a:t>
            </a:r>
            <a:r>
              <a:rPr lang="en-US" sz="2800" b="1" i="1" dirty="0"/>
              <a:t>U</a:t>
            </a:r>
            <a:r>
              <a:rPr lang="ru-RU" sz="2800" b="1" i="1" dirty="0"/>
              <a:t>, </a:t>
            </a:r>
            <a:r>
              <a:rPr lang="en-US" sz="2800" b="1" i="1" dirty="0"/>
              <a:t>G</a:t>
            </a:r>
            <a:r>
              <a:rPr lang="ru-RU" sz="2800" b="1" i="1" dirty="0"/>
              <a:t>, </a:t>
            </a:r>
            <a:r>
              <a:rPr lang="en-US" sz="2800" b="1" i="1" dirty="0"/>
              <a:t>M</a:t>
            </a:r>
            <a:r>
              <a:rPr lang="en-US" sz="2800" b="1" dirty="0">
                <a:sym typeface="Symbol" panose="05050102010706020507" pitchFamily="18" charset="2"/>
              </a:rPr>
              <a:t></a:t>
            </a:r>
            <a:r>
              <a:rPr lang="ru-RU" sz="2800" b="1" dirty="0"/>
              <a:t>,</a:t>
            </a:r>
            <a:r>
              <a:rPr lang="ru-RU" sz="2800" dirty="0"/>
              <a:t> </a:t>
            </a:r>
          </a:p>
          <a:p>
            <a:r>
              <a:rPr lang="ru-RU" sz="2800" dirty="0"/>
              <a:t>где </a:t>
            </a:r>
            <a:r>
              <a:rPr lang="en-US" sz="2800" i="1" dirty="0"/>
              <a:t>X</a:t>
            </a:r>
            <a:r>
              <a:rPr lang="ru-RU" sz="2800" dirty="0"/>
              <a:t> — имя переменной; </a:t>
            </a:r>
          </a:p>
          <a:p>
            <a:r>
              <a:rPr lang="en-US" sz="2800" i="1" dirty="0"/>
              <a:t>T</a:t>
            </a:r>
            <a:r>
              <a:rPr lang="ru-RU" sz="2800" dirty="0"/>
              <a:t> — терм-множество, каждый элемент которого (терм) представляется как нечеткое множество на универсальном множестве </a:t>
            </a:r>
            <a:r>
              <a:rPr lang="en-US" sz="2800" i="1" dirty="0"/>
              <a:t>U</a:t>
            </a:r>
            <a:r>
              <a:rPr lang="ru-RU" sz="2800" dirty="0"/>
              <a:t>; </a:t>
            </a:r>
          </a:p>
          <a:p>
            <a:r>
              <a:rPr lang="en-US" sz="2800" i="1" dirty="0"/>
              <a:t>G</a:t>
            </a:r>
            <a:r>
              <a:rPr lang="ru-RU" sz="2800" dirty="0"/>
              <a:t> — синтаксические правила, часто в виде грамматики, порождающие название термов; </a:t>
            </a:r>
          </a:p>
          <a:p>
            <a:r>
              <a:rPr lang="en-US" sz="2800" i="1" dirty="0"/>
              <a:t>M</a:t>
            </a:r>
            <a:r>
              <a:rPr lang="ru-RU" sz="2800" dirty="0"/>
              <a:t> — семантические правила, задающие функции принадлежности нечетких термов, порожденных синтаксическими правилами </a:t>
            </a:r>
            <a:r>
              <a:rPr lang="en-US" sz="2800" i="1" dirty="0"/>
              <a:t>G</a:t>
            </a:r>
            <a:r>
              <a:rPr lang="ru-RU" sz="2800" dirty="0"/>
              <a:t>.</a:t>
            </a:r>
          </a:p>
        </p:txBody>
      </p:sp>
    </p:spTree>
    <p:extLst>
      <p:ext uri="{BB962C8B-B14F-4D97-AF65-F5344CB8AC3E}">
        <p14:creationId xmlns:p14="http://schemas.microsoft.com/office/powerpoint/2010/main" val="1542751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2677656"/>
          </a:xfrm>
          <a:prstGeom prst="rect">
            <a:avLst/>
          </a:prstGeom>
          <a:noFill/>
        </p:spPr>
        <p:txBody>
          <a:bodyPr wrap="square" rtlCol="0">
            <a:spAutoFit/>
          </a:bodyPr>
          <a:lstStyle/>
          <a:p>
            <a:r>
              <a:rPr lang="ru-RU" sz="2800" dirty="0"/>
              <a:t>Рассмотрим лингвистическую переменную с именем </a:t>
            </a:r>
            <a:r>
              <a:rPr lang="en-US" sz="2800" i="1" dirty="0"/>
              <a:t>X </a:t>
            </a:r>
            <a:r>
              <a:rPr lang="ru-RU" sz="2800" i="1" dirty="0"/>
              <a:t>= </a:t>
            </a:r>
            <a:r>
              <a:rPr lang="ru-RU" sz="2800" dirty="0"/>
              <a:t>«температура в комнате». Тогда оставшуюся четверку </a:t>
            </a:r>
            <a:r>
              <a:rPr lang="ru-RU" sz="2800" dirty="0">
                <a:sym typeface="Symbol" panose="05050102010706020507" pitchFamily="18" charset="2"/>
              </a:rPr>
              <a:t></a:t>
            </a:r>
            <a:r>
              <a:rPr lang="en-US" sz="2800" i="1" dirty="0"/>
              <a:t>T</a:t>
            </a:r>
            <a:r>
              <a:rPr lang="ru-RU" sz="2800" i="1" dirty="0"/>
              <a:t>, </a:t>
            </a:r>
            <a:r>
              <a:rPr lang="en-US" sz="2800" i="1" dirty="0"/>
              <a:t>U</a:t>
            </a:r>
            <a:r>
              <a:rPr lang="ru-RU" sz="2800" i="1" dirty="0"/>
              <a:t>, </a:t>
            </a:r>
            <a:r>
              <a:rPr lang="en-US" sz="2800" i="1" dirty="0"/>
              <a:t>G</a:t>
            </a:r>
            <a:r>
              <a:rPr lang="ru-RU" sz="2800" i="1" dirty="0"/>
              <a:t>, </a:t>
            </a:r>
            <a:r>
              <a:rPr lang="en-US" sz="2800" i="1" dirty="0"/>
              <a:t>M</a:t>
            </a:r>
            <a:r>
              <a:rPr lang="en-US" sz="2800" dirty="0">
                <a:sym typeface="Symbol" panose="05050102010706020507" pitchFamily="18" charset="2"/>
              </a:rPr>
              <a:t></a:t>
            </a:r>
            <a:r>
              <a:rPr lang="ru-RU" sz="2800" dirty="0"/>
              <a:t> можно определить так: </a:t>
            </a:r>
          </a:p>
          <a:p>
            <a:r>
              <a:rPr lang="ru-RU" sz="2800" dirty="0"/>
              <a:t>универсальное множество — </a:t>
            </a:r>
            <a:r>
              <a:rPr lang="en-US" sz="2800" i="1" dirty="0"/>
              <a:t>U </a:t>
            </a:r>
            <a:r>
              <a:rPr lang="ru-RU" sz="2800" i="1" dirty="0"/>
              <a:t>= </a:t>
            </a:r>
            <a:r>
              <a:rPr lang="ru-RU" sz="2800" dirty="0"/>
              <a:t>[5; 35]; </a:t>
            </a:r>
          </a:p>
          <a:p>
            <a:r>
              <a:rPr lang="ru-RU" sz="2800" dirty="0"/>
              <a:t>терм-множество — </a:t>
            </a:r>
            <a:r>
              <a:rPr lang="en-US" sz="2800" i="1" dirty="0"/>
              <a:t>T </a:t>
            </a:r>
            <a:r>
              <a:rPr lang="ru-RU" sz="2800" i="1" dirty="0"/>
              <a:t>= </a:t>
            </a:r>
            <a:r>
              <a:rPr lang="ru-RU" sz="2800" dirty="0"/>
              <a:t>{«холодно», «комфортно», «жарко»} с такими функциями принадлежностями (</a:t>
            </a:r>
            <a:r>
              <a:rPr lang="en-US" sz="2800" i="1" dirty="0"/>
              <a:t>x </a:t>
            </a:r>
            <a:r>
              <a:rPr lang="ru-RU" sz="2800" dirty="0">
                <a:sym typeface="Symbol" panose="05050102010706020507" pitchFamily="18" charset="2"/>
              </a:rPr>
              <a:t></a:t>
            </a:r>
            <a:r>
              <a:rPr lang="ru-RU" sz="2800" dirty="0"/>
              <a:t> </a:t>
            </a:r>
            <a:r>
              <a:rPr lang="en-US" sz="2800" i="1" dirty="0"/>
              <a:t>U</a:t>
            </a:r>
            <a:r>
              <a:rPr lang="ru-RU" sz="2800" dirty="0"/>
              <a:t>):</a:t>
            </a:r>
          </a:p>
        </p:txBody>
      </p:sp>
      <p:graphicFrame>
        <p:nvGraphicFramePr>
          <p:cNvPr id="5" name="Объект 4"/>
          <p:cNvGraphicFramePr>
            <a:graphicFrameLocks noChangeAspect="1"/>
          </p:cNvGraphicFramePr>
          <p:nvPr>
            <p:extLst>
              <p:ext uri="{D42A27DB-BD31-4B8C-83A1-F6EECF244321}">
                <p14:modId xmlns:p14="http://schemas.microsoft.com/office/powerpoint/2010/main" val="1484636656"/>
              </p:ext>
            </p:extLst>
          </p:nvPr>
        </p:nvGraphicFramePr>
        <p:xfrm>
          <a:off x="117335" y="2685306"/>
          <a:ext cx="2923828" cy="1180099"/>
        </p:xfrm>
        <a:graphic>
          <a:graphicData uri="http://schemas.openxmlformats.org/presentationml/2006/ole">
            <mc:AlternateContent xmlns:mc="http://schemas.openxmlformats.org/markup-compatibility/2006">
              <mc:Choice xmlns:v="urn:schemas-microsoft-com:vml" Requires="v">
                <p:oleObj r:id="rId2" imgW="1574117" imgH="634725" progId="">
                  <p:embed/>
                </p:oleObj>
              </mc:Choice>
              <mc:Fallback>
                <p:oleObj r:id="rId2" imgW="1574117" imgH="634725" progId="">
                  <p:embed/>
                  <p:pic>
                    <p:nvPicPr>
                      <p:cNvPr id="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35" y="2685306"/>
                        <a:ext cx="2923828" cy="11800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Объект 5"/>
          <p:cNvGraphicFramePr>
            <a:graphicFrameLocks noChangeAspect="1"/>
          </p:cNvGraphicFramePr>
          <p:nvPr>
            <p:extLst>
              <p:ext uri="{D42A27DB-BD31-4B8C-83A1-F6EECF244321}">
                <p14:modId xmlns:p14="http://schemas.microsoft.com/office/powerpoint/2010/main" val="817349230"/>
              </p:ext>
            </p:extLst>
          </p:nvPr>
        </p:nvGraphicFramePr>
        <p:xfrm>
          <a:off x="3087904" y="2692562"/>
          <a:ext cx="3071765" cy="1182806"/>
        </p:xfrm>
        <a:graphic>
          <a:graphicData uri="http://schemas.openxmlformats.org/presentationml/2006/ole">
            <mc:AlternateContent xmlns:mc="http://schemas.openxmlformats.org/markup-compatibility/2006">
              <mc:Choice xmlns:v="urn:schemas-microsoft-com:vml" Requires="v">
                <p:oleObj r:id="rId4" imgW="1663700" imgH="635000" progId="">
                  <p:embed/>
                </p:oleObj>
              </mc:Choice>
              <mc:Fallback>
                <p:oleObj r:id="rId4" imgW="1663700" imgH="635000" progId="">
                  <p:embed/>
                  <p:pic>
                    <p:nvPicPr>
                      <p:cNvPr id="0" name="Picture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7904" y="2692562"/>
                        <a:ext cx="3071765" cy="1182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Объект 6"/>
          <p:cNvGraphicFramePr>
            <a:graphicFrameLocks noChangeAspect="1"/>
          </p:cNvGraphicFramePr>
          <p:nvPr>
            <p:extLst>
              <p:ext uri="{D42A27DB-BD31-4B8C-83A1-F6EECF244321}">
                <p14:modId xmlns:p14="http://schemas.microsoft.com/office/powerpoint/2010/main" val="2641339533"/>
              </p:ext>
            </p:extLst>
          </p:nvPr>
        </p:nvGraphicFramePr>
        <p:xfrm>
          <a:off x="6207794" y="2685306"/>
          <a:ext cx="2753325" cy="1174986"/>
        </p:xfrm>
        <a:graphic>
          <a:graphicData uri="http://schemas.openxmlformats.org/presentationml/2006/ole">
            <mc:AlternateContent xmlns:mc="http://schemas.openxmlformats.org/markup-compatibility/2006">
              <mc:Choice xmlns:v="urn:schemas-microsoft-com:vml" Requires="v">
                <p:oleObj r:id="rId6" imgW="1497950" imgH="634725" progId="">
                  <p:embed/>
                </p:oleObj>
              </mc:Choice>
              <mc:Fallback>
                <p:oleObj r:id="rId6" imgW="1497950" imgH="634725" progId="">
                  <p:embed/>
                  <p:pic>
                    <p:nvPicPr>
                      <p:cNvPr id="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7794" y="2685306"/>
                        <a:ext cx="2753325" cy="11749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4"/>
          <p:cNvSpPr>
            <a:spLocks noChangeArrowheads="1"/>
          </p:cNvSpPr>
          <p:nvPr/>
        </p:nvSpPr>
        <p:spPr bwMode="auto">
          <a:xfrm>
            <a:off x="462012" y="26776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9" name="Rectangle 5"/>
          <p:cNvSpPr>
            <a:spLocks noChangeArrowheads="1"/>
          </p:cNvSpPr>
          <p:nvPr/>
        </p:nvSpPr>
        <p:spPr bwMode="auto">
          <a:xfrm>
            <a:off x="462012" y="331583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10" name="Rectangle 6"/>
          <p:cNvSpPr>
            <a:spLocks noChangeArrowheads="1"/>
          </p:cNvSpPr>
          <p:nvPr/>
        </p:nvSpPr>
        <p:spPr bwMode="auto">
          <a:xfrm>
            <a:off x="462012" y="395400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 </a:t>
            </a: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1" name="TextBox 10"/>
          <p:cNvSpPr txBox="1"/>
          <p:nvPr/>
        </p:nvSpPr>
        <p:spPr>
          <a:xfrm>
            <a:off x="0" y="3954006"/>
            <a:ext cx="9144000" cy="1815882"/>
          </a:xfrm>
          <a:prstGeom prst="rect">
            <a:avLst/>
          </a:prstGeom>
          <a:noFill/>
        </p:spPr>
        <p:txBody>
          <a:bodyPr wrap="square" rtlCol="0">
            <a:spAutoFit/>
          </a:bodyPr>
          <a:lstStyle/>
          <a:p>
            <a:r>
              <a:rPr lang="ru-RU" sz="2800" dirty="0"/>
              <a:t>синтаксические правила </a:t>
            </a:r>
            <a:r>
              <a:rPr lang="en-US" sz="2800" i="1" dirty="0"/>
              <a:t>G</a:t>
            </a:r>
            <a:r>
              <a:rPr lang="en-US" sz="2800" dirty="0"/>
              <a:t> </a:t>
            </a:r>
            <a:r>
              <a:rPr lang="ru-RU" sz="2800" dirty="0"/>
              <a:t>— порождающее новые термы с использованием квантификатора {«не», «очень» и «более-менее»}; семантические правила </a:t>
            </a:r>
            <a:r>
              <a:rPr lang="en-US" sz="2800" i="1" dirty="0"/>
              <a:t>M</a:t>
            </a:r>
            <a:r>
              <a:rPr lang="ru-RU" sz="2800" dirty="0"/>
              <a:t> зададим в виде таблицы</a:t>
            </a:r>
          </a:p>
        </p:txBody>
      </p:sp>
    </p:spTree>
    <p:extLst>
      <p:ext uri="{BB962C8B-B14F-4D97-AF65-F5344CB8AC3E}">
        <p14:creationId xmlns:p14="http://schemas.microsoft.com/office/powerpoint/2010/main" val="261656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523220"/>
          </a:xfrm>
          <a:prstGeom prst="rect">
            <a:avLst/>
          </a:prstGeom>
          <a:noFill/>
        </p:spPr>
        <p:txBody>
          <a:bodyPr wrap="square" rtlCol="0">
            <a:spAutoFit/>
          </a:bodyPr>
          <a:lstStyle/>
          <a:p>
            <a:pPr algn="ctr"/>
            <a:r>
              <a:rPr lang="ru-RU" sz="2800" b="1" dirty="0"/>
              <a:t>Правила расчета функций принадлежности</a:t>
            </a:r>
            <a:endParaRPr lang="ru-RU" sz="2800" dirty="0"/>
          </a:p>
        </p:txBody>
      </p:sp>
      <p:graphicFrame>
        <p:nvGraphicFramePr>
          <p:cNvPr id="5" name="Таблица 4"/>
          <p:cNvGraphicFramePr>
            <a:graphicFrameLocks noGrp="1"/>
          </p:cNvGraphicFramePr>
          <p:nvPr>
            <p:extLst>
              <p:ext uri="{D42A27DB-BD31-4B8C-83A1-F6EECF244321}">
                <p14:modId xmlns:p14="http://schemas.microsoft.com/office/powerpoint/2010/main" val="670792897"/>
              </p:ext>
            </p:extLst>
          </p:nvPr>
        </p:nvGraphicFramePr>
        <p:xfrm>
          <a:off x="519764" y="664144"/>
          <a:ext cx="7979344" cy="1963552"/>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20000"/>
                    </a:ext>
                  </a:extLst>
                </a:gridCol>
                <a:gridCol w="5236144">
                  <a:extLst>
                    <a:ext uri="{9D8B030D-6E8A-4147-A177-3AD203B41FA5}">
                      <a16:colId xmlns:a16="http://schemas.microsoft.com/office/drawing/2014/main" val="20001"/>
                    </a:ext>
                  </a:extLst>
                </a:gridCol>
              </a:tblGrid>
              <a:tr h="490888">
                <a:tc>
                  <a:txBody>
                    <a:bodyPr/>
                    <a:lstStyle/>
                    <a:p>
                      <a:pPr indent="457200" algn="ctr" hangingPunct="0">
                        <a:spcAft>
                          <a:spcPts val="0"/>
                        </a:spcAft>
                      </a:pPr>
                      <a:r>
                        <a:rPr lang="ru-RU" sz="2400" dirty="0">
                          <a:effectLst/>
                          <a:latin typeface="+mn-lt"/>
                        </a:rPr>
                        <a:t>Квантификатор</a:t>
                      </a:r>
                      <a:endParaRPr lang="ru-RU" sz="2400" dirty="0">
                        <a:effectLst/>
                        <a:latin typeface="+mn-lt"/>
                        <a:ea typeface="Times New Roman" panose="02020603050405020304" pitchFamily="18" charset="0"/>
                      </a:endParaRPr>
                    </a:p>
                  </a:txBody>
                  <a:tcPr marL="68580" marR="68580" marT="0" marB="0"/>
                </a:tc>
                <a:tc>
                  <a:txBody>
                    <a:bodyPr/>
                    <a:lstStyle/>
                    <a:p>
                      <a:pPr indent="457200" algn="ctr" hangingPunct="0">
                        <a:spcAft>
                          <a:spcPts val="0"/>
                        </a:spcAft>
                      </a:pPr>
                      <a:r>
                        <a:rPr lang="ru-RU" sz="2400" dirty="0">
                          <a:effectLst/>
                          <a:latin typeface="+mn-lt"/>
                        </a:rPr>
                        <a:t>Функция принадлежности (</a:t>
                      </a:r>
                      <a:r>
                        <a:rPr lang="en-US" sz="2400" dirty="0">
                          <a:effectLst/>
                          <a:latin typeface="+mn-lt"/>
                        </a:rPr>
                        <a:t>x</a:t>
                      </a:r>
                      <a:r>
                        <a:rPr lang="ru-RU" sz="2400" dirty="0">
                          <a:effectLst/>
                          <a:latin typeface="+mn-lt"/>
                          <a:sym typeface="Symbol" panose="05050102010706020507" pitchFamily="18" charset="2"/>
                        </a:rPr>
                        <a:t></a:t>
                      </a:r>
                      <a:r>
                        <a:rPr lang="ru-RU" sz="2400" dirty="0">
                          <a:effectLst/>
                          <a:latin typeface="+mn-lt"/>
                        </a:rPr>
                        <a:t> </a:t>
                      </a:r>
                      <a:r>
                        <a:rPr lang="en-US" sz="2400" dirty="0">
                          <a:effectLst/>
                          <a:latin typeface="+mn-lt"/>
                        </a:rPr>
                        <a:t>U</a:t>
                      </a:r>
                      <a:r>
                        <a:rPr lang="ru-RU" sz="2400" dirty="0">
                          <a:effectLst/>
                          <a:latin typeface="+mn-lt"/>
                        </a:rPr>
                        <a:t>)</a:t>
                      </a:r>
                      <a:endParaRPr lang="ru-RU" sz="24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90888">
                <a:tc>
                  <a:txBody>
                    <a:bodyPr/>
                    <a:lstStyle/>
                    <a:p>
                      <a:pPr indent="457200" algn="just" hangingPunct="0">
                        <a:spcAft>
                          <a:spcPts val="0"/>
                        </a:spcAft>
                      </a:pPr>
                      <a:r>
                        <a:rPr lang="ru-RU" sz="2400">
                          <a:effectLst/>
                          <a:latin typeface="+mn-lt"/>
                        </a:rPr>
                        <a:t>не </a:t>
                      </a:r>
                      <a:r>
                        <a:rPr lang="en-US" sz="2400">
                          <a:effectLst/>
                          <a:latin typeface="+mn-lt"/>
                        </a:rPr>
                        <a:t>t</a:t>
                      </a:r>
                      <a:endParaRPr lang="ru-RU" sz="2400">
                        <a:effectLst/>
                        <a:latin typeface="+mn-lt"/>
                        <a:ea typeface="Times New Roman" panose="02020603050405020304" pitchFamily="18" charset="0"/>
                      </a:endParaRPr>
                    </a:p>
                  </a:txBody>
                  <a:tcPr marL="68580" marR="68580" marT="0" marB="0" anchor="ctr"/>
                </a:tc>
                <a:tc>
                  <a:txBody>
                    <a:bodyPr/>
                    <a:lstStyle/>
                    <a:p>
                      <a:pPr indent="457200" algn="ctr" hangingPunct="0">
                        <a:spcAft>
                          <a:spcPts val="0"/>
                        </a:spcAft>
                      </a:pPr>
                      <a:r>
                        <a:rPr lang="ru-RU" sz="2400" dirty="0">
                          <a:effectLst/>
                          <a:latin typeface="+mn-lt"/>
                        </a:rPr>
                        <a:t>1  – µ</a:t>
                      </a:r>
                      <a:r>
                        <a:rPr lang="en-US" sz="2400" baseline="-25000" dirty="0">
                          <a:effectLst/>
                          <a:latin typeface="+mn-lt"/>
                        </a:rPr>
                        <a:t>t</a:t>
                      </a:r>
                      <a:r>
                        <a:rPr lang="ru-RU" sz="2400" dirty="0">
                          <a:effectLst/>
                          <a:latin typeface="+mn-lt"/>
                        </a:rPr>
                        <a:t>(</a:t>
                      </a:r>
                      <a:r>
                        <a:rPr lang="en-US" sz="2400" dirty="0">
                          <a:effectLst/>
                          <a:latin typeface="+mn-lt"/>
                        </a:rPr>
                        <a:t>x</a:t>
                      </a:r>
                      <a:r>
                        <a:rPr lang="ru-RU" sz="2400" dirty="0">
                          <a:effectLst/>
                          <a:latin typeface="+mn-lt"/>
                        </a:rPr>
                        <a:t>)</a:t>
                      </a:r>
                      <a:endParaRPr lang="ru-RU" sz="24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90888">
                <a:tc>
                  <a:txBody>
                    <a:bodyPr/>
                    <a:lstStyle/>
                    <a:p>
                      <a:pPr indent="457200" algn="just" hangingPunct="0">
                        <a:spcAft>
                          <a:spcPts val="0"/>
                        </a:spcAft>
                      </a:pPr>
                      <a:r>
                        <a:rPr lang="ru-RU" sz="2400">
                          <a:effectLst/>
                          <a:latin typeface="+mn-lt"/>
                        </a:rPr>
                        <a:t>очень t</a:t>
                      </a:r>
                      <a:endParaRPr lang="ru-RU" sz="2400">
                        <a:effectLst/>
                        <a:latin typeface="+mn-lt"/>
                        <a:ea typeface="Times New Roman" panose="02020603050405020304" pitchFamily="18" charset="0"/>
                      </a:endParaRPr>
                    </a:p>
                  </a:txBody>
                  <a:tcPr marL="68580" marR="68580" marT="0" marB="0" anchor="ctr"/>
                </a:tc>
                <a:tc>
                  <a:txBody>
                    <a:bodyPr/>
                    <a:lstStyle/>
                    <a:p>
                      <a:pPr indent="457200" algn="ctr" hangingPunct="0">
                        <a:spcAft>
                          <a:spcPts val="0"/>
                        </a:spcAft>
                      </a:pPr>
                      <a:r>
                        <a:rPr lang="en-US" sz="2400" dirty="0">
                          <a:effectLst/>
                          <a:latin typeface="+mn-lt"/>
                        </a:rPr>
                        <a:t>(</a:t>
                      </a:r>
                      <a:r>
                        <a:rPr lang="ru-RU" sz="2400" dirty="0">
                          <a:effectLst/>
                          <a:latin typeface="+mn-lt"/>
                        </a:rPr>
                        <a:t>µ</a:t>
                      </a:r>
                      <a:r>
                        <a:rPr lang="en-US" sz="2400" baseline="-25000" dirty="0">
                          <a:effectLst/>
                          <a:latin typeface="+mn-lt"/>
                        </a:rPr>
                        <a:t>t</a:t>
                      </a:r>
                      <a:r>
                        <a:rPr lang="ru-RU" sz="2400" dirty="0">
                          <a:effectLst/>
                          <a:latin typeface="+mn-lt"/>
                        </a:rPr>
                        <a:t>(</a:t>
                      </a:r>
                      <a:r>
                        <a:rPr lang="en-US" sz="2400" dirty="0">
                          <a:effectLst/>
                          <a:latin typeface="+mn-lt"/>
                        </a:rPr>
                        <a:t>x</a:t>
                      </a:r>
                      <a:r>
                        <a:rPr lang="ru-RU" sz="2400" dirty="0">
                          <a:effectLst/>
                          <a:latin typeface="+mn-lt"/>
                        </a:rPr>
                        <a:t>)</a:t>
                      </a:r>
                      <a:r>
                        <a:rPr lang="en-US" sz="2400" dirty="0">
                          <a:effectLst/>
                          <a:latin typeface="+mn-lt"/>
                        </a:rPr>
                        <a:t>)</a:t>
                      </a:r>
                      <a:r>
                        <a:rPr lang="en-US" sz="2400" baseline="30000" dirty="0">
                          <a:effectLst/>
                          <a:latin typeface="+mn-lt"/>
                        </a:rPr>
                        <a:t>2</a:t>
                      </a:r>
                      <a:endParaRPr lang="ru-RU" sz="24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90888">
                <a:tc>
                  <a:txBody>
                    <a:bodyPr/>
                    <a:lstStyle/>
                    <a:p>
                      <a:pPr indent="457200" algn="just" hangingPunct="0">
                        <a:spcAft>
                          <a:spcPts val="0"/>
                        </a:spcAft>
                      </a:pPr>
                      <a:r>
                        <a:rPr lang="ru-RU" sz="2400" dirty="0">
                          <a:effectLst/>
                          <a:latin typeface="+mn-lt"/>
                        </a:rPr>
                        <a:t>более-менее t</a:t>
                      </a:r>
                      <a:endParaRPr lang="ru-RU" sz="2400" dirty="0">
                        <a:effectLst/>
                        <a:latin typeface="+mn-lt"/>
                        <a:ea typeface="Times New Roman" panose="02020603050405020304" pitchFamily="18" charset="0"/>
                      </a:endParaRPr>
                    </a:p>
                  </a:txBody>
                  <a:tcPr marL="68580" marR="68580" marT="0" marB="0" anchor="ctr"/>
                </a:tc>
                <a:tc>
                  <a:txBody>
                    <a:bodyPr/>
                    <a:lstStyle/>
                    <a:p>
                      <a:pPr indent="457200" algn="ctr" hangingPunct="0">
                        <a:spcAft>
                          <a:spcPts val="0"/>
                        </a:spcAft>
                      </a:pPr>
                      <a:endParaRPr lang="ru-RU" sz="2400"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6" name="Объект 5"/>
          <p:cNvGraphicFramePr>
            <a:graphicFrameLocks noChangeAspect="1"/>
          </p:cNvGraphicFramePr>
          <p:nvPr>
            <p:extLst>
              <p:ext uri="{D42A27DB-BD31-4B8C-83A1-F6EECF244321}">
                <p14:modId xmlns:p14="http://schemas.microsoft.com/office/powerpoint/2010/main" val="3101088116"/>
              </p:ext>
            </p:extLst>
          </p:nvPr>
        </p:nvGraphicFramePr>
        <p:xfrm>
          <a:off x="5639408" y="2088685"/>
          <a:ext cx="1041813" cy="574060"/>
        </p:xfrm>
        <a:graphic>
          <a:graphicData uri="http://schemas.openxmlformats.org/presentationml/2006/ole">
            <mc:AlternateContent xmlns:mc="http://schemas.openxmlformats.org/markup-compatibility/2006">
              <mc:Choice xmlns:v="urn:schemas-microsoft-com:vml" Requires="v">
                <p:oleObj r:id="rId2" imgW="457002" imgH="253890" progId="">
                  <p:embed/>
                </p:oleObj>
              </mc:Choice>
              <mc:Fallback>
                <p:oleObj r:id="rId2" imgW="457002" imgH="253890" progId="">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9408" y="2088685"/>
                        <a:ext cx="1041813" cy="5740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96252" y="2963901"/>
            <a:ext cx="8691613" cy="2246769"/>
          </a:xfrm>
          <a:prstGeom prst="rect">
            <a:avLst/>
          </a:prstGeom>
          <a:noFill/>
        </p:spPr>
        <p:txBody>
          <a:bodyPr wrap="square" rtlCol="0">
            <a:spAutoFit/>
          </a:bodyPr>
          <a:lstStyle/>
          <a:p>
            <a:r>
              <a:rPr lang="ru-RU" sz="2800" dirty="0"/>
              <a:t>Графики функций принадлежности термов «холодно», «не очень холодно», «комфортно», «более-менее комфортно», «жарко» и «очень жарко» лингвистической переменной «температура в комнате» показаны на рисунке</a:t>
            </a:r>
          </a:p>
        </p:txBody>
      </p:sp>
    </p:spTree>
    <p:extLst>
      <p:ext uri="{BB962C8B-B14F-4D97-AF65-F5344CB8AC3E}">
        <p14:creationId xmlns:p14="http://schemas.microsoft.com/office/powerpoint/2010/main" val="170630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3" descr="http://matlab.exponenta.ru/fuzzylogic/book1/images_1_7/image018.gif"/>
          <p:cNvPicPr>
            <a:picLocks noChangeAspect="1" noChangeArrowheads="1"/>
          </p:cNvPicPr>
          <p:nvPr/>
        </p:nvPicPr>
        <p:blipFill>
          <a:blip r:embed="rId2" cstate="print">
            <a:extLst>
              <a:ext uri="{28A0092B-C50C-407E-A947-70E740481C1C}">
                <a14:useLocalDpi xmlns:a14="http://schemas.microsoft.com/office/drawing/2010/main" val="0"/>
              </a:ext>
            </a:extLst>
          </a:blip>
          <a:srcRect t="5940"/>
          <a:stretch>
            <a:fillRect/>
          </a:stretch>
        </p:blipFill>
        <p:spPr bwMode="auto">
          <a:xfrm>
            <a:off x="-77429" y="3175"/>
            <a:ext cx="9298679" cy="420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23290" y="4212404"/>
            <a:ext cx="9020710" cy="2677656"/>
          </a:xfrm>
          <a:prstGeom prst="rect">
            <a:avLst/>
          </a:prstGeom>
          <a:noFill/>
        </p:spPr>
        <p:txBody>
          <a:bodyPr wrap="square" rtlCol="0">
            <a:spAutoFit/>
          </a:bodyPr>
          <a:lstStyle/>
          <a:p>
            <a:r>
              <a:rPr lang="ru-RU" sz="2800" dirty="0"/>
              <a:t>Квантификаторы «более-менее» и «очень» часто применяют к нечетким множествам «истинно» и «ложно», получая таким образом термы «очень ложно», «более-менее ложно», «более-менее истинно», «очень истинно», «очень, очень истинно», «очень, очень ложно» и т.п. </a:t>
            </a:r>
          </a:p>
        </p:txBody>
      </p:sp>
    </p:spTree>
    <p:extLst>
      <p:ext uri="{BB962C8B-B14F-4D97-AF65-F5344CB8AC3E}">
        <p14:creationId xmlns:p14="http://schemas.microsoft.com/office/powerpoint/2010/main" val="113910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815882"/>
          </a:xfrm>
          <a:prstGeom prst="rect">
            <a:avLst/>
          </a:prstGeom>
          <a:noFill/>
        </p:spPr>
        <p:txBody>
          <a:bodyPr wrap="square" rtlCol="0">
            <a:spAutoFit/>
          </a:bodyPr>
          <a:lstStyle/>
          <a:p>
            <a:r>
              <a:rPr lang="ru-RU" sz="2800" dirty="0"/>
              <a:t>Функции принадлежности новых термов получают, выполняя операции концентрации и растяжения нечетких множеств «истинно» и «ложно». Операция концентрации соответствует (µ</a:t>
            </a:r>
            <a:r>
              <a:rPr lang="en-US" sz="2800" i="1" baseline="-25000" dirty="0"/>
              <a:t>t</a:t>
            </a:r>
            <a:r>
              <a:rPr lang="ru-RU" sz="2800" dirty="0"/>
              <a:t>(</a:t>
            </a:r>
            <a:r>
              <a:rPr lang="en-US" sz="2800" i="1" dirty="0"/>
              <a:t>x</a:t>
            </a:r>
            <a:r>
              <a:rPr lang="ru-RU" sz="2800" dirty="0"/>
              <a:t>))</a:t>
            </a:r>
            <a:r>
              <a:rPr lang="ru-RU" sz="2800" baseline="30000" dirty="0"/>
              <a:t>2</a:t>
            </a:r>
            <a:r>
              <a:rPr lang="ru-RU" sz="2800" dirty="0"/>
              <a:t>, а операция растяжения — (µ</a:t>
            </a:r>
            <a:r>
              <a:rPr lang="en-US" sz="2800" i="1" baseline="-25000" dirty="0"/>
              <a:t>t</a:t>
            </a:r>
            <a:r>
              <a:rPr lang="ru-RU" sz="2800" dirty="0"/>
              <a:t>(</a:t>
            </a:r>
            <a:r>
              <a:rPr lang="en-US" sz="2800" i="1" dirty="0"/>
              <a:t>x</a:t>
            </a:r>
            <a:r>
              <a:rPr lang="ru-RU" sz="2800" dirty="0"/>
              <a:t>))</a:t>
            </a:r>
            <a:r>
              <a:rPr lang="ru-RU" sz="2800" baseline="30000" dirty="0"/>
              <a:t>1/2</a:t>
            </a:r>
            <a:r>
              <a:rPr lang="ru-RU" sz="2800" dirty="0"/>
              <a:t>.</a:t>
            </a:r>
          </a:p>
        </p:txBody>
      </p:sp>
      <p:sp>
        <p:nvSpPr>
          <p:cNvPr id="3" name="TextBox 2"/>
          <p:cNvSpPr txBox="1"/>
          <p:nvPr/>
        </p:nvSpPr>
        <p:spPr>
          <a:xfrm>
            <a:off x="71920" y="1761867"/>
            <a:ext cx="9144000" cy="1815882"/>
          </a:xfrm>
          <a:prstGeom prst="rect">
            <a:avLst/>
          </a:prstGeom>
          <a:noFill/>
        </p:spPr>
        <p:txBody>
          <a:bodyPr wrap="square" rtlCol="0">
            <a:spAutoFit/>
          </a:bodyPr>
          <a:lstStyle/>
          <a:p>
            <a:r>
              <a:rPr lang="ru-RU" sz="2800" dirty="0"/>
              <a:t>Следовательно, функции принадлежности термов «очень, очень ложно», «очень ложно», «более-менее ложно», «более-менее истинно», «истинно», «очень истинно» и «очень, очень истинно» задаются следующим образом:</a:t>
            </a:r>
          </a:p>
        </p:txBody>
      </p:sp>
      <p:sp>
        <p:nvSpPr>
          <p:cNvPr id="4" name="TextBox 3"/>
          <p:cNvSpPr txBox="1"/>
          <p:nvPr/>
        </p:nvSpPr>
        <p:spPr>
          <a:xfrm>
            <a:off x="400692" y="3577749"/>
            <a:ext cx="9483047" cy="2677656"/>
          </a:xfrm>
          <a:prstGeom prst="rect">
            <a:avLst/>
          </a:prstGeom>
          <a:noFill/>
        </p:spPr>
        <p:txBody>
          <a:bodyPr wrap="square" rtlCol="0">
            <a:spAutoFit/>
          </a:bodyPr>
          <a:lstStyle/>
          <a:p>
            <a:pPr hangingPunct="0"/>
            <a:r>
              <a:rPr lang="ru-RU" sz="2800" dirty="0">
                <a:sym typeface="Symbol" panose="05050102010706020507" pitchFamily="18" charset="2"/>
              </a:rPr>
              <a:t></a:t>
            </a:r>
            <a:r>
              <a:rPr lang="ru-RU" sz="2800" baseline="-25000" dirty="0"/>
              <a:t>«очень ложно»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«ложно»</a:t>
            </a:r>
            <a:r>
              <a:rPr lang="ru-RU" sz="2800" dirty="0"/>
              <a:t>(</a:t>
            </a:r>
            <a:r>
              <a:rPr lang="ru-RU" sz="2800" i="1" dirty="0"/>
              <a:t>х</a:t>
            </a:r>
            <a:r>
              <a:rPr lang="ru-RU" sz="2800" dirty="0"/>
              <a:t>))</a:t>
            </a:r>
            <a:r>
              <a:rPr lang="ru-RU" sz="2800" baseline="30000" dirty="0"/>
              <a:t>2</a:t>
            </a:r>
            <a:r>
              <a:rPr lang="ru-RU" sz="2800" dirty="0"/>
              <a:t>;</a:t>
            </a:r>
          </a:p>
          <a:p>
            <a:pPr hangingPunct="0"/>
            <a:r>
              <a:rPr lang="ru-RU" sz="2800" dirty="0">
                <a:sym typeface="Symbol" panose="05050102010706020507" pitchFamily="18" charset="2"/>
              </a:rPr>
              <a:t></a:t>
            </a:r>
            <a:r>
              <a:rPr lang="ru-RU" sz="2800" baseline="-25000" dirty="0"/>
              <a:t>«очень, очень ложно»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«очень ложно»</a:t>
            </a:r>
            <a:r>
              <a:rPr lang="ru-RU" sz="2800" dirty="0"/>
              <a:t>(</a:t>
            </a:r>
            <a:r>
              <a:rPr lang="ru-RU" sz="2800" i="1" dirty="0"/>
              <a:t>х</a:t>
            </a:r>
            <a:r>
              <a:rPr lang="ru-RU" sz="2800" dirty="0"/>
              <a:t>))</a:t>
            </a:r>
            <a:r>
              <a:rPr lang="ru-RU" sz="2800" baseline="30000" dirty="0"/>
              <a:t>2</a:t>
            </a:r>
            <a:r>
              <a:rPr lang="ru-RU" sz="2800" dirty="0"/>
              <a:t>;</a:t>
            </a:r>
          </a:p>
          <a:p>
            <a:pPr hangingPunct="0"/>
            <a:r>
              <a:rPr lang="ru-RU" sz="2800" dirty="0">
                <a:sym typeface="Symbol" panose="05050102010706020507" pitchFamily="18" charset="2"/>
              </a:rPr>
              <a:t></a:t>
            </a:r>
            <a:r>
              <a:rPr lang="ru-RU" sz="2800" baseline="-25000" dirty="0"/>
              <a:t>«более-менее ложно»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«ложно»</a:t>
            </a:r>
            <a:r>
              <a:rPr lang="ru-RU" sz="2800" dirty="0"/>
              <a:t>(</a:t>
            </a:r>
            <a:r>
              <a:rPr lang="ru-RU" sz="2800" i="1" dirty="0"/>
              <a:t>х</a:t>
            </a:r>
            <a:r>
              <a:rPr lang="ru-RU" sz="2800" dirty="0"/>
              <a:t>))</a:t>
            </a:r>
            <a:r>
              <a:rPr lang="ru-RU" sz="2800" baseline="30000" dirty="0"/>
              <a:t>1/2</a:t>
            </a:r>
            <a:r>
              <a:rPr lang="ru-RU" sz="2800" dirty="0"/>
              <a:t>;</a:t>
            </a:r>
          </a:p>
          <a:p>
            <a:pPr hangingPunct="0"/>
            <a:r>
              <a:rPr lang="ru-RU" sz="2800" dirty="0">
                <a:sym typeface="Symbol" panose="05050102010706020507" pitchFamily="18" charset="2"/>
              </a:rPr>
              <a:t></a:t>
            </a:r>
            <a:r>
              <a:rPr lang="ru-RU" sz="2800" baseline="-25000" dirty="0"/>
              <a:t>«более-менее истинно»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«истинно»</a:t>
            </a:r>
            <a:r>
              <a:rPr lang="ru-RU" sz="2800" dirty="0"/>
              <a:t>(</a:t>
            </a:r>
            <a:r>
              <a:rPr lang="ru-RU" sz="2800" i="1" dirty="0"/>
              <a:t>х</a:t>
            </a:r>
            <a:r>
              <a:rPr lang="ru-RU" sz="2800" dirty="0"/>
              <a:t>))</a:t>
            </a:r>
            <a:r>
              <a:rPr lang="ru-RU" sz="2800" baseline="30000" dirty="0"/>
              <a:t>1/2</a:t>
            </a:r>
            <a:r>
              <a:rPr lang="ru-RU" sz="2800" dirty="0"/>
              <a:t>;</a:t>
            </a:r>
          </a:p>
          <a:p>
            <a:pPr hangingPunct="0"/>
            <a:r>
              <a:rPr lang="ru-RU" sz="2800" dirty="0">
                <a:sym typeface="Symbol" panose="05050102010706020507" pitchFamily="18" charset="2"/>
              </a:rPr>
              <a:t></a:t>
            </a:r>
            <a:r>
              <a:rPr lang="ru-RU" sz="2800" baseline="-25000" dirty="0"/>
              <a:t>«очень истинно»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«истинно»</a:t>
            </a:r>
            <a:r>
              <a:rPr lang="ru-RU" sz="2800" dirty="0"/>
              <a:t>(</a:t>
            </a:r>
            <a:r>
              <a:rPr lang="ru-RU" sz="2800" i="1" dirty="0"/>
              <a:t>х</a:t>
            </a:r>
            <a:r>
              <a:rPr lang="ru-RU" sz="2800" dirty="0"/>
              <a:t>))</a:t>
            </a:r>
            <a:r>
              <a:rPr lang="ru-RU" sz="2800" baseline="30000" dirty="0"/>
              <a:t>2</a:t>
            </a:r>
            <a:r>
              <a:rPr lang="ru-RU" sz="2800" dirty="0"/>
              <a:t>;</a:t>
            </a:r>
          </a:p>
          <a:p>
            <a:pPr hangingPunct="0"/>
            <a:r>
              <a:rPr lang="ru-RU" sz="2800" dirty="0">
                <a:sym typeface="Symbol" panose="05050102010706020507" pitchFamily="18" charset="2"/>
              </a:rPr>
              <a:t></a:t>
            </a:r>
            <a:r>
              <a:rPr lang="ru-RU" sz="2800" baseline="-25000" dirty="0"/>
              <a:t>«очень, очень истинно»</a:t>
            </a:r>
            <a:r>
              <a:rPr lang="ru-RU" sz="2800" dirty="0"/>
              <a:t>(</a:t>
            </a:r>
            <a:r>
              <a:rPr lang="ru-RU" sz="2800" i="1" dirty="0"/>
              <a:t>х</a:t>
            </a:r>
            <a:r>
              <a:rPr lang="ru-RU" sz="2800" dirty="0"/>
              <a:t>) = (</a:t>
            </a:r>
            <a:r>
              <a:rPr lang="ru-RU" sz="2800" dirty="0">
                <a:sym typeface="Symbol" panose="05050102010706020507" pitchFamily="18" charset="2"/>
              </a:rPr>
              <a:t></a:t>
            </a:r>
            <a:r>
              <a:rPr lang="ru-RU" sz="2800" baseline="-25000" dirty="0"/>
              <a:t>«очень истинно»</a:t>
            </a:r>
            <a:r>
              <a:rPr lang="ru-RU" sz="2800" dirty="0"/>
              <a:t>(</a:t>
            </a:r>
            <a:r>
              <a:rPr lang="ru-RU" sz="2800" i="1" dirty="0"/>
              <a:t>х</a:t>
            </a:r>
            <a:r>
              <a:rPr lang="ru-RU" sz="2800" dirty="0"/>
              <a:t>))</a:t>
            </a:r>
            <a:r>
              <a:rPr lang="ru-RU" sz="2800" baseline="30000" dirty="0"/>
              <a:t>2</a:t>
            </a:r>
            <a:r>
              <a:rPr lang="ru-RU" sz="2800" dirty="0"/>
              <a:t>;</a:t>
            </a:r>
          </a:p>
        </p:txBody>
      </p:sp>
    </p:spTree>
    <p:extLst>
      <p:ext uri="{BB962C8B-B14F-4D97-AF65-F5344CB8AC3E}">
        <p14:creationId xmlns:p14="http://schemas.microsoft.com/office/powerpoint/2010/main" val="1152209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1919"/>
            <a:ext cx="9144000" cy="954107"/>
          </a:xfrm>
          <a:prstGeom prst="rect">
            <a:avLst/>
          </a:prstGeom>
          <a:noFill/>
        </p:spPr>
        <p:txBody>
          <a:bodyPr wrap="square" rtlCol="0">
            <a:spAutoFit/>
          </a:bodyPr>
          <a:lstStyle/>
          <a:p>
            <a:r>
              <a:rPr lang="ru-RU" sz="2800" dirty="0"/>
              <a:t>Графики функций принадлежности этих термов показаны на рисунке</a:t>
            </a:r>
          </a:p>
        </p:txBody>
      </p:sp>
      <p:pic>
        <p:nvPicPr>
          <p:cNvPr id="15362" name="Picture 2" descr="http://matlab.exponenta.ru/fuzzylogic/book1/images_1_7/image037.gif"/>
          <p:cNvPicPr>
            <a:picLocks noChangeAspect="1" noChangeArrowheads="1"/>
          </p:cNvPicPr>
          <p:nvPr/>
        </p:nvPicPr>
        <p:blipFill>
          <a:blip r:embed="rId2" cstate="print">
            <a:extLst>
              <a:ext uri="{28A0092B-C50C-407E-A947-70E740481C1C}">
                <a14:useLocalDpi xmlns:a14="http://schemas.microsoft.com/office/drawing/2010/main" val="0"/>
              </a:ext>
            </a:extLst>
          </a:blip>
          <a:srcRect t="7002" b="3282"/>
          <a:stretch>
            <a:fillRect/>
          </a:stretch>
        </p:blipFill>
        <p:spPr bwMode="auto">
          <a:xfrm>
            <a:off x="-92049" y="1258210"/>
            <a:ext cx="9236049" cy="534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225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1000"/>
                                        <p:tgtEl>
                                          <p:spTgt spid="15362"/>
                                        </p:tgtEl>
                                      </p:cBhvr>
                                    </p:animEffect>
                                    <p:anim calcmode="lin" valueType="num">
                                      <p:cBhvr>
                                        <p:cTn id="8" dur="1000" fill="hold"/>
                                        <p:tgtEl>
                                          <p:spTgt spid="15362"/>
                                        </p:tgtEl>
                                        <p:attrNameLst>
                                          <p:attrName>ppt_x</p:attrName>
                                        </p:attrNameLst>
                                      </p:cBhvr>
                                      <p:tavLst>
                                        <p:tav tm="0">
                                          <p:val>
                                            <p:strVal val="#ppt_x"/>
                                          </p:val>
                                        </p:tav>
                                        <p:tav tm="100000">
                                          <p:val>
                                            <p:strVal val="#ppt_x"/>
                                          </p:val>
                                        </p:tav>
                                      </p:tavLst>
                                    </p:anim>
                                    <p:anim calcmode="lin" valueType="num">
                                      <p:cBhvr>
                                        <p:cTn id="9"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1919"/>
            <a:ext cx="9144000" cy="954107"/>
          </a:xfrm>
          <a:prstGeom prst="rect">
            <a:avLst/>
          </a:prstGeom>
          <a:noFill/>
        </p:spPr>
        <p:txBody>
          <a:bodyPr wrap="square" rtlCol="0">
            <a:spAutoFit/>
          </a:bodyPr>
          <a:lstStyle/>
          <a:p>
            <a:r>
              <a:rPr lang="ru-RU" sz="2800" dirty="0"/>
              <a:t>Количество термов в лингвистической переменной редко превышает семь.</a:t>
            </a:r>
          </a:p>
        </p:txBody>
      </p:sp>
      <p:sp>
        <p:nvSpPr>
          <p:cNvPr id="3" name="TextBox 2"/>
          <p:cNvSpPr txBox="1"/>
          <p:nvPr/>
        </p:nvSpPr>
        <p:spPr>
          <a:xfrm>
            <a:off x="35959" y="882188"/>
            <a:ext cx="9072081" cy="1384995"/>
          </a:xfrm>
          <a:prstGeom prst="rect">
            <a:avLst/>
          </a:prstGeom>
          <a:noFill/>
        </p:spPr>
        <p:txBody>
          <a:bodyPr wrap="square" rtlCol="0">
            <a:spAutoFit/>
          </a:bodyPr>
          <a:lstStyle/>
          <a:p>
            <a:r>
              <a:rPr lang="ru-RU" sz="2800" dirty="0"/>
              <a:t>Важное приложение нечеткая логика имеет в организации и управлении бизнесом, где активную  роль играет менеджер. </a:t>
            </a:r>
          </a:p>
        </p:txBody>
      </p:sp>
      <p:sp>
        <p:nvSpPr>
          <p:cNvPr id="4" name="TextBox 3"/>
          <p:cNvSpPr txBox="1"/>
          <p:nvPr/>
        </p:nvSpPr>
        <p:spPr>
          <a:xfrm>
            <a:off x="35959" y="2127570"/>
            <a:ext cx="9072081" cy="1815882"/>
          </a:xfrm>
          <a:prstGeom prst="rect">
            <a:avLst/>
          </a:prstGeom>
          <a:noFill/>
        </p:spPr>
        <p:txBody>
          <a:bodyPr wrap="square" rtlCol="0">
            <a:spAutoFit/>
          </a:bodyPr>
          <a:lstStyle/>
          <a:p>
            <a:r>
              <a:rPr lang="ru-RU" sz="2800" b="1" dirty="0"/>
              <a:t>Пример. </a:t>
            </a:r>
            <a:r>
              <a:rPr lang="ru-RU" sz="2800" dirty="0"/>
              <a:t>Менеджер планирует деятельность фирмы, работающей на рынке недвижимости, на следующий год. Целевая функция плана — диапазон прибыли, на которую можно рассчитывать.</a:t>
            </a:r>
          </a:p>
        </p:txBody>
      </p:sp>
      <p:sp>
        <p:nvSpPr>
          <p:cNvPr id="5" name="TextBox 4"/>
          <p:cNvSpPr txBox="1"/>
          <p:nvPr/>
        </p:nvSpPr>
        <p:spPr>
          <a:xfrm>
            <a:off x="35959" y="3840711"/>
            <a:ext cx="8984751" cy="1384995"/>
          </a:xfrm>
          <a:prstGeom prst="rect">
            <a:avLst/>
          </a:prstGeom>
          <a:noFill/>
        </p:spPr>
        <p:txBody>
          <a:bodyPr wrap="square" rtlCol="0">
            <a:spAutoFit/>
          </a:bodyPr>
          <a:lstStyle/>
          <a:p>
            <a:r>
              <a:rPr lang="ru-RU" sz="2800" dirty="0"/>
              <a:t>Для решения задачи существуют четыре нечетких утверждения, выявленных из статистики деятельности фирмы за несколько прошедших лет:</a:t>
            </a:r>
          </a:p>
        </p:txBody>
      </p:sp>
      <p:sp>
        <p:nvSpPr>
          <p:cNvPr id="6" name="TextBox 5"/>
          <p:cNvSpPr txBox="1"/>
          <p:nvPr/>
        </p:nvSpPr>
        <p:spPr>
          <a:xfrm>
            <a:off x="35959" y="5061704"/>
            <a:ext cx="9072081" cy="954107"/>
          </a:xfrm>
          <a:prstGeom prst="rect">
            <a:avLst/>
          </a:prstGeom>
          <a:noFill/>
        </p:spPr>
        <p:txBody>
          <a:bodyPr wrap="square" rtlCol="0">
            <a:spAutoFit/>
          </a:bodyPr>
          <a:lstStyle/>
          <a:p>
            <a:r>
              <a:rPr lang="ru-RU" sz="2800" dirty="0"/>
              <a:t>1) в течение каждого года в фирму приходят примерно 75 потенциальных клиентов;</a:t>
            </a:r>
          </a:p>
        </p:txBody>
      </p:sp>
      <p:sp>
        <p:nvSpPr>
          <p:cNvPr id="7" name="TextBox 6"/>
          <p:cNvSpPr txBox="1"/>
          <p:nvPr/>
        </p:nvSpPr>
        <p:spPr>
          <a:xfrm>
            <a:off x="35959" y="5903893"/>
            <a:ext cx="8984751" cy="954107"/>
          </a:xfrm>
          <a:prstGeom prst="rect">
            <a:avLst/>
          </a:prstGeom>
          <a:noFill/>
        </p:spPr>
        <p:txBody>
          <a:bodyPr wrap="square" rtlCol="0">
            <a:spAutoFit/>
          </a:bodyPr>
          <a:lstStyle/>
          <a:p>
            <a:r>
              <a:rPr lang="ru-RU" sz="2800" dirty="0"/>
              <a:t>2) из потенциальных клиентов примерно 30% совершают сделки;</a:t>
            </a:r>
          </a:p>
        </p:txBody>
      </p:sp>
    </p:spTree>
    <p:extLst>
      <p:ext uri="{BB962C8B-B14F-4D97-AF65-F5344CB8AC3E}">
        <p14:creationId xmlns:p14="http://schemas.microsoft.com/office/powerpoint/2010/main" val="104654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954107"/>
          </a:xfrm>
          <a:prstGeom prst="rect">
            <a:avLst/>
          </a:prstGeom>
          <a:noFill/>
        </p:spPr>
        <p:txBody>
          <a:bodyPr wrap="square" rtlCol="0">
            <a:spAutoFit/>
          </a:bodyPr>
          <a:lstStyle/>
          <a:p>
            <a:r>
              <a:rPr lang="ru-RU" sz="2800" dirty="0"/>
              <a:t>3) стоимость недвижимости, фигурирующей в сделках, составляет примерно 142 000 долл.;</a:t>
            </a:r>
          </a:p>
        </p:txBody>
      </p:sp>
      <p:sp>
        <p:nvSpPr>
          <p:cNvPr id="3" name="TextBox 2"/>
          <p:cNvSpPr txBox="1"/>
          <p:nvPr/>
        </p:nvSpPr>
        <p:spPr>
          <a:xfrm>
            <a:off x="0" y="810269"/>
            <a:ext cx="9144000" cy="954107"/>
          </a:xfrm>
          <a:prstGeom prst="rect">
            <a:avLst/>
          </a:prstGeom>
          <a:noFill/>
        </p:spPr>
        <p:txBody>
          <a:bodyPr wrap="square" rtlCol="0">
            <a:spAutoFit/>
          </a:bodyPr>
          <a:lstStyle/>
          <a:p>
            <a:r>
              <a:rPr lang="ru-RU" sz="2800" dirty="0"/>
              <a:t>4) за проведенную сделку с каждого клиента берется примерно 5,5% комиссионных.</a:t>
            </a:r>
          </a:p>
        </p:txBody>
      </p:sp>
      <p:sp>
        <p:nvSpPr>
          <p:cNvPr id="4" name="TextBox 3"/>
          <p:cNvSpPr txBox="1"/>
          <p:nvPr/>
        </p:nvSpPr>
        <p:spPr>
          <a:xfrm>
            <a:off x="0" y="1633592"/>
            <a:ext cx="9144000" cy="1384995"/>
          </a:xfrm>
          <a:prstGeom prst="rect">
            <a:avLst/>
          </a:prstGeom>
          <a:noFill/>
        </p:spPr>
        <p:txBody>
          <a:bodyPr wrap="square" rtlCol="0">
            <a:spAutoFit/>
          </a:bodyPr>
          <a:lstStyle/>
          <a:p>
            <a:r>
              <a:rPr lang="ru-RU" sz="2800" dirty="0"/>
              <a:t>Если просто перемножить эти четыре значения, получим 176 700 долл. Такова сумма прибыли за год, если ее вычислять обычным способом.</a:t>
            </a:r>
          </a:p>
        </p:txBody>
      </p:sp>
      <p:sp>
        <p:nvSpPr>
          <p:cNvPr id="5" name="TextBox 4"/>
          <p:cNvSpPr txBox="1"/>
          <p:nvPr/>
        </p:nvSpPr>
        <p:spPr>
          <a:xfrm>
            <a:off x="0" y="2905571"/>
            <a:ext cx="9144000" cy="523220"/>
          </a:xfrm>
          <a:prstGeom prst="rect">
            <a:avLst/>
          </a:prstGeom>
          <a:noFill/>
        </p:spPr>
        <p:txBody>
          <a:bodyPr wrap="square" rtlCol="0">
            <a:spAutoFit/>
          </a:bodyPr>
          <a:lstStyle/>
          <a:p>
            <a:r>
              <a:rPr lang="ru-RU" sz="2800" dirty="0"/>
              <a:t>При этом менеджер осознает следующее.</a:t>
            </a:r>
          </a:p>
        </p:txBody>
      </p:sp>
      <p:sp>
        <p:nvSpPr>
          <p:cNvPr id="6" name="TextBox 5"/>
          <p:cNvSpPr txBox="1"/>
          <p:nvPr/>
        </p:nvSpPr>
        <p:spPr>
          <a:xfrm>
            <a:off x="87330" y="3364369"/>
            <a:ext cx="9056670" cy="3108543"/>
          </a:xfrm>
          <a:prstGeom prst="rect">
            <a:avLst/>
          </a:prstGeom>
          <a:noFill/>
        </p:spPr>
        <p:txBody>
          <a:bodyPr wrap="square" rtlCol="0">
            <a:spAutoFit/>
          </a:bodyPr>
          <a:lstStyle/>
          <a:p>
            <a:pPr>
              <a:buAutoNum type="arabicPeriod"/>
            </a:pPr>
            <a:r>
              <a:rPr lang="ru-RU" sz="2800" dirty="0"/>
              <a:t>Когда предполагается 75 потенциальных клиентов в год, в разные годы никогда не было меньше 67 и больше 87 клиентов (на рисунке </a:t>
            </a:r>
          </a:p>
          <a:p>
            <a:r>
              <a:rPr lang="ru-RU" sz="2800" dirty="0"/>
              <a:t>по вертикали — </a:t>
            </a:r>
          </a:p>
          <a:p>
            <a:r>
              <a:rPr lang="ru-RU" sz="2800" dirty="0"/>
              <a:t>достоверность </a:t>
            </a:r>
          </a:p>
          <a:p>
            <a:r>
              <a:rPr lang="ru-RU" sz="2800" dirty="0"/>
              <a:t>значения, отложенного </a:t>
            </a:r>
          </a:p>
          <a:p>
            <a:r>
              <a:rPr lang="ru-RU" sz="2800" dirty="0"/>
              <a:t>по горизонтали).</a:t>
            </a:r>
          </a:p>
        </p:txBody>
      </p:sp>
      <p:pic>
        <p:nvPicPr>
          <p:cNvPr id="16386" name="Рисунок 26" descr="http://www.tora-centre.ru/library/fuzzy/image23.gif"/>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15657" y="4296229"/>
            <a:ext cx="5053547" cy="2561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42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386"/>
                                        </p:tgtEl>
                                        <p:attrNameLst>
                                          <p:attrName>style.visibility</p:attrName>
                                        </p:attrNameLst>
                                      </p:cBhvr>
                                      <p:to>
                                        <p:strVal val="visible"/>
                                      </p:to>
                                    </p:set>
                                    <p:animEffect transition="in" filter="fade">
                                      <p:cBhvr>
                                        <p:cTn id="35" dur="1000"/>
                                        <p:tgtEl>
                                          <p:spTgt spid="16386"/>
                                        </p:tgtEl>
                                      </p:cBhvr>
                                    </p:animEffect>
                                    <p:anim calcmode="lin" valueType="num">
                                      <p:cBhvr>
                                        <p:cTn id="36" dur="1000" fill="hold"/>
                                        <p:tgtEl>
                                          <p:spTgt spid="16386"/>
                                        </p:tgtEl>
                                        <p:attrNameLst>
                                          <p:attrName>ppt_x</p:attrName>
                                        </p:attrNameLst>
                                      </p:cBhvr>
                                      <p:tavLst>
                                        <p:tav tm="0">
                                          <p:val>
                                            <p:strVal val="#ppt_x"/>
                                          </p:val>
                                        </p:tav>
                                        <p:tav tm="100000">
                                          <p:val>
                                            <p:strVal val="#ppt_x"/>
                                          </p:val>
                                        </p:tav>
                                      </p:tavLst>
                                    </p:anim>
                                    <p:anim calcmode="lin" valueType="num">
                                      <p:cBhvr>
                                        <p:cTn id="37" dur="1000" fill="hold"/>
                                        <p:tgtEl>
                                          <p:spTgt spid="163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815882"/>
          </a:xfrm>
          <a:prstGeom prst="rect">
            <a:avLst/>
          </a:prstGeom>
          <a:noFill/>
        </p:spPr>
        <p:txBody>
          <a:bodyPr wrap="square" rtlCol="0">
            <a:spAutoFit/>
          </a:bodyPr>
          <a:lstStyle/>
          <a:p>
            <a:r>
              <a:rPr lang="ru-RU" sz="2800" dirty="0"/>
              <a:t>2. Если предполагается 30% потенциальных клиентов, совершающих сделки, на самом деле это значение изменяется в пределах 25—35%, но никогда не было меньше 10% и никогда не было больше 50%.</a:t>
            </a:r>
          </a:p>
        </p:txBody>
      </p:sp>
      <p:sp>
        <p:nvSpPr>
          <p:cNvPr id="3" name="Rectangle 6"/>
          <p:cNvSpPr>
            <a:spLocks noChangeArrowheads="1"/>
          </p:cNvSpPr>
          <p:nvPr/>
        </p:nvSpPr>
        <p:spPr bwMode="auto">
          <a:xfrm>
            <a:off x="1615838" y="2216874"/>
            <a:ext cx="14437298" cy="5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pSp>
        <p:nvGrpSpPr>
          <p:cNvPr id="4" name="Group 1"/>
          <p:cNvGrpSpPr>
            <a:grpSpLocks noChangeAspect="1"/>
          </p:cNvGrpSpPr>
          <p:nvPr/>
        </p:nvGrpSpPr>
        <p:grpSpPr bwMode="auto">
          <a:xfrm>
            <a:off x="-273001" y="1569138"/>
            <a:ext cx="9331865" cy="3682737"/>
            <a:chOff x="2552" y="6089"/>
            <a:chExt cx="6923" cy="2508"/>
          </a:xfrm>
        </p:grpSpPr>
        <p:sp>
          <p:nvSpPr>
            <p:cNvPr id="5" name="AutoShape 5"/>
            <p:cNvSpPr>
              <a:spLocks noChangeAspect="1" noChangeArrowheads="1" noTextEdit="1"/>
            </p:cNvSpPr>
            <p:nvPr/>
          </p:nvSpPr>
          <p:spPr bwMode="auto">
            <a:xfrm>
              <a:off x="2552" y="6089"/>
              <a:ext cx="6923" cy="25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74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6" y="6293"/>
              <a:ext cx="4782" cy="2304"/>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3"/>
            <p:cNvSpPr txBox="1">
              <a:spLocks noChangeArrowheads="1"/>
            </p:cNvSpPr>
            <p:nvPr/>
          </p:nvSpPr>
          <p:spPr bwMode="auto">
            <a:xfrm>
              <a:off x="3225" y="6257"/>
              <a:ext cx="951" cy="750"/>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rPr>
                <a:t></a:t>
              </a:r>
            </a:p>
          </p:txBody>
        </p:sp>
        <p:sp>
          <p:nvSpPr>
            <p:cNvPr id="7" name="Text Box 2"/>
            <p:cNvSpPr txBox="1">
              <a:spLocks noChangeArrowheads="1"/>
            </p:cNvSpPr>
            <p:nvPr/>
          </p:nvSpPr>
          <p:spPr bwMode="auto">
            <a:xfrm>
              <a:off x="7498" y="7673"/>
              <a:ext cx="1932" cy="813"/>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latin typeface="+mn-lt"/>
                  <a:ea typeface="Times New Roman" panose="02020603050405020304" pitchFamily="18" charset="0"/>
                </a:rPr>
                <a:t>% реальных</a:t>
              </a:r>
              <a:endParaRPr kumimoji="0" lang="ru-RU" altLang="ru-RU" sz="2800" b="0" i="0" u="none" strike="noStrike" cap="none" normalizeH="0" baseline="0" dirty="0">
                <a:ln>
                  <a:noFill/>
                </a:ln>
                <a:solidFill>
                  <a:schemeClr val="tx1"/>
                </a:solidFill>
                <a:effectLst/>
                <a:latin typeface="+mn-lt"/>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latin typeface="+mn-lt"/>
                  <a:ea typeface="Times New Roman" panose="02020603050405020304" pitchFamily="18" charset="0"/>
                </a:rPr>
                <a:t>клиентов</a:t>
              </a:r>
              <a:endParaRPr kumimoji="0" lang="ru-RU" altLang="ru-RU" sz="2800" b="0" i="0" u="none" strike="noStrike" cap="none" normalizeH="0" baseline="0" dirty="0">
                <a:ln>
                  <a:noFill/>
                </a:ln>
                <a:solidFill>
                  <a:schemeClr val="tx1"/>
                </a:solidFill>
                <a:effectLst/>
                <a:latin typeface="+mn-lt"/>
              </a:endParaRPr>
            </a:p>
          </p:txBody>
        </p:sp>
      </p:grpSp>
    </p:spTree>
    <p:extLst>
      <p:ext uri="{BB962C8B-B14F-4D97-AF65-F5344CB8AC3E}">
        <p14:creationId xmlns:p14="http://schemas.microsoft.com/office/powerpoint/2010/main" val="326213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246769"/>
          </a:xfrm>
          <a:prstGeom prst="rect">
            <a:avLst/>
          </a:prstGeom>
          <a:noFill/>
        </p:spPr>
        <p:txBody>
          <a:bodyPr wrap="square" rtlCol="0">
            <a:spAutoFit/>
          </a:bodyPr>
          <a:lstStyle/>
          <a:p>
            <a:r>
              <a:rPr lang="ru-RU" sz="2800" dirty="0"/>
              <a:t>3. Если стоимость недвижимости 142 800 долл., то фактически стоимость различных сделок распределена следующим образом: чаще всего происходят сделки по цене 138 000—140 000 долл., но никогда не дешевле 130 000 долл. и не дороже 150 000 долл. </a:t>
            </a:r>
          </a:p>
        </p:txBody>
      </p:sp>
      <p:sp>
        <p:nvSpPr>
          <p:cNvPr id="3" name="Rectangle 6"/>
          <p:cNvSpPr>
            <a:spLocks noChangeArrowheads="1"/>
          </p:cNvSpPr>
          <p:nvPr/>
        </p:nvSpPr>
        <p:spPr bwMode="auto">
          <a:xfrm>
            <a:off x="1063614" y="3060755"/>
            <a:ext cx="13506619" cy="5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pSp>
        <p:nvGrpSpPr>
          <p:cNvPr id="4" name="Group 1"/>
          <p:cNvGrpSpPr>
            <a:grpSpLocks noChangeAspect="1"/>
          </p:cNvGrpSpPr>
          <p:nvPr/>
        </p:nvGrpSpPr>
        <p:grpSpPr bwMode="auto">
          <a:xfrm>
            <a:off x="-748116" y="2452914"/>
            <a:ext cx="10224593" cy="3744686"/>
            <a:chOff x="2268" y="10329"/>
            <a:chExt cx="7673" cy="2809"/>
          </a:xfrm>
        </p:grpSpPr>
        <p:sp>
          <p:nvSpPr>
            <p:cNvPr id="5" name="AutoShape 5"/>
            <p:cNvSpPr>
              <a:spLocks noChangeAspect="1" noChangeArrowheads="1" noTextEdit="1"/>
            </p:cNvSpPr>
            <p:nvPr/>
          </p:nvSpPr>
          <p:spPr bwMode="auto">
            <a:xfrm>
              <a:off x="2268" y="10329"/>
              <a:ext cx="7673" cy="28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8436" name="Picture 4" descr="рис-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6" y="10485"/>
              <a:ext cx="5209" cy="2653"/>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3"/>
            <p:cNvSpPr txBox="1">
              <a:spLocks noChangeArrowheads="1"/>
            </p:cNvSpPr>
            <p:nvPr/>
          </p:nvSpPr>
          <p:spPr bwMode="auto">
            <a:xfrm>
              <a:off x="7678" y="11885"/>
              <a:ext cx="1782" cy="514"/>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стоимость</a:t>
              </a:r>
              <a:endParaRPr kumimoji="0" lang="ru-RU" altLang="ru-RU" sz="2800" b="0" i="0" u="none" strike="noStrike" cap="none" normalizeH="0" baseline="0" dirty="0">
                <a:ln>
                  <a:noFill/>
                </a:ln>
                <a:solidFill>
                  <a:schemeClr val="tx1"/>
                </a:solidFill>
                <a:effectLst/>
              </a:endParaRPr>
            </a:p>
          </p:txBody>
        </p:sp>
        <p:sp>
          <p:nvSpPr>
            <p:cNvPr id="7" name="Text Box 2"/>
            <p:cNvSpPr txBox="1">
              <a:spLocks noChangeArrowheads="1"/>
            </p:cNvSpPr>
            <p:nvPr/>
          </p:nvSpPr>
          <p:spPr bwMode="auto">
            <a:xfrm>
              <a:off x="3458" y="10527"/>
              <a:ext cx="855" cy="515"/>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rPr>
                <a:t></a:t>
              </a:r>
            </a:p>
          </p:txBody>
        </p:sp>
      </p:grpSp>
    </p:spTree>
    <p:extLst>
      <p:ext uri="{BB962C8B-B14F-4D97-AF65-F5344CB8AC3E}">
        <p14:creationId xmlns:p14="http://schemas.microsoft.com/office/powerpoint/2010/main" val="230840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3108543"/>
          </a:xfrm>
          <a:prstGeom prst="rect">
            <a:avLst/>
          </a:prstGeom>
          <a:noFill/>
        </p:spPr>
        <p:txBody>
          <a:bodyPr wrap="square" rtlCol="0">
            <a:spAutoFit/>
          </a:bodyPr>
          <a:lstStyle/>
          <a:p>
            <a:r>
              <a:rPr lang="ru-RU" sz="2800" dirty="0"/>
              <a:t>Излом графика в зоне 150 000 долл. и уход в точку, соответствующую 160 000 долл., обусловлены тем, что менеджер подразумевает, что в следующем году фирма попробует проводить сделки с более дорогой недвижимостью, но не свыше 160 000 долл. В противном случае точки перелома не было бы вообще, а график упирался бы в точку, соответствующую цене 150 000 долл.</a:t>
            </a:r>
          </a:p>
        </p:txBody>
      </p:sp>
      <p:sp>
        <p:nvSpPr>
          <p:cNvPr id="3" name="TextBox 2"/>
          <p:cNvSpPr txBox="1"/>
          <p:nvPr/>
        </p:nvSpPr>
        <p:spPr>
          <a:xfrm>
            <a:off x="0" y="3033490"/>
            <a:ext cx="9144000" cy="1384995"/>
          </a:xfrm>
          <a:prstGeom prst="rect">
            <a:avLst/>
          </a:prstGeom>
          <a:noFill/>
        </p:spPr>
        <p:txBody>
          <a:bodyPr wrap="square" rtlCol="0">
            <a:spAutoFit/>
          </a:bodyPr>
          <a:lstStyle/>
          <a:p>
            <a:r>
              <a:rPr lang="ru-RU" sz="2800" dirty="0"/>
              <a:t>4. Когда комиссионные составляют 5,5%, то на самом деле в разных случаях размер комиссионных чаще всего лежит в пределах 5—6% , но не меньше 4 и не больше 7% </a:t>
            </a:r>
          </a:p>
        </p:txBody>
      </p:sp>
      <p:sp>
        <p:nvSpPr>
          <p:cNvPr id="4" name="Rectangle 6"/>
          <p:cNvSpPr>
            <a:spLocks noChangeArrowheads="1"/>
          </p:cNvSpPr>
          <p:nvPr/>
        </p:nvSpPr>
        <p:spPr bwMode="auto">
          <a:xfrm>
            <a:off x="1182914" y="4637314"/>
            <a:ext cx="1120811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pSp>
        <p:nvGrpSpPr>
          <p:cNvPr id="5" name="Group 1"/>
          <p:cNvGrpSpPr>
            <a:grpSpLocks noChangeAspect="1"/>
          </p:cNvGrpSpPr>
          <p:nvPr/>
        </p:nvGrpSpPr>
        <p:grpSpPr bwMode="auto">
          <a:xfrm>
            <a:off x="1182914" y="4145120"/>
            <a:ext cx="7774116" cy="2712879"/>
            <a:chOff x="3183" y="5120"/>
            <a:chExt cx="7573" cy="2642"/>
          </a:xfrm>
        </p:grpSpPr>
        <p:sp>
          <p:nvSpPr>
            <p:cNvPr id="6" name="AutoShape 5"/>
            <p:cNvSpPr>
              <a:spLocks noChangeAspect="1" noChangeArrowheads="1" noTextEdit="1"/>
            </p:cNvSpPr>
            <p:nvPr/>
          </p:nvSpPr>
          <p:spPr bwMode="auto">
            <a:xfrm>
              <a:off x="3183" y="5120"/>
              <a:ext cx="6723" cy="264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9460" name="Picture 4" descr="рис-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53" y="5285"/>
              <a:ext cx="4952" cy="2477"/>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3"/>
            <p:cNvSpPr txBox="1">
              <a:spLocks noChangeArrowheads="1"/>
            </p:cNvSpPr>
            <p:nvPr/>
          </p:nvSpPr>
          <p:spPr bwMode="auto">
            <a:xfrm>
              <a:off x="3507" y="5285"/>
              <a:ext cx="855" cy="515"/>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rPr>
                <a:t></a:t>
              </a:r>
            </a:p>
          </p:txBody>
        </p:sp>
        <p:sp>
          <p:nvSpPr>
            <p:cNvPr id="8" name="Text Box 2"/>
            <p:cNvSpPr txBox="1">
              <a:spLocks noChangeArrowheads="1"/>
            </p:cNvSpPr>
            <p:nvPr/>
          </p:nvSpPr>
          <p:spPr bwMode="auto">
            <a:xfrm>
              <a:off x="7518" y="6656"/>
              <a:ext cx="3238" cy="515"/>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r"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 комиссионных</a:t>
              </a:r>
              <a:endParaRPr kumimoji="0" lang="ru-RU" altLang="ru-RU" sz="2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058738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r>
              <a:rPr lang="ru-RU" sz="2800" dirty="0"/>
              <a:t>Теперь, построив четыре нечетких утверждения и перемножив их значения (определение прибыли), можно получить ответ </a:t>
            </a:r>
          </a:p>
        </p:txBody>
      </p:sp>
      <p:sp>
        <p:nvSpPr>
          <p:cNvPr id="3" name="Rectangle 5"/>
          <p:cNvSpPr>
            <a:spLocks noChangeArrowheads="1"/>
          </p:cNvSpPr>
          <p:nvPr/>
        </p:nvSpPr>
        <p:spPr bwMode="auto">
          <a:xfrm>
            <a:off x="319047" y="1384995"/>
            <a:ext cx="1534662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pSp>
        <p:nvGrpSpPr>
          <p:cNvPr id="4" name="Group 1"/>
          <p:cNvGrpSpPr>
            <a:grpSpLocks noChangeAspect="1"/>
          </p:cNvGrpSpPr>
          <p:nvPr/>
        </p:nvGrpSpPr>
        <p:grpSpPr bwMode="auto">
          <a:xfrm>
            <a:off x="319048" y="1384996"/>
            <a:ext cx="8824952" cy="3389086"/>
            <a:chOff x="3259" y="8367"/>
            <a:chExt cx="6952" cy="2670"/>
          </a:xfrm>
        </p:grpSpPr>
        <p:sp>
          <p:nvSpPr>
            <p:cNvPr id="5" name="AutoShape 4"/>
            <p:cNvSpPr>
              <a:spLocks noChangeAspect="1" noChangeArrowheads="1" noTextEdit="1"/>
            </p:cNvSpPr>
            <p:nvPr/>
          </p:nvSpPr>
          <p:spPr bwMode="auto">
            <a:xfrm>
              <a:off x="3259" y="8367"/>
              <a:ext cx="6952" cy="26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0483" name="Picture 3" descr="рис-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9" y="8367"/>
              <a:ext cx="5406" cy="267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2"/>
            <p:cNvSpPr txBox="1">
              <a:spLocks noChangeArrowheads="1"/>
            </p:cNvSpPr>
            <p:nvPr/>
          </p:nvSpPr>
          <p:spPr bwMode="auto">
            <a:xfrm>
              <a:off x="7616" y="9926"/>
              <a:ext cx="2595" cy="515"/>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457200" algn="r"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Прибыль, долл</a:t>
              </a:r>
              <a:r>
                <a:rPr kumimoji="0" lang="ru-RU" altLang="ru-RU"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grpSp>
      <p:sp>
        <p:nvSpPr>
          <p:cNvPr id="7" name="TextBox 6"/>
          <p:cNvSpPr txBox="1"/>
          <p:nvPr/>
        </p:nvSpPr>
        <p:spPr>
          <a:xfrm>
            <a:off x="0" y="4891353"/>
            <a:ext cx="9027886" cy="1815882"/>
          </a:xfrm>
          <a:prstGeom prst="rect">
            <a:avLst/>
          </a:prstGeom>
          <a:noFill/>
        </p:spPr>
        <p:txBody>
          <a:bodyPr wrap="square" rtlCol="0">
            <a:spAutoFit/>
          </a:bodyPr>
          <a:lstStyle/>
          <a:p>
            <a:r>
              <a:rPr lang="ru-RU" sz="2800" dirty="0"/>
              <a:t>Таким образом, наиболее достоверное значение прибыли будет находиться в пределах 150 000—200 000 долл. Причем на графике можно видеть границы: не менее 30 000 и не более 600 000 долл.</a:t>
            </a:r>
          </a:p>
        </p:txBody>
      </p:sp>
    </p:spTree>
    <p:extLst>
      <p:ext uri="{BB962C8B-B14F-4D97-AF65-F5344CB8AC3E}">
        <p14:creationId xmlns:p14="http://schemas.microsoft.com/office/powerpoint/2010/main" val="16950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954107"/>
          </a:xfrm>
          <a:prstGeom prst="rect">
            <a:avLst/>
          </a:prstGeom>
          <a:noFill/>
        </p:spPr>
        <p:txBody>
          <a:bodyPr wrap="square" rtlCol="0">
            <a:spAutoFit/>
          </a:bodyPr>
          <a:lstStyle/>
          <a:p>
            <a:r>
              <a:rPr lang="ru-RU" sz="2800" dirty="0"/>
              <a:t>Итак, получен ответ с погрешностью в 5000 долл. в пределах наиболее достоверных значений. </a:t>
            </a:r>
          </a:p>
        </p:txBody>
      </p:sp>
      <p:sp>
        <p:nvSpPr>
          <p:cNvPr id="3" name="TextBox 2"/>
          <p:cNvSpPr txBox="1"/>
          <p:nvPr/>
        </p:nvSpPr>
        <p:spPr>
          <a:xfrm>
            <a:off x="512733" y="943229"/>
            <a:ext cx="7852228" cy="523220"/>
          </a:xfrm>
          <a:prstGeom prst="rect">
            <a:avLst/>
          </a:prstGeom>
          <a:noFill/>
        </p:spPr>
        <p:txBody>
          <a:bodyPr wrap="square" rtlCol="0">
            <a:spAutoFit/>
          </a:bodyPr>
          <a:lstStyle/>
          <a:p>
            <a:pPr algn="ctr"/>
            <a:r>
              <a:rPr lang="ru-RU" sz="2800" b="1" dirty="0">
                <a:solidFill>
                  <a:srgbClr val="FF0000"/>
                </a:solidFill>
              </a:rPr>
              <a:t>Нечеткий логический вывод</a:t>
            </a:r>
          </a:p>
        </p:txBody>
      </p:sp>
      <p:sp>
        <p:nvSpPr>
          <p:cNvPr id="4" name="TextBox 3"/>
          <p:cNvSpPr txBox="1"/>
          <p:nvPr/>
        </p:nvSpPr>
        <p:spPr>
          <a:xfrm>
            <a:off x="0" y="1300025"/>
            <a:ext cx="9144000" cy="2677656"/>
          </a:xfrm>
          <a:prstGeom prst="rect">
            <a:avLst/>
          </a:prstGeom>
          <a:noFill/>
        </p:spPr>
        <p:txBody>
          <a:bodyPr wrap="square" rtlCol="0">
            <a:spAutoFit/>
          </a:bodyPr>
          <a:lstStyle/>
          <a:p>
            <a:pPr hangingPunct="0"/>
            <a:r>
              <a:rPr lang="ru-RU" sz="2800" dirty="0"/>
              <a:t>Основой для проведения операции нечеткого логического вывода является база правил, содержащая нечеткие высказывания в форме «если — то» и функции принадлежности для соответствующих лингвистических термов. При этом должны соблюдаться следующие условия:</a:t>
            </a:r>
          </a:p>
        </p:txBody>
      </p:sp>
      <p:sp>
        <p:nvSpPr>
          <p:cNvPr id="5" name="TextBox 4"/>
          <p:cNvSpPr txBox="1"/>
          <p:nvPr/>
        </p:nvSpPr>
        <p:spPr>
          <a:xfrm>
            <a:off x="0" y="3846545"/>
            <a:ext cx="9144000" cy="954107"/>
          </a:xfrm>
          <a:prstGeom prst="rect">
            <a:avLst/>
          </a:prstGeom>
          <a:noFill/>
        </p:spPr>
        <p:txBody>
          <a:bodyPr wrap="square" rtlCol="0">
            <a:spAutoFit/>
          </a:bodyPr>
          <a:lstStyle/>
          <a:p>
            <a:r>
              <a:rPr lang="ru-RU" sz="2800" dirty="0"/>
              <a:t>1) существует хотя бы одно правило для каждого лингвистического терма выходной переменной; </a:t>
            </a:r>
          </a:p>
        </p:txBody>
      </p:sp>
      <p:sp>
        <p:nvSpPr>
          <p:cNvPr id="6" name="TextBox 5"/>
          <p:cNvSpPr txBox="1"/>
          <p:nvPr/>
        </p:nvSpPr>
        <p:spPr>
          <a:xfrm>
            <a:off x="7257" y="4620497"/>
            <a:ext cx="9144000" cy="1384995"/>
          </a:xfrm>
          <a:prstGeom prst="rect">
            <a:avLst/>
          </a:prstGeom>
          <a:noFill/>
        </p:spPr>
        <p:txBody>
          <a:bodyPr wrap="square" rtlCol="0">
            <a:spAutoFit/>
          </a:bodyPr>
          <a:lstStyle/>
          <a:p>
            <a:r>
              <a:rPr lang="ru-RU" sz="2800" dirty="0"/>
              <a:t>2) для любого терма входной переменной имеется хотя бы одно правило, в котором этот терм используется в качестве предпосылки (левая часть правила).</a:t>
            </a:r>
          </a:p>
        </p:txBody>
      </p:sp>
      <p:sp>
        <p:nvSpPr>
          <p:cNvPr id="7" name="TextBox 6"/>
          <p:cNvSpPr txBox="1"/>
          <p:nvPr/>
        </p:nvSpPr>
        <p:spPr>
          <a:xfrm>
            <a:off x="0" y="5825337"/>
            <a:ext cx="9042400" cy="954107"/>
          </a:xfrm>
          <a:prstGeom prst="rect">
            <a:avLst/>
          </a:prstGeom>
          <a:noFill/>
        </p:spPr>
        <p:txBody>
          <a:bodyPr wrap="square" rtlCol="0">
            <a:spAutoFit/>
          </a:bodyPr>
          <a:lstStyle/>
          <a:p>
            <a:r>
              <a:rPr lang="ru-RU" sz="2800" dirty="0"/>
              <a:t>В противном случае имеет место неполная база нечетких правил.</a:t>
            </a:r>
          </a:p>
        </p:txBody>
      </p:sp>
    </p:spTree>
    <p:extLst>
      <p:ext uri="{BB962C8B-B14F-4D97-AF65-F5344CB8AC3E}">
        <p14:creationId xmlns:p14="http://schemas.microsoft.com/office/powerpoint/2010/main" val="362658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r>
              <a:rPr lang="ru-RU" sz="2800" dirty="0"/>
              <a:t>Результатом нечеткого вывода является четкое значение переменной </a:t>
            </a:r>
            <a:r>
              <a:rPr lang="ru-RU" sz="2800" i="1" dirty="0"/>
              <a:t>y</a:t>
            </a:r>
            <a:r>
              <a:rPr lang="ru-RU" sz="2800" baseline="30000" dirty="0"/>
              <a:t>*</a:t>
            </a:r>
            <a:r>
              <a:rPr lang="ru-RU" sz="2800" dirty="0"/>
              <a:t> на основе заданных четких значений </a:t>
            </a:r>
            <a:r>
              <a:rPr lang="ru-RU" sz="2800" i="1" dirty="0" err="1"/>
              <a:t>x</a:t>
            </a:r>
            <a:r>
              <a:rPr lang="ru-RU" sz="2800" i="1" baseline="-25000" dirty="0" err="1"/>
              <a:t>k</a:t>
            </a:r>
            <a:r>
              <a:rPr lang="ru-RU" sz="2800" dirty="0"/>
              <a:t>, </a:t>
            </a:r>
          </a:p>
          <a:p>
            <a:r>
              <a:rPr lang="ru-RU" sz="2800" i="1" dirty="0"/>
              <a:t>k = </a:t>
            </a:r>
            <a:r>
              <a:rPr lang="ru-RU" sz="2800" dirty="0"/>
              <a:t>1, …, </a:t>
            </a:r>
            <a:r>
              <a:rPr lang="ru-RU" sz="2800" i="1" dirty="0"/>
              <a:t>n</a:t>
            </a:r>
            <a:r>
              <a:rPr lang="ru-RU" sz="2800" dirty="0"/>
              <a:t>.</a:t>
            </a:r>
          </a:p>
        </p:txBody>
      </p:sp>
      <p:sp>
        <p:nvSpPr>
          <p:cNvPr id="3" name="TextBox 2"/>
          <p:cNvSpPr txBox="1"/>
          <p:nvPr/>
        </p:nvSpPr>
        <p:spPr>
          <a:xfrm>
            <a:off x="65314" y="1268881"/>
            <a:ext cx="9013371" cy="1815882"/>
          </a:xfrm>
          <a:prstGeom prst="rect">
            <a:avLst/>
          </a:prstGeom>
          <a:noFill/>
        </p:spPr>
        <p:txBody>
          <a:bodyPr wrap="square" rtlCol="0">
            <a:spAutoFit/>
          </a:bodyPr>
          <a:lstStyle/>
          <a:p>
            <a:r>
              <a:rPr lang="ru-RU" sz="2800" dirty="0"/>
              <a:t>В общем случае механизм логического вывода включает четыре этапа: введение нечеткости (</a:t>
            </a:r>
            <a:r>
              <a:rPr lang="ru-RU" sz="2800" dirty="0" err="1"/>
              <a:t>фазификация</a:t>
            </a:r>
            <a:r>
              <a:rPr lang="ru-RU" sz="2800" dirty="0"/>
              <a:t>), нечеткий вывод, композиция и приведение к четкости, или </a:t>
            </a:r>
            <a:r>
              <a:rPr lang="ru-RU" sz="2800" dirty="0" err="1"/>
              <a:t>дефазификация</a:t>
            </a:r>
            <a:endParaRPr lang="ru-RU" sz="2800"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25861" t="40875" r="9595" b="16058"/>
          <a:stretch>
            <a:fillRect/>
          </a:stretch>
        </p:blipFill>
        <p:spPr bwMode="auto">
          <a:xfrm>
            <a:off x="65314" y="3084763"/>
            <a:ext cx="8824002" cy="330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851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506"/>
                                        </p:tgtEl>
                                        <p:attrNameLst>
                                          <p:attrName>style.visibility</p:attrName>
                                        </p:attrNameLst>
                                      </p:cBhvr>
                                      <p:to>
                                        <p:strVal val="visible"/>
                                      </p:to>
                                    </p:set>
                                    <p:animEffect transition="in" filter="fade">
                                      <p:cBhvr>
                                        <p:cTn id="14" dur="1000"/>
                                        <p:tgtEl>
                                          <p:spTgt spid="21506"/>
                                        </p:tgtEl>
                                      </p:cBhvr>
                                    </p:animEffect>
                                    <p:anim calcmode="lin" valueType="num">
                                      <p:cBhvr>
                                        <p:cTn id="15" dur="1000" fill="hold"/>
                                        <p:tgtEl>
                                          <p:spTgt spid="21506"/>
                                        </p:tgtEl>
                                        <p:attrNameLst>
                                          <p:attrName>ppt_x</p:attrName>
                                        </p:attrNameLst>
                                      </p:cBhvr>
                                      <p:tavLst>
                                        <p:tav tm="0">
                                          <p:val>
                                            <p:strVal val="#ppt_x"/>
                                          </p:val>
                                        </p:tav>
                                        <p:tav tm="100000">
                                          <p:val>
                                            <p:strVal val="#ppt_x"/>
                                          </p:val>
                                        </p:tav>
                                      </p:tavLst>
                                    </p:anim>
                                    <p:anim calcmode="lin" valueType="num">
                                      <p:cBhvr>
                                        <p:cTn id="16" dur="1000" fill="hold"/>
                                        <p:tgtEl>
                                          <p:spTgt spid="215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246769"/>
          </a:xfrm>
          <a:prstGeom prst="rect">
            <a:avLst/>
          </a:prstGeom>
          <a:noFill/>
        </p:spPr>
        <p:txBody>
          <a:bodyPr wrap="square" rtlCol="0">
            <a:spAutoFit/>
          </a:bodyPr>
          <a:lstStyle/>
          <a:p>
            <a:r>
              <a:rPr lang="ru-RU" sz="2800" dirty="0"/>
              <a:t>Алгоритмы нечеткого вывода различаются главным образом видом используемых правил, логических операций и разновидностью метода </a:t>
            </a:r>
            <a:r>
              <a:rPr lang="ru-RU" sz="2800" dirty="0" err="1"/>
              <a:t>дефазификации</a:t>
            </a:r>
            <a:r>
              <a:rPr lang="ru-RU" sz="2800" dirty="0"/>
              <a:t>. Разработаны модели нечеткого вывода </a:t>
            </a:r>
            <a:r>
              <a:rPr lang="ru-RU" sz="2800" dirty="0" err="1"/>
              <a:t>Мамдани</a:t>
            </a:r>
            <a:r>
              <a:rPr lang="ru-RU" sz="2800" dirty="0"/>
              <a:t>, </a:t>
            </a:r>
            <a:r>
              <a:rPr lang="ru-RU" sz="2800" dirty="0" err="1"/>
              <a:t>Сугено</a:t>
            </a:r>
            <a:r>
              <a:rPr lang="ru-RU" sz="2800" dirty="0"/>
              <a:t>, Ларсена, </a:t>
            </a:r>
            <a:r>
              <a:rPr lang="ru-RU" sz="2800" dirty="0" err="1"/>
              <a:t>Цукамото</a:t>
            </a:r>
            <a:r>
              <a:rPr lang="ru-RU" sz="2800" dirty="0"/>
              <a:t>.</a:t>
            </a:r>
          </a:p>
        </p:txBody>
      </p:sp>
      <p:sp>
        <p:nvSpPr>
          <p:cNvPr id="3" name="TextBox 2"/>
          <p:cNvSpPr txBox="1"/>
          <p:nvPr/>
        </p:nvSpPr>
        <p:spPr>
          <a:xfrm>
            <a:off x="0" y="2246769"/>
            <a:ext cx="9144000" cy="3539430"/>
          </a:xfrm>
          <a:prstGeom prst="rect">
            <a:avLst/>
          </a:prstGeom>
          <a:noFill/>
        </p:spPr>
        <p:txBody>
          <a:bodyPr wrap="square" rtlCol="0">
            <a:spAutoFit/>
          </a:bodyPr>
          <a:lstStyle/>
          <a:p>
            <a:pPr hangingPunct="0"/>
            <a:r>
              <a:rPr lang="ru-RU" sz="2800" dirty="0"/>
              <a:t>База правил имеет следующий вид:</a:t>
            </a:r>
          </a:p>
          <a:p>
            <a:pPr hangingPunct="0"/>
            <a:r>
              <a:rPr lang="en-US" sz="2800" i="1" dirty="0"/>
              <a:t>R</a:t>
            </a:r>
            <a:r>
              <a:rPr lang="ru-RU" sz="2800" baseline="-25000" dirty="0"/>
              <a:t>1</a:t>
            </a:r>
            <a:r>
              <a:rPr lang="ru-RU" sz="2800" dirty="0"/>
              <a:t>: ЕСЛИ </a:t>
            </a:r>
            <a:r>
              <a:rPr lang="en-US" sz="2800" i="1" dirty="0"/>
              <a:t>x</a:t>
            </a:r>
            <a:r>
              <a:rPr lang="ru-RU" sz="2800" baseline="-25000" dirty="0"/>
              <a:t>1</a:t>
            </a:r>
            <a:r>
              <a:rPr lang="ru-RU" sz="2800" dirty="0"/>
              <a:t> есть </a:t>
            </a:r>
            <a:r>
              <a:rPr lang="en-US" sz="2800" i="1" dirty="0"/>
              <a:t>A</a:t>
            </a:r>
            <a:r>
              <a:rPr lang="ru-RU" sz="2800" baseline="-25000" dirty="0"/>
              <a:t>11</a:t>
            </a:r>
            <a:r>
              <a:rPr lang="ru-RU" sz="2800" dirty="0"/>
              <a:t> и </a:t>
            </a:r>
            <a:r>
              <a:rPr lang="en-US" sz="2800" i="1" dirty="0"/>
              <a:t>x</a:t>
            </a:r>
            <a:r>
              <a:rPr lang="ru-RU" sz="2800" baseline="-25000" dirty="0"/>
              <a:t>2</a:t>
            </a:r>
            <a:r>
              <a:rPr lang="ru-RU" sz="2800" dirty="0"/>
              <a:t> есть </a:t>
            </a:r>
            <a:r>
              <a:rPr lang="en-US" sz="2800" i="1" dirty="0"/>
              <a:t>A</a:t>
            </a:r>
            <a:r>
              <a:rPr lang="ru-RU" sz="2800" baseline="-25000" dirty="0"/>
              <a:t>12</a:t>
            </a:r>
            <a:r>
              <a:rPr lang="ru-RU" sz="2800" dirty="0"/>
              <a:t> ТО </a:t>
            </a:r>
            <a:r>
              <a:rPr lang="en-US" sz="2800" i="1" dirty="0"/>
              <a:t>y</a:t>
            </a:r>
            <a:r>
              <a:rPr lang="ru-RU" sz="2800" dirty="0"/>
              <a:t> есть </a:t>
            </a:r>
            <a:r>
              <a:rPr lang="en-US" sz="2800" i="1" dirty="0"/>
              <a:t>B</a:t>
            </a:r>
            <a:r>
              <a:rPr lang="ru-RU" sz="2800" baseline="-25000" dirty="0"/>
              <a:t>1</a:t>
            </a:r>
            <a:r>
              <a:rPr lang="ru-RU" sz="2800" dirty="0"/>
              <a:t>;</a:t>
            </a:r>
          </a:p>
          <a:p>
            <a:pPr hangingPunct="0"/>
            <a:r>
              <a:rPr lang="en-US" sz="2800" i="1" dirty="0"/>
              <a:t>R</a:t>
            </a:r>
            <a:r>
              <a:rPr lang="ru-RU" sz="2800" baseline="-25000" dirty="0"/>
              <a:t>2</a:t>
            </a:r>
            <a:r>
              <a:rPr lang="ru-RU" sz="2800" dirty="0"/>
              <a:t>: ЕСЛИ </a:t>
            </a:r>
            <a:r>
              <a:rPr lang="en-US" sz="2800" i="1" dirty="0"/>
              <a:t>x</a:t>
            </a:r>
            <a:r>
              <a:rPr lang="ru-RU" sz="2800" baseline="-25000" dirty="0"/>
              <a:t>1</a:t>
            </a:r>
            <a:r>
              <a:rPr lang="ru-RU" sz="2800" dirty="0"/>
              <a:t> есть </a:t>
            </a:r>
            <a:r>
              <a:rPr lang="en-US" sz="2800" i="1" dirty="0"/>
              <a:t>A</a:t>
            </a:r>
            <a:r>
              <a:rPr lang="ru-RU" sz="2800" baseline="-25000" dirty="0"/>
              <a:t>21</a:t>
            </a:r>
            <a:r>
              <a:rPr lang="ru-RU" sz="2800" dirty="0"/>
              <a:t> и </a:t>
            </a:r>
            <a:r>
              <a:rPr lang="en-US" sz="2800" i="1" dirty="0"/>
              <a:t>x</a:t>
            </a:r>
            <a:r>
              <a:rPr lang="ru-RU" sz="2800" baseline="-25000" dirty="0"/>
              <a:t>2 </a:t>
            </a:r>
            <a:r>
              <a:rPr lang="ru-RU" sz="2800" dirty="0"/>
              <a:t>есть </a:t>
            </a:r>
            <a:r>
              <a:rPr lang="en-US" sz="2800" i="1" dirty="0"/>
              <a:t>A</a:t>
            </a:r>
            <a:r>
              <a:rPr lang="ru-RU" sz="2800" baseline="-25000" dirty="0"/>
              <a:t>22</a:t>
            </a:r>
            <a:r>
              <a:rPr lang="ru-RU" sz="2800" dirty="0"/>
              <a:t> ТО </a:t>
            </a:r>
            <a:r>
              <a:rPr lang="en-US" sz="2800" i="1" dirty="0"/>
              <a:t>y</a:t>
            </a:r>
            <a:r>
              <a:rPr lang="ru-RU" sz="2800" dirty="0"/>
              <a:t> есть </a:t>
            </a:r>
            <a:r>
              <a:rPr lang="en-US" sz="2800" i="1" dirty="0"/>
              <a:t>B</a:t>
            </a:r>
            <a:r>
              <a:rPr lang="ru-RU" sz="2800" baseline="-25000" dirty="0"/>
              <a:t>2</a:t>
            </a:r>
            <a:r>
              <a:rPr lang="ru-RU" sz="2800" dirty="0"/>
              <a:t>,</a:t>
            </a:r>
          </a:p>
          <a:p>
            <a:pPr hangingPunct="0"/>
            <a:r>
              <a:rPr lang="ru-RU" sz="2800" dirty="0"/>
              <a:t>где </a:t>
            </a:r>
            <a:r>
              <a:rPr lang="en-US" sz="2800" i="1" dirty="0" err="1"/>
              <a:t>R</a:t>
            </a:r>
            <a:r>
              <a:rPr lang="en-US" sz="2800" i="1" baseline="-25000" dirty="0" err="1"/>
              <a:t>i</a:t>
            </a:r>
            <a:r>
              <a:rPr lang="ru-RU" sz="2800" dirty="0"/>
              <a:t> — номер правила в базе правил; </a:t>
            </a:r>
            <a:r>
              <a:rPr lang="en-US" sz="2800" i="1" dirty="0"/>
              <a:t>x</a:t>
            </a:r>
            <a:r>
              <a:rPr lang="en-US" sz="2800" i="1" baseline="-25000" dirty="0"/>
              <a:t>i</a:t>
            </a:r>
            <a:r>
              <a:rPr lang="ru-RU" sz="2800" dirty="0"/>
              <a:t> — входные переменные; </a:t>
            </a:r>
            <a:r>
              <a:rPr lang="en-US" sz="2800" i="1" dirty="0" err="1"/>
              <a:t>A</a:t>
            </a:r>
            <a:r>
              <a:rPr lang="en-US" sz="2800" i="1" baseline="-25000" dirty="0" err="1"/>
              <a:t>ij</a:t>
            </a:r>
            <a:r>
              <a:rPr lang="ru-RU" sz="2800" dirty="0"/>
              <a:t> — значение входной лингвистической переменной; </a:t>
            </a:r>
            <a:r>
              <a:rPr lang="en-US" sz="2800" i="1" dirty="0"/>
              <a:t>y</a:t>
            </a:r>
            <a:r>
              <a:rPr lang="ru-RU" sz="2800" dirty="0"/>
              <a:t> — выходная переменная; </a:t>
            </a:r>
            <a:r>
              <a:rPr lang="en-US" sz="2800" i="1" dirty="0"/>
              <a:t>B</a:t>
            </a:r>
            <a:r>
              <a:rPr lang="en-US" sz="2800" i="1" baseline="-25000" dirty="0"/>
              <a:t>i</a:t>
            </a:r>
            <a:r>
              <a:rPr lang="en-US" sz="2800" baseline="-25000" dirty="0"/>
              <a:t> </a:t>
            </a:r>
            <a:r>
              <a:rPr lang="ru-RU" sz="2800" dirty="0"/>
              <a:t>—</a:t>
            </a:r>
            <a:r>
              <a:rPr lang="ru-RU" sz="2800" baseline="-25000" dirty="0"/>
              <a:t> </a:t>
            </a:r>
            <a:r>
              <a:rPr lang="ru-RU" sz="2800" dirty="0"/>
              <a:t>значение выходной лингвистической переменной; </a:t>
            </a:r>
            <a:r>
              <a:rPr lang="en-US" sz="2800" i="1" dirty="0" err="1"/>
              <a:t>i</a:t>
            </a:r>
            <a:r>
              <a:rPr lang="ru-RU" sz="2800" i="1" dirty="0"/>
              <a:t>, </a:t>
            </a:r>
            <a:r>
              <a:rPr lang="en-US" sz="2800" i="1" dirty="0"/>
              <a:t>j</a:t>
            </a:r>
            <a:r>
              <a:rPr lang="en-US" sz="2800" dirty="0"/>
              <a:t> </a:t>
            </a:r>
            <a:r>
              <a:rPr lang="ru-RU" sz="2800" dirty="0"/>
              <a:t>= 1, 2.</a:t>
            </a:r>
          </a:p>
          <a:p>
            <a:endParaRPr lang="ru-RU" sz="2800" dirty="0"/>
          </a:p>
        </p:txBody>
      </p:sp>
      <p:sp>
        <p:nvSpPr>
          <p:cNvPr id="4" name="TextBox 3"/>
          <p:cNvSpPr txBox="1"/>
          <p:nvPr/>
        </p:nvSpPr>
        <p:spPr>
          <a:xfrm>
            <a:off x="0" y="5370286"/>
            <a:ext cx="9144000" cy="1384995"/>
          </a:xfrm>
          <a:prstGeom prst="rect">
            <a:avLst/>
          </a:prstGeom>
          <a:noFill/>
        </p:spPr>
        <p:txBody>
          <a:bodyPr wrap="square" rtlCol="0">
            <a:spAutoFit/>
          </a:bodyPr>
          <a:lstStyle/>
          <a:p>
            <a:r>
              <a:rPr lang="ru-RU" sz="2800" dirty="0"/>
              <a:t>Рассмотрим нечеткий вывод на примере </a:t>
            </a:r>
            <a:r>
              <a:rPr lang="ru-RU" sz="2800" b="1" dirty="0"/>
              <a:t>механизма </a:t>
            </a:r>
            <a:r>
              <a:rPr lang="ru-RU" sz="2800" b="1" dirty="0" err="1"/>
              <a:t>Мамдани</a:t>
            </a:r>
            <a:r>
              <a:rPr lang="ru-RU" sz="2800" dirty="0"/>
              <a:t>. При этом используется минимаксная композиция нечетких множеств.</a:t>
            </a:r>
          </a:p>
        </p:txBody>
      </p:sp>
    </p:spTree>
    <p:extLst>
      <p:ext uri="{BB962C8B-B14F-4D97-AF65-F5344CB8AC3E}">
        <p14:creationId xmlns:p14="http://schemas.microsoft.com/office/powerpoint/2010/main" val="418074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2246769"/>
          </a:xfrm>
          <a:prstGeom prst="rect">
            <a:avLst/>
          </a:prstGeom>
          <a:noFill/>
        </p:spPr>
        <p:txBody>
          <a:bodyPr wrap="square" rtlCol="0">
            <a:spAutoFit/>
          </a:bodyPr>
          <a:lstStyle/>
          <a:p>
            <a:r>
              <a:rPr lang="ru-RU" sz="2800" b="1" dirty="0"/>
              <a:t>А. </a:t>
            </a:r>
            <a:r>
              <a:rPr lang="ru-RU" sz="2800" b="1" dirty="0" err="1"/>
              <a:t>Фазификация</a:t>
            </a:r>
            <a:r>
              <a:rPr lang="ru-RU" sz="2800" b="1" dirty="0"/>
              <a:t>.</a:t>
            </a:r>
            <a:r>
              <a:rPr lang="ru-RU" sz="2800" dirty="0"/>
              <a:t> Определение степени истинности, т.е. значения функций принадлежности для левых частей </a:t>
            </a:r>
            <a:r>
              <a:rPr lang="ru-RU" sz="2800" dirty="0" err="1"/>
              <a:t>каж-дого</a:t>
            </a:r>
            <a:r>
              <a:rPr lang="ru-RU" sz="2800" dirty="0"/>
              <a:t> правила (предпосылок)               или сопоставление множества значений</a:t>
            </a:r>
            <a:r>
              <a:rPr lang="ru-RU" sz="2800" i="1" dirty="0"/>
              <a:t> х</a:t>
            </a:r>
            <a:r>
              <a:rPr lang="ru-RU" sz="2800" dirty="0"/>
              <a:t> ее функции принадлежности </a:t>
            </a:r>
            <a:r>
              <a:rPr lang="ru-RU" sz="2800" i="1" dirty="0"/>
              <a:t>М</a:t>
            </a:r>
            <a:r>
              <a:rPr lang="ru-RU" sz="2800" dirty="0"/>
              <a:t>(</a:t>
            </a:r>
            <a:r>
              <a:rPr lang="ru-RU" sz="2800" i="1" dirty="0"/>
              <a:t>х</a:t>
            </a:r>
            <a:r>
              <a:rPr lang="ru-RU" sz="2800" dirty="0"/>
              <a:t>), т.е. перевод значений </a:t>
            </a:r>
            <a:r>
              <a:rPr lang="ru-RU" sz="2800" i="1" dirty="0"/>
              <a:t>х</a:t>
            </a:r>
            <a:r>
              <a:rPr lang="ru-RU" sz="2800" dirty="0"/>
              <a:t> в нечеткий формат.</a:t>
            </a:r>
          </a:p>
        </p:txBody>
      </p:sp>
      <p:sp>
        <p:nvSpPr>
          <p:cNvPr id="8"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9" name="Объект 8"/>
          <p:cNvGraphicFramePr>
            <a:graphicFrameLocks noChangeAspect="1"/>
          </p:cNvGraphicFramePr>
          <p:nvPr>
            <p:extLst>
              <p:ext uri="{D42A27DB-BD31-4B8C-83A1-F6EECF244321}">
                <p14:modId xmlns:p14="http://schemas.microsoft.com/office/powerpoint/2010/main" val="4278799421"/>
              </p:ext>
            </p:extLst>
          </p:nvPr>
        </p:nvGraphicFramePr>
        <p:xfrm>
          <a:off x="4533498" y="878910"/>
          <a:ext cx="1078030" cy="570721"/>
        </p:xfrm>
        <a:graphic>
          <a:graphicData uri="http://schemas.openxmlformats.org/presentationml/2006/ole">
            <mc:AlternateContent xmlns:mc="http://schemas.openxmlformats.org/markup-compatibility/2006">
              <mc:Choice xmlns:v="urn:schemas-microsoft-com:vml" Requires="v">
                <p:oleObj r:id="rId2" imgW="482391" imgH="253890" progId="">
                  <p:embed/>
                </p:oleObj>
              </mc:Choice>
              <mc:Fallback>
                <p:oleObj r:id="rId2" imgW="482391" imgH="253890" progId="">
                  <p:embed/>
                  <p:pic>
                    <p:nvPicPr>
                      <p:cNvPr id="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3498" y="878910"/>
                        <a:ext cx="1078030" cy="570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43313" y="2121641"/>
            <a:ext cx="8980370" cy="1815882"/>
          </a:xfrm>
          <a:prstGeom prst="rect">
            <a:avLst/>
          </a:prstGeom>
          <a:noFill/>
        </p:spPr>
        <p:txBody>
          <a:bodyPr wrap="square" rtlCol="0">
            <a:spAutoFit/>
          </a:bodyPr>
          <a:lstStyle/>
          <a:p>
            <a:pPr hangingPunct="0"/>
            <a:r>
              <a:rPr lang="ru-RU" sz="2800" b="1" dirty="0"/>
              <a:t>Б. Блок выработки решения.</a:t>
            </a:r>
            <a:endParaRPr lang="ru-RU" sz="2800" dirty="0"/>
          </a:p>
          <a:p>
            <a:r>
              <a:rPr lang="ru-RU" sz="2800" dirty="0"/>
              <a:t>1) </a:t>
            </a:r>
            <a:r>
              <a:rPr lang="ru-RU" sz="2800" b="1" dirty="0"/>
              <a:t>Агрегирование</a:t>
            </a:r>
            <a:r>
              <a:rPr lang="ru-RU" sz="2800" dirty="0"/>
              <a:t> степеней истинности предпосылок </a:t>
            </a:r>
            <a:r>
              <a:rPr lang="ru-RU" sz="2800" dirty="0">
                <a:sym typeface="Symbol" panose="05050102010706020507" pitchFamily="18" charset="2"/>
              </a:rPr>
              <a:t></a:t>
            </a:r>
            <a:r>
              <a:rPr lang="en-US" sz="2800" i="1" baseline="-25000" dirty="0" err="1"/>
              <a:t>i</a:t>
            </a:r>
            <a:r>
              <a:rPr lang="en-US" sz="2800" baseline="-25000" dirty="0"/>
              <a:t> </a:t>
            </a:r>
            <a:r>
              <a:rPr lang="ru-RU" sz="2800" dirty="0"/>
              <a:t>по каждому из правил с использованием оператора </a:t>
            </a:r>
            <a:r>
              <a:rPr lang="ru-RU" sz="2800" dirty="0" err="1"/>
              <a:t>min</a:t>
            </a:r>
            <a:r>
              <a:rPr lang="ru-RU" sz="2800" dirty="0"/>
              <a:t>. Для данного примера </a:t>
            </a:r>
          </a:p>
        </p:txBody>
      </p:sp>
      <p:sp>
        <p:nvSpPr>
          <p:cNvPr id="11" name="Прямоугольник 10"/>
          <p:cNvSpPr/>
          <p:nvPr/>
        </p:nvSpPr>
        <p:spPr>
          <a:xfrm>
            <a:off x="3710538" y="3426596"/>
            <a:ext cx="5048452" cy="830997"/>
          </a:xfrm>
          <a:prstGeom prst="rect">
            <a:avLst/>
          </a:prstGeom>
        </p:spPr>
        <p:txBody>
          <a:bodyPr wrap="square">
            <a:spAutoFit/>
          </a:bodyPr>
          <a:lstStyle/>
          <a:p>
            <a:r>
              <a:rPr lang="ru-RU" sz="2400" dirty="0"/>
              <a:t>𝛼</a:t>
            </a:r>
            <a:r>
              <a:rPr lang="ru-RU" sz="2400" baseline="-25000" dirty="0"/>
              <a:t>1</a:t>
            </a:r>
            <a:r>
              <a:rPr lang="ru-RU" sz="2400" dirty="0"/>
              <a:t> = 𝑚𝑖𝑛{𝜇</a:t>
            </a:r>
            <a:r>
              <a:rPr lang="ru-RU" sz="2400" baseline="-25000" dirty="0"/>
              <a:t>𝐴11 </a:t>
            </a:r>
            <a:r>
              <a:rPr lang="ru-RU" sz="2400" dirty="0"/>
              <a:t>(𝑥</a:t>
            </a:r>
            <a:r>
              <a:rPr lang="ru-RU" sz="2400" baseline="-25000" dirty="0"/>
              <a:t>1</a:t>
            </a:r>
            <a:r>
              <a:rPr lang="ru-RU" sz="2400" dirty="0"/>
              <a:t> ), 𝜇</a:t>
            </a:r>
            <a:r>
              <a:rPr lang="ru-RU" sz="2400" baseline="-25000" dirty="0"/>
              <a:t>𝐴12 </a:t>
            </a:r>
            <a:r>
              <a:rPr lang="ru-RU" sz="2400" dirty="0"/>
              <a:t>(𝑥</a:t>
            </a:r>
            <a:r>
              <a:rPr lang="ru-RU" sz="2400" baseline="-25000" dirty="0"/>
              <a:t>2</a:t>
            </a:r>
            <a:r>
              <a:rPr lang="ru-RU" sz="2400" dirty="0"/>
              <a:t> )}, </a:t>
            </a:r>
          </a:p>
          <a:p>
            <a:r>
              <a:rPr lang="ru-RU" sz="2400" dirty="0"/>
              <a:t>𝛼</a:t>
            </a:r>
            <a:r>
              <a:rPr lang="ru-RU" sz="2400" baseline="-25000" dirty="0"/>
              <a:t>2</a:t>
            </a:r>
            <a:r>
              <a:rPr lang="ru-RU" sz="2400" dirty="0"/>
              <a:t> = 𝑚𝑖𝑛{𝜇</a:t>
            </a:r>
            <a:r>
              <a:rPr lang="ru-RU" sz="2400" baseline="-25000" dirty="0"/>
              <a:t>𝐴21 </a:t>
            </a:r>
            <a:r>
              <a:rPr lang="ru-RU" sz="2400" dirty="0"/>
              <a:t>(𝑥</a:t>
            </a:r>
            <a:r>
              <a:rPr lang="ru-RU" sz="2400" baseline="-25000" dirty="0"/>
              <a:t>1</a:t>
            </a:r>
            <a:r>
              <a:rPr lang="ru-RU" sz="2400" dirty="0"/>
              <a:t> ), 𝜇</a:t>
            </a:r>
            <a:r>
              <a:rPr lang="ru-RU" sz="2400" baseline="-25000" dirty="0"/>
              <a:t>𝐴22 </a:t>
            </a:r>
            <a:r>
              <a:rPr lang="ru-RU" sz="2400" dirty="0"/>
              <a:t>(𝑥</a:t>
            </a:r>
            <a:r>
              <a:rPr lang="ru-RU" sz="2400" baseline="-25000" dirty="0"/>
              <a:t>2</a:t>
            </a:r>
            <a:r>
              <a:rPr lang="ru-RU" sz="2400" dirty="0"/>
              <a:t> )}.</a:t>
            </a:r>
          </a:p>
        </p:txBody>
      </p:sp>
      <p:sp>
        <p:nvSpPr>
          <p:cNvPr id="12" name="TextBox 11"/>
          <p:cNvSpPr txBox="1"/>
          <p:nvPr/>
        </p:nvSpPr>
        <p:spPr>
          <a:xfrm>
            <a:off x="0" y="4208006"/>
            <a:ext cx="9100687" cy="954107"/>
          </a:xfrm>
          <a:prstGeom prst="rect">
            <a:avLst/>
          </a:prstGeom>
          <a:noFill/>
        </p:spPr>
        <p:txBody>
          <a:bodyPr wrap="square" rtlCol="0">
            <a:spAutoFit/>
          </a:bodyPr>
          <a:lstStyle/>
          <a:p>
            <a:r>
              <a:rPr lang="ru-RU" sz="2800" b="1" dirty="0"/>
              <a:t>2) Активация</a:t>
            </a:r>
            <a:r>
              <a:rPr lang="ru-RU" sz="2800" dirty="0"/>
              <a:t> (определение степени истинности) по каждому из правил на основе оператора </a:t>
            </a:r>
            <a:r>
              <a:rPr lang="ru-RU" sz="2800" dirty="0" err="1"/>
              <a:t>min</a:t>
            </a:r>
            <a:r>
              <a:rPr lang="ru-RU" sz="2800" dirty="0"/>
              <a:t>:</a:t>
            </a:r>
          </a:p>
        </p:txBody>
      </p:sp>
      <p:sp>
        <p:nvSpPr>
          <p:cNvPr id="13" name="Прямоугольник 12"/>
          <p:cNvSpPr/>
          <p:nvPr/>
        </p:nvSpPr>
        <p:spPr>
          <a:xfrm>
            <a:off x="4085922" y="5017097"/>
            <a:ext cx="5577841" cy="830997"/>
          </a:xfrm>
          <a:prstGeom prst="rect">
            <a:avLst/>
          </a:prstGeom>
        </p:spPr>
        <p:txBody>
          <a:bodyPr wrap="square">
            <a:spAutoFit/>
          </a:bodyPr>
          <a:lstStyle/>
          <a:p>
            <a:r>
              <a:rPr lang="ru-RU" sz="2400" dirty="0"/>
              <a:t>𝜇</a:t>
            </a:r>
            <a:r>
              <a:rPr lang="ru-RU" sz="2400" baseline="-25000" dirty="0"/>
              <a:t>𝐵1</a:t>
            </a:r>
            <a:r>
              <a:rPr lang="ru-RU" sz="2400" dirty="0"/>
              <a:t> = 𝑚𝑖𝑛{𝛼</a:t>
            </a:r>
            <a:r>
              <a:rPr lang="ru-RU" sz="2400" baseline="-25000" dirty="0"/>
              <a:t>1</a:t>
            </a:r>
            <a:r>
              <a:rPr lang="ru-RU" sz="2400" dirty="0"/>
              <a:t>, 𝜇</a:t>
            </a:r>
            <a:r>
              <a:rPr lang="ru-RU" sz="2400" baseline="-25000" dirty="0"/>
              <a:t>𝐵1</a:t>
            </a:r>
            <a:r>
              <a:rPr lang="ru-RU" sz="2400" dirty="0"/>
              <a:t> (𝑦)}, </a:t>
            </a:r>
          </a:p>
          <a:p>
            <a:r>
              <a:rPr lang="ru-RU" sz="2400" dirty="0"/>
              <a:t>𝜇</a:t>
            </a:r>
            <a:r>
              <a:rPr lang="ru-RU" sz="2400" baseline="-25000" dirty="0"/>
              <a:t>𝐵2 </a:t>
            </a:r>
            <a:r>
              <a:rPr lang="ru-RU" sz="2400" dirty="0"/>
              <a:t>= 𝑚𝑖𝑛{𝛼</a:t>
            </a:r>
            <a:r>
              <a:rPr lang="ru-RU" sz="2400" baseline="-25000" dirty="0"/>
              <a:t>2</a:t>
            </a:r>
            <a:r>
              <a:rPr lang="ru-RU" sz="2400" dirty="0"/>
              <a:t>, 𝜇</a:t>
            </a:r>
            <a:r>
              <a:rPr lang="ru-RU" sz="2400" baseline="-25000" dirty="0"/>
              <a:t>𝐵2</a:t>
            </a:r>
            <a:r>
              <a:rPr lang="ru-RU" sz="2400" dirty="0"/>
              <a:t> (𝑦)}. </a:t>
            </a:r>
          </a:p>
        </p:txBody>
      </p:sp>
    </p:spTree>
    <p:extLst>
      <p:ext uri="{BB962C8B-B14F-4D97-AF65-F5344CB8AC3E}">
        <p14:creationId xmlns:p14="http://schemas.microsoft.com/office/powerpoint/2010/main" val="99940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2677656"/>
          </a:xfrm>
          <a:prstGeom prst="rect">
            <a:avLst/>
          </a:prstGeom>
          <a:noFill/>
        </p:spPr>
        <p:txBody>
          <a:bodyPr wrap="square" rtlCol="0">
            <a:spAutoFit/>
          </a:bodyPr>
          <a:lstStyle/>
          <a:p>
            <a:r>
              <a:rPr lang="ru-RU" sz="2800" b="1" dirty="0"/>
              <a:t>3) Аккумулирование</a:t>
            </a:r>
            <a:r>
              <a:rPr lang="ru-RU" sz="2800" dirty="0"/>
              <a:t> полученных на предыдущем этапе заключений по всем правилам. Объединение найденных усеченных нечетких множеств проводится с </a:t>
            </a:r>
            <a:r>
              <a:rPr lang="ru-RU" sz="2800" dirty="0" err="1"/>
              <a:t>использо-ванием</a:t>
            </a:r>
            <a:r>
              <a:rPr lang="ru-RU" sz="2800" dirty="0"/>
              <a:t> операции максимум. В итоге формируется нечет-кое множество для выходной переменной с функцией принадлежности</a:t>
            </a:r>
          </a:p>
        </p:txBody>
      </p:sp>
      <p:sp>
        <p:nvSpPr>
          <p:cNvPr id="5" name="TextBox 4"/>
          <p:cNvSpPr txBox="1"/>
          <p:nvPr/>
        </p:nvSpPr>
        <p:spPr>
          <a:xfrm>
            <a:off x="3080084" y="2215991"/>
            <a:ext cx="4023360" cy="461665"/>
          </a:xfrm>
          <a:prstGeom prst="rect">
            <a:avLst/>
          </a:prstGeom>
          <a:noFill/>
        </p:spPr>
        <p:txBody>
          <a:bodyPr wrap="square" rtlCol="0">
            <a:spAutoFit/>
          </a:bodyPr>
          <a:lstStyle/>
          <a:p>
            <a:r>
              <a:rPr lang="ru-RU" sz="2400" dirty="0"/>
              <a:t>𝜇</a:t>
            </a:r>
            <a:r>
              <a:rPr lang="ru-RU" sz="2400" baseline="-25000" dirty="0"/>
              <a:t>𝐵′</a:t>
            </a:r>
            <a:r>
              <a:rPr lang="ru-RU" sz="2400" dirty="0"/>
              <a:t> = 𝑚𝑎𝑥{𝜇</a:t>
            </a:r>
            <a:r>
              <a:rPr lang="ru-RU" sz="2400" baseline="-25000" dirty="0"/>
              <a:t>𝐵1</a:t>
            </a:r>
            <a:r>
              <a:rPr lang="ru-RU" sz="2400" dirty="0"/>
              <a:t>(𝑦), 𝜇</a:t>
            </a:r>
            <a:r>
              <a:rPr lang="ru-RU" sz="2400" baseline="-25000" dirty="0"/>
              <a:t>𝐵2</a:t>
            </a:r>
            <a:r>
              <a:rPr lang="ru-RU" sz="2400" dirty="0"/>
              <a:t>(𝑦)}.</a:t>
            </a:r>
          </a:p>
        </p:txBody>
      </p:sp>
      <p:sp>
        <p:nvSpPr>
          <p:cNvPr id="6" name="TextBox 5"/>
          <p:cNvSpPr txBox="1"/>
          <p:nvPr/>
        </p:nvSpPr>
        <p:spPr>
          <a:xfrm>
            <a:off x="33688" y="2677656"/>
            <a:ext cx="9076623" cy="1384995"/>
          </a:xfrm>
          <a:prstGeom prst="rect">
            <a:avLst/>
          </a:prstGeom>
          <a:noFill/>
        </p:spPr>
        <p:txBody>
          <a:bodyPr wrap="square" rtlCol="0">
            <a:spAutoFit/>
          </a:bodyPr>
          <a:lstStyle/>
          <a:p>
            <a:pPr hangingPunct="0"/>
            <a:r>
              <a:rPr lang="ru-RU" sz="2800" b="1" dirty="0"/>
              <a:t>В. </a:t>
            </a:r>
            <a:r>
              <a:rPr lang="ru-RU" sz="2800" b="1" dirty="0" err="1"/>
              <a:t>Дефазификация</a:t>
            </a:r>
            <a:r>
              <a:rPr lang="ru-RU" sz="2800" dirty="0"/>
              <a:t> — процесс, обратный </a:t>
            </a:r>
            <a:r>
              <a:rPr lang="ru-RU" sz="2800" dirty="0" err="1"/>
              <a:t>фазификации</a:t>
            </a:r>
            <a:r>
              <a:rPr lang="ru-RU" sz="2800" dirty="0"/>
              <a:t>.</a:t>
            </a:r>
          </a:p>
          <a:p>
            <a:r>
              <a:rPr lang="ru-RU" sz="2800" dirty="0"/>
              <a:t> Выходная переменная 𝑦</a:t>
            </a:r>
            <a:r>
              <a:rPr lang="ru-RU" sz="2800" dirty="0">
                <a:sym typeface="Symbol" panose="05050102010706020507" pitchFamily="18" charset="2"/>
              </a:rPr>
              <a:t></a:t>
            </a:r>
            <a:r>
              <a:rPr lang="ru-RU" sz="2800" dirty="0"/>
              <a:t> определяется, как правило, как центр тяжести для</a:t>
            </a:r>
          </a:p>
        </p:txBody>
      </p:sp>
      <p:sp>
        <p:nvSpPr>
          <p:cNvPr id="7" name="Прямоугольник 6"/>
          <p:cNvSpPr/>
          <p:nvPr/>
        </p:nvSpPr>
        <p:spPr>
          <a:xfrm>
            <a:off x="2975988" y="3600986"/>
            <a:ext cx="1239877" cy="461665"/>
          </a:xfrm>
          <a:prstGeom prst="rect">
            <a:avLst/>
          </a:prstGeom>
        </p:spPr>
        <p:txBody>
          <a:bodyPr wrap="square">
            <a:spAutoFit/>
          </a:bodyPr>
          <a:lstStyle/>
          <a:p>
            <a:r>
              <a:rPr lang="ru-RU" sz="2400" dirty="0"/>
              <a:t>𝜇</a:t>
            </a:r>
            <a:r>
              <a:rPr lang="ru-RU" sz="2400" baseline="-25000" dirty="0"/>
              <a:t>𝐵′</a:t>
            </a:r>
            <a:r>
              <a:rPr lang="ru-RU" sz="2400" dirty="0"/>
              <a:t>(𝑦) :</a:t>
            </a:r>
          </a:p>
        </p:txBody>
      </p:sp>
      <p:sp>
        <p:nvSpPr>
          <p:cNvPr id="8" name="TextBox 7"/>
          <p:cNvSpPr txBox="1"/>
          <p:nvPr/>
        </p:nvSpPr>
        <p:spPr>
          <a:xfrm>
            <a:off x="154004" y="4062651"/>
            <a:ext cx="7122695" cy="461665"/>
          </a:xfrm>
          <a:prstGeom prst="rect">
            <a:avLst/>
          </a:prstGeom>
          <a:noFill/>
        </p:spPr>
        <p:txBody>
          <a:bodyPr wrap="square" rtlCol="0">
            <a:spAutoFit/>
          </a:bodyPr>
          <a:lstStyle/>
          <a:p>
            <a:endParaRPr lang="ru-RU" sz="2400" dirty="0"/>
          </a:p>
        </p:txBody>
      </p:sp>
      <p:sp>
        <p:nvSpPr>
          <p:cNvPr id="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10" name="Объект 9"/>
          <p:cNvGraphicFramePr>
            <a:graphicFrameLocks noChangeAspect="1"/>
          </p:cNvGraphicFramePr>
          <p:nvPr>
            <p:extLst>
              <p:ext uri="{D42A27DB-BD31-4B8C-83A1-F6EECF244321}">
                <p14:modId xmlns:p14="http://schemas.microsoft.com/office/powerpoint/2010/main" val="3053054729"/>
              </p:ext>
            </p:extLst>
          </p:nvPr>
        </p:nvGraphicFramePr>
        <p:xfrm>
          <a:off x="4215865" y="3521131"/>
          <a:ext cx="2821984" cy="2262452"/>
        </p:xfrm>
        <a:graphic>
          <a:graphicData uri="http://schemas.openxmlformats.org/presentationml/2006/ole">
            <mc:AlternateContent xmlns:mc="http://schemas.openxmlformats.org/markup-compatibility/2006">
              <mc:Choice xmlns:v="urn:schemas-microsoft-com:vml" Requires="v">
                <p:oleObj r:id="rId2" imgW="1104900" imgH="889000" progId="">
                  <p:embed/>
                </p:oleObj>
              </mc:Choice>
              <mc:Fallback>
                <p:oleObj r:id="rId2" imgW="1104900" imgH="889000" progId="">
                  <p:embed/>
                  <p:pic>
                    <p:nvPicPr>
                      <p:cNvPr id="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5865" y="3521131"/>
                        <a:ext cx="2821984" cy="22624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67377" y="5447646"/>
            <a:ext cx="9076623" cy="1384995"/>
          </a:xfrm>
          <a:prstGeom prst="rect">
            <a:avLst/>
          </a:prstGeom>
          <a:noFill/>
        </p:spPr>
        <p:txBody>
          <a:bodyPr wrap="square" rtlCol="0">
            <a:spAutoFit/>
          </a:bodyPr>
          <a:lstStyle/>
          <a:p>
            <a:r>
              <a:rPr lang="ru-RU" sz="2800" dirty="0"/>
              <a:t>где </a:t>
            </a:r>
            <a:r>
              <a:rPr lang="en-US" sz="2800" i="1" dirty="0" err="1"/>
              <a:t>Y</a:t>
            </a:r>
            <a:r>
              <a:rPr lang="en-US" sz="2800" baseline="-25000" dirty="0" err="1"/>
              <a:t>max</a:t>
            </a:r>
            <a:r>
              <a:rPr lang="ru-RU" sz="2800" dirty="0"/>
              <a:t>, </a:t>
            </a:r>
            <a:r>
              <a:rPr lang="en-US" sz="2800" i="1" dirty="0" err="1"/>
              <a:t>Y</a:t>
            </a:r>
            <a:r>
              <a:rPr lang="en-US" sz="2800" baseline="-25000" dirty="0" err="1"/>
              <a:t>min</a:t>
            </a:r>
            <a:r>
              <a:rPr lang="en-US" sz="2800" dirty="0"/>
              <a:t> </a:t>
            </a:r>
            <a:r>
              <a:rPr lang="ru-RU" sz="2800" dirty="0"/>
              <a:t>— границы </a:t>
            </a:r>
          </a:p>
          <a:p>
            <a:r>
              <a:rPr lang="ru-RU" sz="2800" dirty="0"/>
              <a:t>интервала — носителя </a:t>
            </a:r>
          </a:p>
          <a:p>
            <a:r>
              <a:rPr lang="ru-RU" sz="2800" dirty="0"/>
              <a:t>нечеткого множества выходной переменной </a:t>
            </a:r>
            <a:r>
              <a:rPr lang="en-US" sz="2800" i="1" dirty="0"/>
              <a:t>y</a:t>
            </a:r>
            <a:endParaRPr lang="ru-RU" sz="2800" dirty="0"/>
          </a:p>
        </p:txBody>
      </p:sp>
    </p:spTree>
    <p:extLst>
      <p:ext uri="{BB962C8B-B14F-4D97-AF65-F5344CB8AC3E}">
        <p14:creationId xmlns:p14="http://schemas.microsoft.com/office/powerpoint/2010/main" val="113290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114" y="0"/>
            <a:ext cx="9027886" cy="1384995"/>
          </a:xfrm>
          <a:prstGeom prst="rect">
            <a:avLst/>
          </a:prstGeom>
          <a:noFill/>
        </p:spPr>
        <p:txBody>
          <a:bodyPr wrap="square" rtlCol="0">
            <a:spAutoFit/>
          </a:bodyPr>
          <a:lstStyle/>
          <a:p>
            <a:r>
              <a:rPr lang="ru-RU" sz="2800" dirty="0"/>
              <a:t>Графики показывают шаги А, Б, В процесса нечеткого вывода по </a:t>
            </a:r>
            <a:r>
              <a:rPr lang="ru-RU" sz="2800" dirty="0" err="1"/>
              <a:t>Мамдани</a:t>
            </a:r>
            <a:r>
              <a:rPr lang="ru-RU" sz="2800" dirty="0"/>
              <a:t> для двух входных переменных </a:t>
            </a:r>
            <a:r>
              <a:rPr lang="en-US" sz="2800" i="1" dirty="0"/>
              <a:t>x</a:t>
            </a:r>
            <a:r>
              <a:rPr lang="ru-RU" sz="2800" baseline="-25000" dirty="0"/>
              <a:t>1</a:t>
            </a:r>
            <a:r>
              <a:rPr lang="ru-RU" sz="2800" dirty="0"/>
              <a:t>, </a:t>
            </a:r>
            <a:r>
              <a:rPr lang="en-US" sz="2800" i="1" dirty="0"/>
              <a:t>x</a:t>
            </a:r>
            <a:r>
              <a:rPr lang="ru-RU" sz="2800" baseline="-25000" dirty="0"/>
              <a:t>2</a:t>
            </a:r>
            <a:r>
              <a:rPr lang="ru-RU" sz="2800" dirty="0"/>
              <a:t> и двух нечетких правил </a:t>
            </a:r>
            <a:r>
              <a:rPr lang="ru-RU" sz="2800" i="1" dirty="0"/>
              <a:t>R</a:t>
            </a:r>
            <a:r>
              <a:rPr lang="ru-RU" sz="2800" baseline="-25000" dirty="0"/>
              <a:t>1</a:t>
            </a:r>
            <a:r>
              <a:rPr lang="ru-RU" sz="2800" dirty="0"/>
              <a:t> и </a:t>
            </a:r>
            <a:r>
              <a:rPr lang="ru-RU" sz="2800" i="1" dirty="0"/>
              <a:t>R</a:t>
            </a:r>
            <a:r>
              <a:rPr lang="ru-RU" sz="2800" baseline="-25000" dirty="0"/>
              <a:t>2</a:t>
            </a:r>
            <a:r>
              <a:rPr lang="ru-RU" sz="2800" dirty="0"/>
              <a:t>.</a:t>
            </a:r>
          </a:p>
        </p:txBody>
      </p:sp>
      <p:pic>
        <p:nvPicPr>
          <p:cNvPr id="24579" name="Picture 3" descr="http://www.rusnauka.com/13_EISN_2014/Tecnic/12_167143.doc.files/image018.jpg"/>
          <p:cNvPicPr>
            <a:picLocks noChangeAspect="1" noChangeArrowheads="1"/>
          </p:cNvPicPr>
          <p:nvPr/>
        </p:nvPicPr>
        <p:blipFill>
          <a:blip r:embed="rId2" cstate="print">
            <a:lum bright="-10000" contrast="20000"/>
            <a:extLst>
              <a:ext uri="{28A0092B-C50C-407E-A947-70E740481C1C}">
                <a14:useLocalDpi xmlns:a14="http://schemas.microsoft.com/office/drawing/2010/main" val="0"/>
              </a:ext>
            </a:extLst>
          </a:blip>
          <a:srcRect/>
          <a:stretch>
            <a:fillRect/>
          </a:stretch>
        </p:blipFill>
        <p:spPr bwMode="auto">
          <a:xfrm>
            <a:off x="566058" y="1384995"/>
            <a:ext cx="7544253" cy="5456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739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fade">
                                      <p:cBhvr>
                                        <p:cTn id="7" dur="1000"/>
                                        <p:tgtEl>
                                          <p:spTgt spid="24579"/>
                                        </p:tgtEl>
                                      </p:cBhvr>
                                    </p:animEffect>
                                    <p:anim calcmode="lin" valueType="num">
                                      <p:cBhvr>
                                        <p:cTn id="8" dur="1000" fill="hold"/>
                                        <p:tgtEl>
                                          <p:spTgt spid="24579"/>
                                        </p:tgtEl>
                                        <p:attrNameLst>
                                          <p:attrName>ppt_x</p:attrName>
                                        </p:attrNameLst>
                                      </p:cBhvr>
                                      <p:tavLst>
                                        <p:tav tm="0">
                                          <p:val>
                                            <p:strVal val="#ppt_x"/>
                                          </p:val>
                                        </p:tav>
                                        <p:tav tm="100000">
                                          <p:val>
                                            <p:strVal val="#ppt_x"/>
                                          </p:val>
                                        </p:tav>
                                      </p:tavLst>
                                    </p:anim>
                                    <p:anim calcmode="lin" valueType="num">
                                      <p:cBhvr>
                                        <p:cTn id="9" dur="1000" fill="hold"/>
                                        <p:tgtEl>
                                          <p:spTgt spid="245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r>
              <a:rPr lang="ru-RU" sz="2800" dirty="0"/>
              <a:t>В качестве примера использования систем нечеткого вывода в задачах управления рассмотрим задачу управления смесителем воды при принятии душа.</a:t>
            </a:r>
          </a:p>
        </p:txBody>
      </p:sp>
      <p:sp>
        <p:nvSpPr>
          <p:cNvPr id="3" name="TextBox 2"/>
          <p:cNvSpPr txBox="1"/>
          <p:nvPr/>
        </p:nvSpPr>
        <p:spPr>
          <a:xfrm>
            <a:off x="0" y="1384995"/>
            <a:ext cx="9144000" cy="5262979"/>
          </a:xfrm>
          <a:prstGeom prst="rect">
            <a:avLst/>
          </a:prstGeom>
          <a:noFill/>
        </p:spPr>
        <p:txBody>
          <a:bodyPr wrap="square" rtlCol="0">
            <a:spAutoFit/>
          </a:bodyPr>
          <a:lstStyle/>
          <a:p>
            <a:r>
              <a:rPr lang="ru-RU" sz="2800" b="1" dirty="0"/>
              <a:t>Содержательная постановка задачи. </a:t>
            </a:r>
            <a:r>
              <a:rPr lang="ru-RU" sz="2800" dirty="0"/>
              <a:t>При принятии душа на вход смесителя подается холодная и горячая вода по соответствующим магистральным трубопроводам. Наиболее комфортные условия для душа создаются при наличии на выходе смесителя теплой воды постоянной температуры. Поскольку во время принятия душа может наблюдаться неравномерный расход воды, температура воды на выходе смесителя будет колебаться, приводя к необходимости ручного изменения подачи холодной или горячей воды. Задача состоит в том, чтобы сделать </a:t>
            </a:r>
            <a:r>
              <a:rPr lang="ru-RU" sz="2800" dirty="0" err="1"/>
              <a:t>регули-ровку</a:t>
            </a:r>
            <a:r>
              <a:rPr lang="ru-RU" sz="2800" dirty="0"/>
              <a:t> температуры воды автоматической, обеспечивая постоянную температуру воды на выходе смесителя.</a:t>
            </a:r>
          </a:p>
        </p:txBody>
      </p:sp>
    </p:spTree>
    <p:extLst>
      <p:ext uri="{BB962C8B-B14F-4D97-AF65-F5344CB8AC3E}">
        <p14:creationId xmlns:p14="http://schemas.microsoft.com/office/powerpoint/2010/main" val="262919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Полотно 1"/>
          <p:cNvGrpSpPr/>
          <p:nvPr/>
        </p:nvGrpSpPr>
        <p:grpSpPr>
          <a:xfrm>
            <a:off x="1872343" y="252367"/>
            <a:ext cx="5486400" cy="5046980"/>
            <a:chOff x="0" y="0"/>
            <a:chExt cx="5486400" cy="5046980"/>
          </a:xfrm>
        </p:grpSpPr>
        <p:sp>
          <p:nvSpPr>
            <p:cNvPr id="3" name="Прямоугольник 2"/>
            <p:cNvSpPr/>
            <p:nvPr/>
          </p:nvSpPr>
          <p:spPr>
            <a:xfrm>
              <a:off x="0" y="0"/>
              <a:ext cx="5486400" cy="5046980"/>
            </a:xfrm>
            <a:prstGeom prst="rect">
              <a:avLst/>
            </a:prstGeom>
            <a:ln>
              <a:solidFill>
                <a:schemeClr val="tx1"/>
              </a:solidFill>
              <a:prstDash val="dash"/>
            </a:ln>
          </p:spPr>
        </p:sp>
        <p:sp>
          <p:nvSpPr>
            <p:cNvPr id="4" name="Прямоугольник 3"/>
            <p:cNvSpPr/>
            <p:nvPr/>
          </p:nvSpPr>
          <p:spPr>
            <a:xfrm>
              <a:off x="752997" y="539864"/>
              <a:ext cx="1911817" cy="19856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5" name="Надпись 3"/>
            <p:cNvSpPr txBox="1"/>
            <p:nvPr/>
          </p:nvSpPr>
          <p:spPr>
            <a:xfrm>
              <a:off x="906552" y="400573"/>
              <a:ext cx="1685394" cy="83602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Bef>
                  <a:spcPts val="600"/>
                </a:spcBef>
                <a:spcAft>
                  <a:spcPts val="0"/>
                </a:spcAft>
              </a:pPr>
              <a:r>
                <a:rPr lang="ru-RU" sz="2200">
                  <a:effectLst/>
                  <a:ea typeface="Calibri" panose="020F0502020204030204" pitchFamily="34" charset="0"/>
                  <a:cs typeface="Times New Roman" panose="02020603050405020304" pitchFamily="18" charset="0"/>
                </a:rPr>
                <a:t>Объект</a:t>
              </a:r>
              <a:endParaRPr lang="ru-RU" sz="1100">
                <a:effectLst/>
                <a:ea typeface="Calibri" panose="020F0502020204030204" pitchFamily="34" charset="0"/>
                <a:cs typeface="Times New Roman" panose="02020603050405020304" pitchFamily="18" charset="0"/>
              </a:endParaRPr>
            </a:p>
            <a:p>
              <a:pPr algn="ctr">
                <a:lnSpc>
                  <a:spcPct val="107000"/>
                </a:lnSpc>
                <a:spcAft>
                  <a:spcPts val="800"/>
                </a:spcAft>
              </a:pPr>
              <a:r>
                <a:rPr lang="ru-RU" sz="2200">
                  <a:effectLst/>
                  <a:ea typeface="Calibri" panose="020F0502020204030204" pitchFamily="34" charset="0"/>
                  <a:cs typeface="Times New Roman" panose="02020603050405020304" pitchFamily="18" charset="0"/>
                </a:rPr>
                <a:t>управления</a:t>
              </a:r>
              <a:endParaRPr lang="ru-RU" sz="1100">
                <a:effectLst/>
                <a:ea typeface="Calibri" panose="020F0502020204030204" pitchFamily="34" charset="0"/>
                <a:cs typeface="Times New Roman" panose="02020603050405020304" pitchFamily="18" charset="0"/>
              </a:endParaRPr>
            </a:p>
          </p:txBody>
        </p:sp>
        <p:sp>
          <p:nvSpPr>
            <p:cNvPr id="6" name="Овал 5"/>
            <p:cNvSpPr/>
            <p:nvPr/>
          </p:nvSpPr>
          <p:spPr>
            <a:xfrm>
              <a:off x="1706880" y="1463040"/>
              <a:ext cx="618308" cy="592183"/>
            </a:xfrm>
            <a:prstGeom prst="ellipse">
              <a:avLst/>
            </a:prstGeom>
            <a:noFill/>
            <a:ln>
              <a:solidFill>
                <a:schemeClr val="tx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7" name="Овал 6"/>
            <p:cNvSpPr/>
            <p:nvPr/>
          </p:nvSpPr>
          <p:spPr>
            <a:xfrm>
              <a:off x="1306279" y="1558835"/>
              <a:ext cx="766354" cy="67926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8" name="Надпись 6"/>
            <p:cNvSpPr txBox="1"/>
            <p:nvPr/>
          </p:nvSpPr>
          <p:spPr>
            <a:xfrm>
              <a:off x="1515282" y="1672047"/>
              <a:ext cx="775063" cy="679269"/>
            </a:xfrm>
            <a:prstGeom prst="rect">
              <a:avLst/>
            </a:prstGeom>
            <a:solidFill>
              <a:schemeClr val="lt1">
                <a:alpha val="0"/>
              </a:schemeClr>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u-RU" sz="2000">
                  <a:effectLst/>
                  <a:ea typeface="Calibri" panose="020F0502020204030204" pitchFamily="34" charset="0"/>
                  <a:cs typeface="Times New Roman" panose="02020603050405020304" pitchFamily="18" charset="0"/>
                  <a:sym typeface="Symbol" panose="05050102010706020507" pitchFamily="18" charset="2"/>
                </a:rPr>
                <a:t></a:t>
              </a:r>
              <a:endParaRPr lang="ru-RU" sz="1100">
                <a:effectLst/>
                <a:ea typeface="Calibri" panose="020F0502020204030204" pitchFamily="34" charset="0"/>
                <a:cs typeface="Times New Roman" panose="02020603050405020304" pitchFamily="18" charset="0"/>
              </a:endParaRPr>
            </a:p>
          </p:txBody>
        </p:sp>
        <p:cxnSp>
          <p:nvCxnSpPr>
            <p:cNvPr id="9" name="Соединительная линия уступом 8"/>
            <p:cNvCxnSpPr/>
            <p:nvPr/>
          </p:nvCxnSpPr>
          <p:spPr>
            <a:xfrm rot="16200000" flipH="1">
              <a:off x="412645" y="996050"/>
              <a:ext cx="1420068" cy="384618"/>
            </a:xfrm>
            <a:prstGeom prst="bentConnector2">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Соединительная линия уступом 9"/>
            <p:cNvCxnSpPr/>
            <p:nvPr/>
          </p:nvCxnSpPr>
          <p:spPr>
            <a:xfrm rot="5400000">
              <a:off x="1532724" y="940514"/>
              <a:ext cx="1497828" cy="417995"/>
            </a:xfrm>
            <a:prstGeom prst="bentConnector3">
              <a:avLst>
                <a:gd name="adj1" fmla="val 98257"/>
              </a:avLst>
            </a:prstGeom>
            <a:ln w="22225"/>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p:cNvCxnSpPr/>
            <p:nvPr/>
          </p:nvCxnSpPr>
          <p:spPr>
            <a:xfrm flipV="1">
              <a:off x="1689462" y="2238103"/>
              <a:ext cx="0" cy="60098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Надпись 10"/>
            <p:cNvSpPr txBox="1"/>
            <p:nvPr/>
          </p:nvSpPr>
          <p:spPr>
            <a:xfrm>
              <a:off x="3805653" y="661801"/>
              <a:ext cx="1619793" cy="1166949"/>
            </a:xfrm>
            <a:prstGeom prst="rect">
              <a:avLst/>
            </a:prstGeom>
            <a:noFill/>
            <a:ln w="6350">
              <a:solidFill>
                <a:prstClr val="black"/>
              </a:solid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0"/>
                </a:spcAft>
              </a:pPr>
              <a:r>
                <a:rPr lang="ru-RU" sz="2200">
                  <a:effectLst/>
                  <a:ea typeface="Calibri" panose="020F0502020204030204" pitchFamily="34" charset="0"/>
                  <a:cs typeface="Times New Roman" panose="02020603050405020304" pitchFamily="18" charset="0"/>
                </a:rPr>
                <a:t>Система нечеткого управления</a:t>
              </a:r>
              <a:endParaRPr lang="ru-RU" sz="1100">
                <a:effectLst/>
                <a:ea typeface="Calibri" panose="020F0502020204030204" pitchFamily="34" charset="0"/>
                <a:cs typeface="Times New Roman" panose="02020603050405020304" pitchFamily="18" charset="0"/>
              </a:endParaRPr>
            </a:p>
          </p:txBody>
        </p:sp>
        <p:cxnSp>
          <p:nvCxnSpPr>
            <p:cNvPr id="13" name="Прямая со стрелкой 12"/>
            <p:cNvCxnSpPr/>
            <p:nvPr/>
          </p:nvCxnSpPr>
          <p:spPr>
            <a:xfrm flipH="1" flipV="1">
              <a:off x="2538851" y="1279089"/>
              <a:ext cx="1266802" cy="972"/>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Овал 13"/>
            <p:cNvSpPr/>
            <p:nvPr/>
          </p:nvSpPr>
          <p:spPr>
            <a:xfrm>
              <a:off x="2464508" y="1227703"/>
              <a:ext cx="87098" cy="11335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sp>
          <p:nvSpPr>
            <p:cNvPr id="15" name="Прямоугольник 14"/>
            <p:cNvSpPr/>
            <p:nvPr/>
          </p:nvSpPr>
          <p:spPr>
            <a:xfrm>
              <a:off x="1582081" y="2351221"/>
              <a:ext cx="235131" cy="7847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16" name="Прямая соединительная линия 15"/>
            <p:cNvCxnSpPr/>
            <p:nvPr/>
          </p:nvCxnSpPr>
          <p:spPr>
            <a:xfrm>
              <a:off x="1820091" y="2394363"/>
              <a:ext cx="2769326" cy="12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p:nvPr/>
          </p:nvCxnSpPr>
          <p:spPr>
            <a:xfrm flipV="1">
              <a:off x="4589417" y="1828676"/>
              <a:ext cx="0" cy="565815"/>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Надпись 10"/>
            <p:cNvSpPr txBox="1"/>
            <p:nvPr/>
          </p:nvSpPr>
          <p:spPr>
            <a:xfrm>
              <a:off x="1397428" y="31933"/>
              <a:ext cx="808138" cy="447032"/>
            </a:xfrm>
            <a:prstGeom prst="rect">
              <a:avLst/>
            </a:prstGeom>
            <a:no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r>
                <a:rPr lang="ru-RU" sz="2200">
                  <a:effectLst/>
                  <a:ea typeface="Calibri" panose="020F0502020204030204" pitchFamily="34" charset="0"/>
                </a:rPr>
                <a:t>вода </a:t>
              </a:r>
              <a:endParaRPr lang="ru-RU" sz="1200">
                <a:effectLst/>
                <a:latin typeface="Times New Roman" panose="02020603050405020304" pitchFamily="18" charset="0"/>
                <a:ea typeface="Times New Roman" panose="02020603050405020304" pitchFamily="18" charset="0"/>
              </a:endParaRPr>
            </a:p>
          </p:txBody>
        </p:sp>
        <p:sp>
          <p:nvSpPr>
            <p:cNvPr id="19" name="Надпись 10"/>
            <p:cNvSpPr txBox="1"/>
            <p:nvPr/>
          </p:nvSpPr>
          <p:spPr>
            <a:xfrm>
              <a:off x="136451" y="31939"/>
              <a:ext cx="1640091" cy="446405"/>
            </a:xfrm>
            <a:prstGeom prst="rect">
              <a:avLst/>
            </a:prstGeom>
            <a:solidFill>
              <a:schemeClr val="lt1">
                <a:alpha val="0"/>
              </a:schemeClr>
            </a:solid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r>
                <a:rPr lang="ru-RU" sz="2200">
                  <a:effectLst/>
                  <a:ea typeface="Calibri" panose="020F0502020204030204" pitchFamily="34" charset="0"/>
                </a:rPr>
                <a:t>холодная </a:t>
              </a:r>
              <a:endParaRPr lang="ru-RU" sz="1200">
                <a:effectLst/>
                <a:latin typeface="Times New Roman" panose="02020603050405020304" pitchFamily="18" charset="0"/>
                <a:ea typeface="Times New Roman" panose="02020603050405020304" pitchFamily="18" charset="0"/>
              </a:endParaRPr>
            </a:p>
          </p:txBody>
        </p:sp>
        <p:sp>
          <p:nvSpPr>
            <p:cNvPr id="20" name="Надпись 10"/>
            <p:cNvSpPr txBox="1"/>
            <p:nvPr/>
          </p:nvSpPr>
          <p:spPr>
            <a:xfrm>
              <a:off x="2124903" y="23222"/>
              <a:ext cx="1639570" cy="445770"/>
            </a:xfrm>
            <a:prstGeom prst="rect">
              <a:avLst/>
            </a:prstGeom>
            <a:solidFill>
              <a:schemeClr val="lt1">
                <a:alpha val="0"/>
              </a:schemeClr>
            </a:solid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r>
                <a:rPr lang="ru-RU" sz="2200">
                  <a:effectLst/>
                  <a:ea typeface="Calibri" panose="020F0502020204030204" pitchFamily="34" charset="0"/>
                </a:rPr>
                <a:t>горячая </a:t>
              </a:r>
              <a:endParaRPr lang="ru-RU" sz="1200">
                <a:effectLst/>
                <a:latin typeface="Times New Roman" panose="02020603050405020304" pitchFamily="18" charset="0"/>
                <a:ea typeface="Times New Roman" panose="02020603050405020304" pitchFamily="18" charset="0"/>
              </a:endParaRPr>
            </a:p>
          </p:txBody>
        </p:sp>
        <p:sp>
          <p:nvSpPr>
            <p:cNvPr id="21" name="Надпись 10"/>
            <p:cNvSpPr txBox="1"/>
            <p:nvPr/>
          </p:nvSpPr>
          <p:spPr>
            <a:xfrm>
              <a:off x="3550216" y="2351228"/>
              <a:ext cx="1727177" cy="1036276"/>
            </a:xfrm>
            <a:prstGeom prst="rect">
              <a:avLst/>
            </a:prstGeom>
            <a:solidFill>
              <a:schemeClr val="lt1">
                <a:alpha val="0"/>
              </a:schemeClr>
            </a:solid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0"/>
                </a:spcAft>
              </a:pPr>
              <a:r>
                <a:rPr lang="ru-RU" sz="2200">
                  <a:effectLst/>
                  <a:ea typeface="Calibri" panose="020F0502020204030204" pitchFamily="34" charset="0"/>
                </a:rPr>
                <a:t>температура</a:t>
              </a:r>
              <a:endParaRPr lang="ru-RU" sz="1200">
                <a:effectLst/>
                <a:latin typeface="Times New Roman" panose="02020603050405020304" pitchFamily="18" charset="0"/>
                <a:ea typeface="Times New Roman" panose="02020603050405020304" pitchFamily="18" charset="0"/>
              </a:endParaRPr>
            </a:p>
            <a:p>
              <a:pPr algn="ctr">
                <a:spcAft>
                  <a:spcPts val="0"/>
                </a:spcAft>
              </a:pPr>
              <a:r>
                <a:rPr lang="ru-RU" sz="2200">
                  <a:effectLst/>
                  <a:ea typeface="Calibri" panose="020F0502020204030204" pitchFamily="34" charset="0"/>
                </a:rPr>
                <a:t>воды</a:t>
              </a:r>
              <a:endParaRPr lang="ru-RU" sz="1200">
                <a:effectLst/>
                <a:latin typeface="Times New Roman" panose="02020603050405020304" pitchFamily="18" charset="0"/>
                <a:ea typeface="Times New Roman" panose="02020603050405020304" pitchFamily="18" charset="0"/>
              </a:endParaRPr>
            </a:p>
          </p:txBody>
        </p:sp>
        <p:sp>
          <p:nvSpPr>
            <p:cNvPr id="22" name="Надпись 10"/>
            <p:cNvSpPr txBox="1"/>
            <p:nvPr/>
          </p:nvSpPr>
          <p:spPr>
            <a:xfrm>
              <a:off x="1060997" y="1227000"/>
              <a:ext cx="1438347" cy="445135"/>
            </a:xfrm>
            <a:prstGeom prst="rect">
              <a:avLst/>
            </a:prstGeom>
            <a:solidFill>
              <a:schemeClr val="lt1">
                <a:alpha val="0"/>
              </a:schemeClr>
            </a:solid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r>
                <a:rPr lang="ru-RU" sz="2200">
                  <a:effectLst/>
                  <a:latin typeface="Times New Roman" panose="02020603050405020304" pitchFamily="18" charset="0"/>
                  <a:ea typeface="Calibri" panose="020F0502020204030204" pitchFamily="34" charset="0"/>
                </a:rPr>
                <a:t>смеситель </a:t>
              </a:r>
              <a:endParaRPr lang="ru-RU" sz="1200">
                <a:effectLst/>
                <a:latin typeface="Times New Roman" panose="02020603050405020304" pitchFamily="18" charset="0"/>
                <a:ea typeface="Times New Roman" panose="02020603050405020304" pitchFamily="18" charset="0"/>
              </a:endParaRPr>
            </a:p>
          </p:txBody>
        </p:sp>
        <p:sp>
          <p:nvSpPr>
            <p:cNvPr id="23" name="Дуга 22"/>
            <p:cNvSpPr/>
            <p:nvPr/>
          </p:nvSpPr>
          <p:spPr>
            <a:xfrm rot="18731995">
              <a:off x="1317244" y="2838861"/>
              <a:ext cx="874657" cy="950364"/>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ru-RU"/>
            </a:p>
          </p:txBody>
        </p:sp>
        <p:cxnSp>
          <p:nvCxnSpPr>
            <p:cNvPr id="24" name="Прямая соединительная линия 23"/>
            <p:cNvCxnSpPr/>
            <p:nvPr/>
          </p:nvCxnSpPr>
          <p:spPr>
            <a:xfrm>
              <a:off x="1715583" y="2917371"/>
              <a:ext cx="0" cy="391886"/>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p:nvPr/>
          </p:nvCxnSpPr>
          <p:spPr>
            <a:xfrm>
              <a:off x="1837503" y="2928423"/>
              <a:ext cx="52252" cy="391779"/>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a:off x="1584954" y="2928695"/>
              <a:ext cx="0" cy="391373"/>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a:off x="1956542" y="2984039"/>
              <a:ext cx="52070" cy="324951"/>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p:cNvCxnSpPr/>
            <p:nvPr/>
          </p:nvCxnSpPr>
          <p:spPr>
            <a:xfrm flipH="1">
              <a:off x="1445619" y="2974853"/>
              <a:ext cx="49372" cy="336371"/>
            </a:xfrm>
            <a:prstGeom prst="line">
              <a:avLst/>
            </a:prstGeom>
            <a:ln w="15875">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29" name="Надпись 10"/>
            <p:cNvSpPr txBox="1"/>
            <p:nvPr/>
          </p:nvSpPr>
          <p:spPr>
            <a:xfrm>
              <a:off x="2626782" y="1308157"/>
              <a:ext cx="1480457" cy="1181900"/>
            </a:xfrm>
            <a:prstGeom prst="rect">
              <a:avLst/>
            </a:prstGeom>
            <a:solidFill>
              <a:schemeClr val="lt1">
                <a:alpha val="0"/>
              </a:schemeClr>
            </a:solidFill>
            <a:ln w="6350">
              <a:noFill/>
            </a:ln>
            <a:effectLst/>
            <a:scene3d>
              <a:camera prst="orthographicFront"/>
              <a:lightRig rig="threePt" dir="t"/>
            </a:scene3d>
            <a:sp3d>
              <a:bevelB/>
            </a:sp3d>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0"/>
                </a:spcAft>
              </a:pPr>
              <a:r>
                <a:rPr lang="ru-RU" sz="2200">
                  <a:effectLst/>
                  <a:ea typeface="Calibri" panose="020F0502020204030204" pitchFamily="34" charset="0"/>
                  <a:cs typeface="Times New Roman" panose="02020603050405020304" pitchFamily="18" charset="0"/>
                </a:rPr>
                <a:t>угол </a:t>
              </a:r>
              <a:endParaRPr lang="ru-RU" sz="1100">
                <a:effectLst/>
                <a:ea typeface="Calibri" panose="020F0502020204030204" pitchFamily="34" charset="0"/>
                <a:cs typeface="Times New Roman" panose="02020603050405020304" pitchFamily="18" charset="0"/>
              </a:endParaRPr>
            </a:p>
            <a:p>
              <a:pPr>
                <a:lnSpc>
                  <a:spcPct val="107000"/>
                </a:lnSpc>
                <a:spcAft>
                  <a:spcPts val="0"/>
                </a:spcAft>
              </a:pPr>
              <a:r>
                <a:rPr lang="ru-RU" sz="2200">
                  <a:effectLst/>
                  <a:ea typeface="Calibri" panose="020F0502020204030204" pitchFamily="34" charset="0"/>
                  <a:cs typeface="Times New Roman" panose="02020603050405020304" pitchFamily="18" charset="0"/>
                </a:rPr>
                <a:t>поворота </a:t>
              </a:r>
              <a:endParaRPr lang="ru-RU" sz="1100">
                <a:effectLst/>
                <a:ea typeface="Calibri" panose="020F0502020204030204" pitchFamily="34" charset="0"/>
                <a:cs typeface="Times New Roman" panose="02020603050405020304" pitchFamily="18" charset="0"/>
              </a:endParaRPr>
            </a:p>
            <a:p>
              <a:pPr>
                <a:lnSpc>
                  <a:spcPct val="107000"/>
                </a:lnSpc>
                <a:spcAft>
                  <a:spcPts val="0"/>
                </a:spcAft>
              </a:pPr>
              <a:r>
                <a:rPr lang="ru-RU" sz="2200">
                  <a:effectLst/>
                  <a:ea typeface="Calibri" panose="020F0502020204030204" pitchFamily="34" charset="0"/>
                  <a:cs typeface="Times New Roman" panose="02020603050405020304" pitchFamily="18" charset="0"/>
                </a:rPr>
                <a:t>вентиля</a:t>
              </a:r>
              <a:endParaRPr lang="ru-RU" sz="1100">
                <a:effectLst/>
                <a:ea typeface="Calibri" panose="020F0502020204030204" pitchFamily="34" charset="0"/>
                <a:cs typeface="Times New Roman" panose="02020603050405020304" pitchFamily="18" charset="0"/>
              </a:endParaRPr>
            </a:p>
          </p:txBody>
        </p:sp>
        <p:pic>
          <p:nvPicPr>
            <p:cNvPr id="30" name="Рисунок 29"/>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8612" t="2412"/>
            <a:stretch/>
          </p:blipFill>
          <p:spPr>
            <a:xfrm>
              <a:off x="1190169" y="3405232"/>
              <a:ext cx="1469494" cy="1641747"/>
            </a:xfrm>
            <a:prstGeom prst="rect">
              <a:avLst/>
            </a:prstGeom>
          </p:spPr>
        </p:pic>
      </p:grpSp>
      <p:sp>
        <p:nvSpPr>
          <p:cNvPr id="31" name="TextBox 30"/>
          <p:cNvSpPr txBox="1"/>
          <p:nvPr/>
        </p:nvSpPr>
        <p:spPr>
          <a:xfrm>
            <a:off x="856343" y="5617029"/>
            <a:ext cx="7692571" cy="954107"/>
          </a:xfrm>
          <a:prstGeom prst="rect">
            <a:avLst/>
          </a:prstGeom>
          <a:noFill/>
        </p:spPr>
        <p:txBody>
          <a:bodyPr wrap="square" rtlCol="0">
            <a:spAutoFit/>
          </a:bodyPr>
          <a:lstStyle/>
          <a:p>
            <a:pPr algn="ctr"/>
            <a:r>
              <a:rPr lang="ru-RU" sz="2800" dirty="0"/>
              <a:t>Модель нечеткого управления смесителем воды при принятии душа</a:t>
            </a:r>
          </a:p>
        </p:txBody>
      </p:sp>
    </p:spTree>
    <p:extLst>
      <p:ext uri="{BB962C8B-B14F-4D97-AF65-F5344CB8AC3E}">
        <p14:creationId xmlns:p14="http://schemas.microsoft.com/office/powerpoint/2010/main" val="3856844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0" y="0"/>
            <a:ext cx="9144000" cy="1815882"/>
          </a:xfrm>
          <a:prstGeom prst="rect">
            <a:avLst/>
          </a:prstGeom>
          <a:noFill/>
        </p:spPr>
        <p:txBody>
          <a:bodyPr wrap="square" rtlCol="0">
            <a:spAutoFit/>
          </a:bodyPr>
          <a:lstStyle/>
          <a:p>
            <a:r>
              <a:rPr lang="ru-RU" sz="2800" dirty="0"/>
              <a:t>Опыт принятия душа позволяет сформулировать нес-</a:t>
            </a:r>
            <a:r>
              <a:rPr lang="ru-RU" sz="2800" dirty="0" err="1"/>
              <a:t>колько</a:t>
            </a:r>
            <a:r>
              <a:rPr lang="ru-RU" sz="2800" dirty="0"/>
              <a:t> эвристических правил, которые мы применяем в случае регулирования температуры воды на выходе смесителя:</a:t>
            </a:r>
          </a:p>
        </p:txBody>
      </p:sp>
      <p:sp>
        <p:nvSpPr>
          <p:cNvPr id="33" name="TextBox 32"/>
          <p:cNvSpPr txBox="1"/>
          <p:nvPr/>
        </p:nvSpPr>
        <p:spPr>
          <a:xfrm>
            <a:off x="0" y="1656225"/>
            <a:ext cx="9144000" cy="954107"/>
          </a:xfrm>
          <a:prstGeom prst="rect">
            <a:avLst/>
          </a:prstGeom>
          <a:noFill/>
        </p:spPr>
        <p:txBody>
          <a:bodyPr wrap="square" rtlCol="0">
            <a:spAutoFit/>
          </a:bodyPr>
          <a:lstStyle/>
          <a:p>
            <a:r>
              <a:rPr lang="ru-RU" sz="2800" dirty="0"/>
              <a:t>1. Если вода горячая, то следует повернуть вентиль крана горячей воды на большой угол вправо.</a:t>
            </a:r>
          </a:p>
        </p:txBody>
      </p:sp>
      <p:sp>
        <p:nvSpPr>
          <p:cNvPr id="34" name="TextBox 33"/>
          <p:cNvSpPr txBox="1"/>
          <p:nvPr/>
        </p:nvSpPr>
        <p:spPr>
          <a:xfrm>
            <a:off x="0" y="2518000"/>
            <a:ext cx="8955314" cy="954107"/>
          </a:xfrm>
          <a:prstGeom prst="rect">
            <a:avLst/>
          </a:prstGeom>
          <a:noFill/>
        </p:spPr>
        <p:txBody>
          <a:bodyPr wrap="square" rtlCol="0">
            <a:spAutoFit/>
          </a:bodyPr>
          <a:lstStyle/>
          <a:p>
            <a:r>
              <a:rPr lang="ru-RU" sz="2800" dirty="0"/>
              <a:t>2. Если вода не очень горячая, то следует повернуть вентиль крана горячей воды на небольшой угол вправо. </a:t>
            </a:r>
          </a:p>
        </p:txBody>
      </p:sp>
      <p:sp>
        <p:nvSpPr>
          <p:cNvPr id="35" name="TextBox 34"/>
          <p:cNvSpPr txBox="1"/>
          <p:nvPr/>
        </p:nvSpPr>
        <p:spPr>
          <a:xfrm>
            <a:off x="0" y="3417182"/>
            <a:ext cx="9144000" cy="954107"/>
          </a:xfrm>
          <a:prstGeom prst="rect">
            <a:avLst/>
          </a:prstGeom>
          <a:noFill/>
        </p:spPr>
        <p:txBody>
          <a:bodyPr wrap="square" rtlCol="0">
            <a:spAutoFit/>
          </a:bodyPr>
          <a:lstStyle/>
          <a:p>
            <a:r>
              <a:rPr lang="ru-RU" sz="2800" dirty="0"/>
              <a:t>3. Если вода теплая, то оставить вентиль крана горячей воды без воздействия.</a:t>
            </a:r>
          </a:p>
        </p:txBody>
      </p:sp>
      <p:sp>
        <p:nvSpPr>
          <p:cNvPr id="36" name="TextBox 35"/>
          <p:cNvSpPr txBox="1"/>
          <p:nvPr/>
        </p:nvSpPr>
        <p:spPr>
          <a:xfrm>
            <a:off x="0" y="4281446"/>
            <a:ext cx="9144000" cy="954107"/>
          </a:xfrm>
          <a:prstGeom prst="rect">
            <a:avLst/>
          </a:prstGeom>
          <a:noFill/>
        </p:spPr>
        <p:txBody>
          <a:bodyPr wrap="square" rtlCol="0">
            <a:spAutoFit/>
          </a:bodyPr>
          <a:lstStyle/>
          <a:p>
            <a:r>
              <a:rPr lang="ru-RU" sz="2800" dirty="0"/>
              <a:t>4. Если вода прохладная, то следует повернуть вентиль крана горячей воды на небольшой угол влево.</a:t>
            </a:r>
          </a:p>
        </p:txBody>
      </p:sp>
      <p:sp>
        <p:nvSpPr>
          <p:cNvPr id="37" name="TextBox 36"/>
          <p:cNvSpPr txBox="1"/>
          <p:nvPr/>
        </p:nvSpPr>
        <p:spPr>
          <a:xfrm>
            <a:off x="0" y="5101195"/>
            <a:ext cx="9144000" cy="954107"/>
          </a:xfrm>
          <a:prstGeom prst="rect">
            <a:avLst/>
          </a:prstGeom>
          <a:noFill/>
        </p:spPr>
        <p:txBody>
          <a:bodyPr wrap="square" rtlCol="0">
            <a:spAutoFit/>
          </a:bodyPr>
          <a:lstStyle/>
          <a:p>
            <a:r>
              <a:rPr lang="ru-RU" sz="2800" dirty="0"/>
              <a:t>5. Если вода холодная, то следует повернуть вентиль крана горячей воды на большой угол влево.</a:t>
            </a:r>
          </a:p>
        </p:txBody>
      </p:sp>
    </p:spTree>
    <p:extLst>
      <p:ext uri="{BB962C8B-B14F-4D97-AF65-F5344CB8AC3E}">
        <p14:creationId xmlns:p14="http://schemas.microsoft.com/office/powerpoint/2010/main" val="36658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1000"/>
                                        <p:tgtEl>
                                          <p:spTgt spid="34"/>
                                        </p:tgtEl>
                                      </p:cBhvr>
                                    </p:animEffect>
                                    <p:anim calcmode="lin" valueType="num">
                                      <p:cBhvr>
                                        <p:cTn id="15" dur="1000" fill="hold"/>
                                        <p:tgtEl>
                                          <p:spTgt spid="34"/>
                                        </p:tgtEl>
                                        <p:attrNameLst>
                                          <p:attrName>ppt_x</p:attrName>
                                        </p:attrNameLst>
                                      </p:cBhvr>
                                      <p:tavLst>
                                        <p:tav tm="0">
                                          <p:val>
                                            <p:strVal val="#ppt_x"/>
                                          </p:val>
                                        </p:tav>
                                        <p:tav tm="100000">
                                          <p:val>
                                            <p:strVal val="#ppt_x"/>
                                          </p:val>
                                        </p:tav>
                                      </p:tavLst>
                                    </p:anim>
                                    <p:anim calcmode="lin" valueType="num">
                                      <p:cBhvr>
                                        <p:cTn id="1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1000"/>
                                        <p:tgtEl>
                                          <p:spTgt spid="35"/>
                                        </p:tgtEl>
                                      </p:cBhvr>
                                    </p:animEffect>
                                    <p:anim calcmode="lin" valueType="num">
                                      <p:cBhvr>
                                        <p:cTn id="22" dur="1000" fill="hold"/>
                                        <p:tgtEl>
                                          <p:spTgt spid="35"/>
                                        </p:tgtEl>
                                        <p:attrNameLst>
                                          <p:attrName>ppt_x</p:attrName>
                                        </p:attrNameLst>
                                      </p:cBhvr>
                                      <p:tavLst>
                                        <p:tav tm="0">
                                          <p:val>
                                            <p:strVal val="#ppt_x"/>
                                          </p:val>
                                        </p:tav>
                                        <p:tav tm="100000">
                                          <p:val>
                                            <p:strVal val="#ppt_x"/>
                                          </p:val>
                                        </p:tav>
                                      </p:tavLst>
                                    </p:anim>
                                    <p:anim calcmode="lin" valueType="num">
                                      <p:cBhvr>
                                        <p:cTn id="2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1000"/>
                                        <p:tgtEl>
                                          <p:spTgt spid="36"/>
                                        </p:tgtEl>
                                      </p:cBhvr>
                                    </p:animEffect>
                                    <p:anim calcmode="lin" valueType="num">
                                      <p:cBhvr>
                                        <p:cTn id="29" dur="1000" fill="hold"/>
                                        <p:tgtEl>
                                          <p:spTgt spid="36"/>
                                        </p:tgtEl>
                                        <p:attrNameLst>
                                          <p:attrName>ppt_x</p:attrName>
                                        </p:attrNameLst>
                                      </p:cBhvr>
                                      <p:tavLst>
                                        <p:tav tm="0">
                                          <p:val>
                                            <p:strVal val="#ppt_x"/>
                                          </p:val>
                                        </p:tav>
                                        <p:tav tm="100000">
                                          <p:val>
                                            <p:strVal val="#ppt_x"/>
                                          </p:val>
                                        </p:tav>
                                      </p:tavLst>
                                    </p:anim>
                                    <p:anim calcmode="lin" valueType="num">
                                      <p:cBhvr>
                                        <p:cTn id="3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1000"/>
                                        <p:tgtEl>
                                          <p:spTgt spid="37"/>
                                        </p:tgtEl>
                                      </p:cBhvr>
                                    </p:animEffect>
                                    <p:anim calcmode="lin" valueType="num">
                                      <p:cBhvr>
                                        <p:cTn id="36" dur="1000" fill="hold"/>
                                        <p:tgtEl>
                                          <p:spTgt spid="37"/>
                                        </p:tgtEl>
                                        <p:attrNameLst>
                                          <p:attrName>ppt_x</p:attrName>
                                        </p:attrNameLst>
                                      </p:cBhvr>
                                      <p:tavLst>
                                        <p:tav tm="0">
                                          <p:val>
                                            <p:strVal val="#ppt_x"/>
                                          </p:val>
                                        </p:tav>
                                        <p:tav tm="100000">
                                          <p:val>
                                            <p:strVal val="#ppt_x"/>
                                          </p:val>
                                        </p:tav>
                                      </p:tavLst>
                                    </p:anim>
                                    <p:anim calcmode="lin" valueType="num">
                                      <p:cBhvr>
                                        <p:cTn id="37"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9144000" cy="1815882"/>
          </a:xfrm>
          <a:prstGeom prst="rect">
            <a:avLst/>
          </a:prstGeom>
          <a:noFill/>
        </p:spPr>
        <p:txBody>
          <a:bodyPr wrap="square" rtlCol="0">
            <a:spAutoFit/>
          </a:bodyPr>
          <a:lstStyle/>
          <a:p>
            <a:r>
              <a:rPr lang="ru-RU" sz="2800" dirty="0"/>
              <a:t>Эта информация будет использоваться при построении базы правил системы нечеткого вывода, которая позволяет реализовать данную модель нечеткого управления.</a:t>
            </a:r>
          </a:p>
        </p:txBody>
      </p:sp>
      <p:sp>
        <p:nvSpPr>
          <p:cNvPr id="4" name="TextBox 3"/>
          <p:cNvSpPr txBox="1"/>
          <p:nvPr/>
        </p:nvSpPr>
        <p:spPr>
          <a:xfrm>
            <a:off x="0" y="1759422"/>
            <a:ext cx="9144000" cy="523220"/>
          </a:xfrm>
          <a:prstGeom prst="rect">
            <a:avLst/>
          </a:prstGeom>
          <a:noFill/>
        </p:spPr>
        <p:txBody>
          <a:bodyPr wrap="square" rtlCol="0">
            <a:spAutoFit/>
          </a:bodyPr>
          <a:lstStyle/>
          <a:p>
            <a:r>
              <a:rPr lang="ru-RU" sz="2800" b="1" dirty="0">
                <a:solidFill>
                  <a:srgbClr val="FF0000"/>
                </a:solidFill>
              </a:rPr>
              <a:t>Построение базы нечетких лингвистических правил</a:t>
            </a:r>
          </a:p>
        </p:txBody>
      </p:sp>
      <p:sp>
        <p:nvSpPr>
          <p:cNvPr id="5" name="TextBox 4"/>
          <p:cNvSpPr txBox="1"/>
          <p:nvPr/>
        </p:nvSpPr>
        <p:spPr>
          <a:xfrm>
            <a:off x="0" y="2282642"/>
            <a:ext cx="9144000" cy="3970318"/>
          </a:xfrm>
          <a:prstGeom prst="rect">
            <a:avLst/>
          </a:prstGeom>
          <a:noFill/>
        </p:spPr>
        <p:txBody>
          <a:bodyPr wrap="square" rtlCol="0">
            <a:spAutoFit/>
          </a:bodyPr>
          <a:lstStyle/>
          <a:p>
            <a:r>
              <a:rPr lang="ru-RU" sz="2800" dirty="0"/>
              <a:t>Для формирования базы правил систем нечеткого вывода необходимо предварительно определить входные и вы-</a:t>
            </a:r>
            <a:r>
              <a:rPr lang="ru-RU" sz="2800" dirty="0" err="1"/>
              <a:t>ходные</a:t>
            </a:r>
            <a:r>
              <a:rPr lang="ru-RU" sz="2800" dirty="0"/>
              <a:t> лингвистические переменные. Очевидно, в </a:t>
            </a:r>
            <a:r>
              <a:rPr lang="ru-RU" sz="2800" dirty="0" err="1"/>
              <a:t>качес-тве</a:t>
            </a:r>
            <a:r>
              <a:rPr lang="ru-RU" sz="2800" dirty="0"/>
              <a:t> входной лингвистической переменной следует </a:t>
            </a:r>
            <a:r>
              <a:rPr lang="ru-RU" sz="2800" dirty="0" err="1"/>
              <a:t>исполь-зовать</a:t>
            </a:r>
            <a:r>
              <a:rPr lang="ru-RU" sz="2800" dirty="0"/>
              <a:t> температуру воды на выходе смесителя или фор-</a:t>
            </a:r>
            <a:r>
              <a:rPr lang="ru-RU" sz="2800" dirty="0" err="1"/>
              <a:t>мально</a:t>
            </a:r>
            <a:r>
              <a:rPr lang="ru-RU" sz="2800" dirty="0"/>
              <a:t>: β1 — "температура воды". В качестве выходной лингвистической переменной будем использовать угол поворота вентиля крана горячей воды или формально: β2 — "угол поворота".</a:t>
            </a:r>
          </a:p>
        </p:txBody>
      </p:sp>
    </p:spTree>
    <p:extLst>
      <p:ext uri="{BB962C8B-B14F-4D97-AF65-F5344CB8AC3E}">
        <p14:creationId xmlns:p14="http://schemas.microsoft.com/office/powerpoint/2010/main" val="87889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954107"/>
          </a:xfrm>
          <a:prstGeom prst="rect">
            <a:avLst/>
          </a:prstGeom>
          <a:noFill/>
        </p:spPr>
        <p:txBody>
          <a:bodyPr wrap="square" rtlCol="0">
            <a:spAutoFit/>
          </a:bodyPr>
          <a:lstStyle/>
          <a:p>
            <a:r>
              <a:rPr lang="ru-RU" sz="2800" dirty="0"/>
              <a:t>В этом случае система нечеткого вывода будет содержать 5 правил нечетких продукций следующего вида:</a:t>
            </a:r>
          </a:p>
        </p:txBody>
      </p:sp>
      <p:sp>
        <p:nvSpPr>
          <p:cNvPr id="3" name="TextBox 2"/>
          <p:cNvSpPr txBox="1"/>
          <p:nvPr/>
        </p:nvSpPr>
        <p:spPr>
          <a:xfrm>
            <a:off x="0" y="837993"/>
            <a:ext cx="9144000" cy="954107"/>
          </a:xfrm>
          <a:prstGeom prst="rect">
            <a:avLst/>
          </a:prstGeom>
          <a:noFill/>
        </p:spPr>
        <p:txBody>
          <a:bodyPr wrap="square" rtlCol="0">
            <a:spAutoFit/>
          </a:bodyPr>
          <a:lstStyle/>
          <a:p>
            <a:r>
              <a:rPr lang="ru-RU" sz="2800" dirty="0"/>
              <a:t>ПРАВИЛО_1: ЕСЛИ "вода горячая" ТО "повернуть вентиль крана горячей воды на большой угол вправо"</a:t>
            </a:r>
          </a:p>
        </p:txBody>
      </p:sp>
      <p:sp>
        <p:nvSpPr>
          <p:cNvPr id="4" name="TextBox 3"/>
          <p:cNvSpPr txBox="1"/>
          <p:nvPr/>
        </p:nvSpPr>
        <p:spPr>
          <a:xfrm>
            <a:off x="0" y="1792100"/>
            <a:ext cx="9042400" cy="954107"/>
          </a:xfrm>
          <a:prstGeom prst="rect">
            <a:avLst/>
          </a:prstGeom>
          <a:noFill/>
        </p:spPr>
        <p:txBody>
          <a:bodyPr wrap="square" rtlCol="0">
            <a:spAutoFit/>
          </a:bodyPr>
          <a:lstStyle/>
          <a:p>
            <a:r>
              <a:rPr lang="ru-RU" sz="2800" dirty="0"/>
              <a:t>ПРАВИЛО_2: ЕСЛИ "вода не очень горячая" ТО "повернуть вентиль крана горячей воды на небольшой угол вправо"</a:t>
            </a:r>
          </a:p>
        </p:txBody>
      </p:sp>
      <p:sp>
        <p:nvSpPr>
          <p:cNvPr id="6" name="TextBox 5"/>
          <p:cNvSpPr txBox="1"/>
          <p:nvPr/>
        </p:nvSpPr>
        <p:spPr>
          <a:xfrm>
            <a:off x="0" y="2746207"/>
            <a:ext cx="9042400" cy="954107"/>
          </a:xfrm>
          <a:prstGeom prst="rect">
            <a:avLst/>
          </a:prstGeom>
          <a:noFill/>
        </p:spPr>
        <p:txBody>
          <a:bodyPr wrap="square" rtlCol="0">
            <a:spAutoFit/>
          </a:bodyPr>
          <a:lstStyle/>
          <a:p>
            <a:r>
              <a:rPr lang="ru-RU" sz="2800" dirty="0"/>
              <a:t>ПРАВИЛО_3: ЕСЛИ "вода теплая" ТО "оставить угол поворота крана горячей воды без изменения"</a:t>
            </a:r>
          </a:p>
        </p:txBody>
      </p:sp>
      <p:sp>
        <p:nvSpPr>
          <p:cNvPr id="7" name="TextBox 6"/>
          <p:cNvSpPr txBox="1"/>
          <p:nvPr/>
        </p:nvSpPr>
        <p:spPr>
          <a:xfrm>
            <a:off x="50800" y="3700314"/>
            <a:ext cx="9042400" cy="954107"/>
          </a:xfrm>
          <a:prstGeom prst="rect">
            <a:avLst/>
          </a:prstGeom>
          <a:noFill/>
        </p:spPr>
        <p:txBody>
          <a:bodyPr wrap="square" rtlCol="0">
            <a:spAutoFit/>
          </a:bodyPr>
          <a:lstStyle/>
          <a:p>
            <a:r>
              <a:rPr lang="ru-RU" sz="2800" dirty="0"/>
              <a:t>ПРАВИЛО_4: ЕСЛИ "вода прохладная" ТО "повернуть вентиль крана горячей воды на небольшой угол влево"</a:t>
            </a:r>
          </a:p>
        </p:txBody>
      </p:sp>
      <p:sp>
        <p:nvSpPr>
          <p:cNvPr id="8" name="TextBox 7"/>
          <p:cNvSpPr txBox="1"/>
          <p:nvPr/>
        </p:nvSpPr>
        <p:spPr>
          <a:xfrm>
            <a:off x="50800" y="4654421"/>
            <a:ext cx="9042400" cy="954107"/>
          </a:xfrm>
          <a:prstGeom prst="rect">
            <a:avLst/>
          </a:prstGeom>
          <a:noFill/>
        </p:spPr>
        <p:txBody>
          <a:bodyPr wrap="square" rtlCol="0">
            <a:spAutoFit/>
          </a:bodyPr>
          <a:lstStyle/>
          <a:p>
            <a:r>
              <a:rPr lang="ru-RU" sz="2800" dirty="0"/>
              <a:t>ПРАВИЛО_5: ЕСЛИ "вода холодная" ТО "повернуть вентиль крана горячей воды на большой угол влево"</a:t>
            </a:r>
          </a:p>
        </p:txBody>
      </p:sp>
    </p:spTree>
    <p:extLst>
      <p:ext uri="{BB962C8B-B14F-4D97-AF65-F5344CB8AC3E}">
        <p14:creationId xmlns:p14="http://schemas.microsoft.com/office/powerpoint/2010/main" val="376743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2677656"/>
          </a:xfrm>
          <a:prstGeom prst="rect">
            <a:avLst/>
          </a:prstGeom>
        </p:spPr>
        <p:txBody>
          <a:bodyPr wrap="square">
            <a:spAutoFit/>
          </a:bodyPr>
          <a:lstStyle/>
          <a:p>
            <a:pPr algn="ctr"/>
            <a:r>
              <a:rPr lang="ru-RU" sz="2800" b="1" dirty="0" err="1"/>
              <a:t>Фаззификация</a:t>
            </a:r>
            <a:r>
              <a:rPr lang="ru-RU" sz="2800" b="1" dirty="0"/>
              <a:t> входных переменных</a:t>
            </a:r>
          </a:p>
          <a:p>
            <a:r>
              <a:rPr lang="ru-RU" sz="2800" b="1" dirty="0"/>
              <a:t> </a:t>
            </a:r>
            <a:r>
              <a:rPr lang="ru-RU" sz="2800" dirty="0"/>
              <a:t>В качестве терм-множества первой лингвистической переменной будем использовать множество Т1={"горячая", "не очень горячая", "теплая", "прохладная", "холодная") с функциями принадлежности, изображенными на рисунке</a:t>
            </a:r>
          </a:p>
        </p:txBody>
      </p:sp>
      <p:pic>
        <p:nvPicPr>
          <p:cNvPr id="3" name="Рисунок 2"/>
          <p:cNvPicPr>
            <a:picLocks noChangeAspect="1"/>
          </p:cNvPicPr>
          <p:nvPr/>
        </p:nvPicPr>
        <p:blipFill rotWithShape="1">
          <a:blip r:embed="rId2" cstate="print"/>
          <a:srcRect l="6919" t="21094" r="55770" b="23995"/>
          <a:stretch/>
        </p:blipFill>
        <p:spPr>
          <a:xfrm>
            <a:off x="986972" y="2669811"/>
            <a:ext cx="7559171" cy="4188189"/>
          </a:xfrm>
          <a:prstGeom prst="rect">
            <a:avLst/>
          </a:prstGeom>
        </p:spPr>
      </p:pic>
    </p:spTree>
    <p:extLst>
      <p:ext uri="{BB962C8B-B14F-4D97-AF65-F5344CB8AC3E}">
        <p14:creationId xmlns:p14="http://schemas.microsoft.com/office/powerpoint/2010/main" val="428800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cstate="print"/>
          <a:srcRect l="6610" t="19010" r="54385" b="21763"/>
          <a:stretch/>
        </p:blipFill>
        <p:spPr>
          <a:xfrm>
            <a:off x="905959" y="2629985"/>
            <a:ext cx="7396211" cy="4228015"/>
          </a:xfrm>
          <a:prstGeom prst="rect">
            <a:avLst/>
          </a:prstGeom>
        </p:spPr>
      </p:pic>
      <p:sp>
        <p:nvSpPr>
          <p:cNvPr id="3" name="TextBox 2"/>
          <p:cNvSpPr txBox="1"/>
          <p:nvPr/>
        </p:nvSpPr>
        <p:spPr>
          <a:xfrm>
            <a:off x="0" y="0"/>
            <a:ext cx="9144000" cy="2677656"/>
          </a:xfrm>
          <a:prstGeom prst="rect">
            <a:avLst/>
          </a:prstGeom>
          <a:noFill/>
        </p:spPr>
        <p:txBody>
          <a:bodyPr wrap="square" rtlCol="0">
            <a:spAutoFit/>
          </a:bodyPr>
          <a:lstStyle/>
          <a:p>
            <a:r>
              <a:rPr lang="ru-RU" sz="2800" dirty="0"/>
              <a:t>В качестве терм-множества второй лингвистической переменной будем использовать множество Т2={"большой угол вправо", "небольшой угол вправо", "нуль", "небольшой угол влево", "большой угол влево"} с кусочно-линейными функциями принадлежности, </a:t>
            </a:r>
            <a:r>
              <a:rPr lang="ru-RU" sz="2800" dirty="0" err="1"/>
              <a:t>изобра</a:t>
            </a:r>
            <a:r>
              <a:rPr lang="ru-RU" sz="2800" dirty="0"/>
              <a:t>- </a:t>
            </a:r>
            <a:r>
              <a:rPr lang="ru-RU" sz="2800" dirty="0" err="1"/>
              <a:t>женными</a:t>
            </a:r>
            <a:r>
              <a:rPr lang="ru-RU" sz="2800" dirty="0"/>
              <a:t> на рисунке</a:t>
            </a:r>
          </a:p>
        </p:txBody>
      </p:sp>
    </p:spTree>
    <p:extLst>
      <p:ext uri="{BB962C8B-B14F-4D97-AF65-F5344CB8AC3E}">
        <p14:creationId xmlns:p14="http://schemas.microsoft.com/office/powerpoint/2010/main" val="180796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815882"/>
          </a:xfrm>
          <a:prstGeom prst="rect">
            <a:avLst/>
          </a:prstGeom>
          <a:noFill/>
        </p:spPr>
        <p:txBody>
          <a:bodyPr wrap="square" rtlCol="0">
            <a:spAutoFit/>
          </a:bodyPr>
          <a:lstStyle/>
          <a:p>
            <a:r>
              <a:rPr lang="ru-RU" sz="2800" dirty="0"/>
              <a:t>При этом температура воды измеряется в градусах Цель-сия, а угол поворота — в угловых градусах. В последнем случае поворот вправо означает положительное </a:t>
            </a:r>
            <a:r>
              <a:rPr lang="ru-RU" sz="2800" dirty="0" err="1"/>
              <a:t>направ-ление</a:t>
            </a:r>
            <a:r>
              <a:rPr lang="ru-RU" sz="2800" dirty="0"/>
              <a:t> отсчета, а поворот влево — отрицательное.</a:t>
            </a:r>
          </a:p>
        </p:txBody>
      </p:sp>
      <p:sp>
        <p:nvSpPr>
          <p:cNvPr id="3" name="TextBox 2"/>
          <p:cNvSpPr txBox="1"/>
          <p:nvPr/>
        </p:nvSpPr>
        <p:spPr>
          <a:xfrm>
            <a:off x="0" y="1715878"/>
            <a:ext cx="9144000" cy="3539430"/>
          </a:xfrm>
          <a:prstGeom prst="rect">
            <a:avLst/>
          </a:prstGeom>
          <a:noFill/>
        </p:spPr>
        <p:txBody>
          <a:bodyPr wrap="square" rtlCol="0">
            <a:spAutoFit/>
          </a:bodyPr>
          <a:lstStyle/>
          <a:p>
            <a:r>
              <a:rPr lang="ru-RU" sz="2800" dirty="0"/>
              <a:t>Используя в качестве алгоритма вывода алгоритм Мам-дани, рассмотрим пример его выполнения для случая, когда текущая температура воды на выходе смесителя равна 55 °С. В этом случае </a:t>
            </a:r>
            <a:r>
              <a:rPr lang="ru-RU" sz="2800" dirty="0" err="1"/>
              <a:t>фаззификация</a:t>
            </a:r>
            <a:r>
              <a:rPr lang="ru-RU" sz="2800" dirty="0"/>
              <a:t> входной </a:t>
            </a:r>
            <a:r>
              <a:rPr lang="ru-RU" sz="2800" dirty="0" err="1"/>
              <a:t>линг-вистической</a:t>
            </a:r>
            <a:r>
              <a:rPr lang="ru-RU" sz="2800" dirty="0"/>
              <a:t> переменной приводит к значениям </a:t>
            </a:r>
            <a:r>
              <a:rPr lang="ru-RU" sz="2800" dirty="0" err="1"/>
              <a:t>сте</a:t>
            </a:r>
            <a:r>
              <a:rPr lang="ru-RU" sz="2800" dirty="0"/>
              <a:t>- пеней истинности 0.5 для правил нечетких продукций с номерами 2 и 3. Эти правила считаются активными и используются в текущем процессе нечеткого вывода.</a:t>
            </a:r>
          </a:p>
        </p:txBody>
      </p:sp>
      <p:sp>
        <p:nvSpPr>
          <p:cNvPr id="4" name="TextBox 3"/>
          <p:cNvSpPr txBox="1"/>
          <p:nvPr/>
        </p:nvSpPr>
        <p:spPr>
          <a:xfrm>
            <a:off x="0" y="5155304"/>
            <a:ext cx="9144000" cy="1815882"/>
          </a:xfrm>
          <a:prstGeom prst="rect">
            <a:avLst/>
          </a:prstGeom>
          <a:noFill/>
        </p:spPr>
        <p:txBody>
          <a:bodyPr wrap="square" rtlCol="0">
            <a:spAutoFit/>
          </a:bodyPr>
          <a:lstStyle/>
          <a:p>
            <a:r>
              <a:rPr lang="ru-RU" sz="2800" dirty="0"/>
              <a:t>Все условия в правилах 1—5 заданы в форме нечетких лингвистических высказываний, поэтому этап их агрегирования тривиален и оставляет степени истинности 0.5 без изменения.</a:t>
            </a:r>
          </a:p>
        </p:txBody>
      </p:sp>
    </p:spTree>
    <p:extLst>
      <p:ext uri="{BB962C8B-B14F-4D97-AF65-F5344CB8AC3E}">
        <p14:creationId xmlns:p14="http://schemas.microsoft.com/office/powerpoint/2010/main" val="338108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3108543"/>
          </a:xfrm>
          <a:prstGeom prst="rect">
            <a:avLst/>
          </a:prstGeom>
          <a:noFill/>
        </p:spPr>
        <p:txBody>
          <a:bodyPr wrap="square" rtlCol="0">
            <a:spAutoFit/>
          </a:bodyPr>
          <a:lstStyle/>
          <a:p>
            <a:r>
              <a:rPr lang="ru-RU" sz="2800" dirty="0"/>
              <a:t>Следующим этапом нечеткого вывода является </a:t>
            </a:r>
            <a:r>
              <a:rPr lang="ru-RU" sz="2800" dirty="0" err="1"/>
              <a:t>активиза-ция</a:t>
            </a:r>
            <a:r>
              <a:rPr lang="ru-RU" sz="2800" dirty="0"/>
              <a:t> заключений в нечетких правилах продукций. Все заключения правил 1—5 заданы в форме нечетких </a:t>
            </a:r>
            <a:r>
              <a:rPr lang="ru-RU" sz="2800" dirty="0" err="1"/>
              <a:t>лин</a:t>
            </a:r>
            <a:r>
              <a:rPr lang="ru-RU" sz="2800" dirty="0"/>
              <a:t>- </a:t>
            </a:r>
            <a:r>
              <a:rPr lang="ru-RU" sz="2800" dirty="0" err="1"/>
              <a:t>гвистических</a:t>
            </a:r>
            <a:r>
              <a:rPr lang="ru-RU" sz="2800" dirty="0"/>
              <a:t> высказываний, а весовые коэффициенты правил по умолчанию равны 1, то активизация правил 2 и 3 приводит к нечетким множествам, функции </a:t>
            </a:r>
            <a:r>
              <a:rPr lang="ru-RU" sz="2800" dirty="0" err="1"/>
              <a:t>принад</a:t>
            </a:r>
            <a:r>
              <a:rPr lang="ru-RU" sz="2800" dirty="0"/>
              <a:t>- </a:t>
            </a:r>
            <a:r>
              <a:rPr lang="ru-RU" sz="2800" dirty="0" err="1"/>
              <a:t>лежности</a:t>
            </a:r>
            <a:r>
              <a:rPr lang="ru-RU" sz="2800" dirty="0"/>
              <a:t> которых изображены на рисунке</a:t>
            </a:r>
          </a:p>
        </p:txBody>
      </p:sp>
      <p:pic>
        <p:nvPicPr>
          <p:cNvPr id="3" name="Рисунок 2"/>
          <p:cNvPicPr>
            <a:picLocks noChangeAspect="1"/>
          </p:cNvPicPr>
          <p:nvPr/>
        </p:nvPicPr>
        <p:blipFill rotWithShape="1">
          <a:blip r:embed="rId2" cstate="print"/>
          <a:srcRect l="2774" t="14546" r="48823" b="19680"/>
          <a:stretch/>
        </p:blipFill>
        <p:spPr>
          <a:xfrm>
            <a:off x="1045028" y="3063757"/>
            <a:ext cx="7416800" cy="3794243"/>
          </a:xfrm>
          <a:prstGeom prst="rect">
            <a:avLst/>
          </a:prstGeom>
        </p:spPr>
      </p:pic>
    </p:spTree>
    <p:extLst>
      <p:ext uri="{BB962C8B-B14F-4D97-AF65-F5344CB8AC3E}">
        <p14:creationId xmlns:p14="http://schemas.microsoft.com/office/powerpoint/2010/main" val="395524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2" cstate="print"/>
          <a:srcRect l="3649" t="15140" r="48704" b="25037"/>
          <a:stretch/>
        </p:blipFill>
        <p:spPr>
          <a:xfrm>
            <a:off x="224971" y="2605797"/>
            <a:ext cx="8781143" cy="4150603"/>
          </a:xfrm>
          <a:prstGeom prst="rect">
            <a:avLst/>
          </a:prstGeom>
        </p:spPr>
      </p:pic>
      <p:sp>
        <p:nvSpPr>
          <p:cNvPr id="3" name="TextBox 2"/>
          <p:cNvSpPr txBox="1"/>
          <p:nvPr/>
        </p:nvSpPr>
        <p:spPr>
          <a:xfrm>
            <a:off x="0" y="0"/>
            <a:ext cx="9144000" cy="2246769"/>
          </a:xfrm>
          <a:prstGeom prst="rect">
            <a:avLst/>
          </a:prstGeom>
          <a:noFill/>
        </p:spPr>
        <p:txBody>
          <a:bodyPr wrap="square" rtlCol="0">
            <a:spAutoFit/>
          </a:bodyPr>
          <a:lstStyle/>
          <a:p>
            <a:r>
              <a:rPr lang="ru-RU" sz="2800" dirty="0"/>
              <a:t>Аккумулирование заключений нечетких правил </a:t>
            </a:r>
            <a:r>
              <a:rPr lang="ru-RU" sz="2800" dirty="0" err="1"/>
              <a:t>продук-ций</a:t>
            </a:r>
            <a:r>
              <a:rPr lang="ru-RU" sz="2800" dirty="0"/>
              <a:t> с использованием операции </a:t>
            </a:r>
            <a:r>
              <a:rPr lang="ru-RU" sz="2800" dirty="0" err="1"/>
              <a:t>max</a:t>
            </a:r>
            <a:r>
              <a:rPr lang="ru-RU" sz="2800" dirty="0"/>
              <a:t>-дизъюнкции для правил 2 и 3 приводит в результате к нечеткому </a:t>
            </a:r>
            <a:r>
              <a:rPr lang="ru-RU" sz="2800" dirty="0" err="1"/>
              <a:t>множес-тву</a:t>
            </a:r>
            <a:r>
              <a:rPr lang="ru-RU" sz="2800" dirty="0"/>
              <a:t>, функция принадлежности которого изображена на рисунке</a:t>
            </a:r>
          </a:p>
        </p:txBody>
      </p:sp>
    </p:spTree>
    <p:extLst>
      <p:ext uri="{BB962C8B-B14F-4D97-AF65-F5344CB8AC3E}">
        <p14:creationId xmlns:p14="http://schemas.microsoft.com/office/powerpoint/2010/main" val="4252879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3539430"/>
          </a:xfrm>
          <a:prstGeom prst="rect">
            <a:avLst/>
          </a:prstGeom>
          <a:noFill/>
        </p:spPr>
        <p:txBody>
          <a:bodyPr wrap="square" rtlCol="0">
            <a:spAutoFit/>
          </a:bodyPr>
          <a:lstStyle/>
          <a:p>
            <a:r>
              <a:rPr lang="ru-RU" sz="2800" dirty="0" err="1"/>
              <a:t>Дефаззификация</a:t>
            </a:r>
            <a:r>
              <a:rPr lang="ru-RU" sz="2800" dirty="0"/>
              <a:t> выходной лингвистической переменной "Угол поворота вентиля крана" методом центра тяжести для вычисленных значений функции принадлежности,, приводит к значению управляющей переменной, равному повороту вентиля крана вправо на 16° (приближенное значение). Это значение и является результатом решения задачи нечеткого вывода для текущего значения входной лингвистической переменной " Температура воды".</a:t>
            </a:r>
          </a:p>
        </p:txBody>
      </p:sp>
      <p:sp>
        <p:nvSpPr>
          <p:cNvPr id="3" name="TextBox 2"/>
          <p:cNvSpPr txBox="1"/>
          <p:nvPr/>
        </p:nvSpPr>
        <p:spPr>
          <a:xfrm>
            <a:off x="65314" y="3539430"/>
            <a:ext cx="9013371" cy="2677656"/>
          </a:xfrm>
          <a:prstGeom prst="rect">
            <a:avLst/>
          </a:prstGeom>
          <a:noFill/>
        </p:spPr>
        <p:txBody>
          <a:bodyPr wrap="square" rtlCol="0">
            <a:spAutoFit/>
          </a:bodyPr>
          <a:lstStyle/>
          <a:p>
            <a:r>
              <a:rPr lang="ru-RU" sz="2800" dirty="0"/>
              <a:t>Для реализации этого алгоритма нечеткого управления необходимо организовать периодическое измерение температуры воды на выходе смесителя в некоторые дискретные моменты времени. При этом, чем меньше интервал измерения этой температуры, тем выше оказывается точность регулирования температуры воды.</a:t>
            </a:r>
          </a:p>
        </p:txBody>
      </p:sp>
    </p:spTree>
    <p:extLst>
      <p:ext uri="{BB962C8B-B14F-4D97-AF65-F5344CB8AC3E}">
        <p14:creationId xmlns:p14="http://schemas.microsoft.com/office/powerpoint/2010/main" val="152594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2246769"/>
          </a:xfrm>
          <a:prstGeom prst="rect">
            <a:avLst/>
          </a:prstGeom>
          <a:noFill/>
        </p:spPr>
        <p:txBody>
          <a:bodyPr wrap="square" rtlCol="0">
            <a:spAutoFit/>
          </a:bodyPr>
          <a:lstStyle/>
          <a:p>
            <a:r>
              <a:rPr lang="ru-RU" sz="2800" dirty="0"/>
              <a:t>Все системы с нечеткой логикой функционируют по одному принципу: показания измерительных приборов </a:t>
            </a:r>
            <a:r>
              <a:rPr lang="ru-RU" sz="2800" dirty="0" err="1"/>
              <a:t>фазифицируются</a:t>
            </a:r>
            <a:r>
              <a:rPr lang="ru-RU" sz="2800" dirty="0"/>
              <a:t> (переводятся в нечеткий формат), обрабатываются, </a:t>
            </a:r>
            <a:r>
              <a:rPr lang="ru-RU" sz="2800" dirty="0" err="1"/>
              <a:t>дефазифицируются</a:t>
            </a:r>
            <a:r>
              <a:rPr lang="ru-RU" sz="2800" dirty="0"/>
              <a:t> и в виде привычных сигналов подаются на исполнительные устройства.</a:t>
            </a:r>
          </a:p>
        </p:txBody>
      </p:sp>
      <p:sp>
        <p:nvSpPr>
          <p:cNvPr id="3" name="TextBox 2"/>
          <p:cNvSpPr txBox="1"/>
          <p:nvPr/>
        </p:nvSpPr>
        <p:spPr>
          <a:xfrm>
            <a:off x="0" y="2246769"/>
            <a:ext cx="9144000" cy="954107"/>
          </a:xfrm>
          <a:prstGeom prst="rect">
            <a:avLst/>
          </a:prstGeom>
          <a:noFill/>
        </p:spPr>
        <p:txBody>
          <a:bodyPr wrap="square" rtlCol="0">
            <a:spAutoFit/>
          </a:bodyPr>
          <a:lstStyle/>
          <a:p>
            <a:r>
              <a:rPr lang="ru-RU" sz="2800" b="1" dirty="0"/>
              <a:t>Пример.</a:t>
            </a:r>
            <a:r>
              <a:rPr lang="ru-RU" sz="2800" dirty="0"/>
              <a:t> Для системы управления клапаном выбраны на этапе </a:t>
            </a:r>
            <a:r>
              <a:rPr lang="ru-RU" sz="2800" dirty="0" err="1"/>
              <a:t>фазификации</a:t>
            </a:r>
            <a:r>
              <a:rPr lang="ru-RU" sz="2800" dirty="0"/>
              <a:t> следующие графики параметров</a:t>
            </a:r>
          </a:p>
        </p:txBody>
      </p:sp>
      <p:sp>
        <p:nvSpPr>
          <p:cNvPr id="4" name="Rectangle 2"/>
          <p:cNvSpPr>
            <a:spLocks noChangeArrowheads="1"/>
          </p:cNvSpPr>
          <p:nvPr/>
        </p:nvSpPr>
        <p:spPr bwMode="auto">
          <a:xfrm>
            <a:off x="0" y="2949821"/>
            <a:ext cx="12681766" cy="707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pic>
        <p:nvPicPr>
          <p:cNvPr id="25601" name="Picture 1"/>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l="24213" t="46153" r="11964" b="12537"/>
          <a:stretch>
            <a:fillRect/>
          </a:stretch>
        </p:blipFill>
        <p:spPr bwMode="auto">
          <a:xfrm>
            <a:off x="0" y="3407022"/>
            <a:ext cx="8858677" cy="3095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65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5601"/>
                                        </p:tgtEl>
                                        <p:attrNameLst>
                                          <p:attrName>style.visibility</p:attrName>
                                        </p:attrNameLst>
                                      </p:cBhvr>
                                      <p:to>
                                        <p:strVal val="visible"/>
                                      </p:to>
                                    </p:set>
                                    <p:animEffect transition="in" filter="fade">
                                      <p:cBhvr>
                                        <p:cTn id="19" dur="1000"/>
                                        <p:tgtEl>
                                          <p:spTgt spid="25601"/>
                                        </p:tgtEl>
                                      </p:cBhvr>
                                    </p:animEffect>
                                    <p:anim calcmode="lin" valueType="num">
                                      <p:cBhvr>
                                        <p:cTn id="20" dur="1000" fill="hold"/>
                                        <p:tgtEl>
                                          <p:spTgt spid="25601"/>
                                        </p:tgtEl>
                                        <p:attrNameLst>
                                          <p:attrName>ppt_x</p:attrName>
                                        </p:attrNameLst>
                                      </p:cBhvr>
                                      <p:tavLst>
                                        <p:tav tm="0">
                                          <p:val>
                                            <p:strVal val="#ppt_x"/>
                                          </p:val>
                                        </p:tav>
                                        <p:tav tm="100000">
                                          <p:val>
                                            <p:strVal val="#ppt_x"/>
                                          </p:val>
                                        </p:tav>
                                      </p:tavLst>
                                    </p:anim>
                                    <p:anim calcmode="lin" valueType="num">
                                      <p:cBhvr>
                                        <p:cTn id="21" dur="1000" fill="hold"/>
                                        <p:tgtEl>
                                          <p:spTgt spid="256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3"/>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l="24213" t="20512" r="13885" b="37253"/>
          <a:stretch>
            <a:fillRect/>
          </a:stretch>
        </p:blipFill>
        <p:spPr bwMode="auto">
          <a:xfrm>
            <a:off x="-19003" y="0"/>
            <a:ext cx="9163004" cy="30334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556" y="3149601"/>
            <a:ext cx="9027886" cy="1815882"/>
          </a:xfrm>
          <a:prstGeom prst="rect">
            <a:avLst/>
          </a:prstGeom>
          <a:noFill/>
        </p:spPr>
        <p:txBody>
          <a:bodyPr wrap="square" rtlCol="0">
            <a:spAutoFit/>
          </a:bodyPr>
          <a:lstStyle/>
          <a:p>
            <a:r>
              <a:rPr lang="ru-RU" sz="2800" dirty="0"/>
              <a:t>В блоке выработки решения формулируется и </a:t>
            </a:r>
            <a:r>
              <a:rPr lang="ru-RU" sz="2800" dirty="0" err="1"/>
              <a:t>исполня-ется</a:t>
            </a:r>
            <a:r>
              <a:rPr lang="ru-RU" sz="2800" dirty="0"/>
              <a:t> правило </a:t>
            </a:r>
            <a:r>
              <a:rPr lang="en-US" sz="2800" i="1" dirty="0"/>
              <a:t>R</a:t>
            </a:r>
            <a:r>
              <a:rPr lang="ru-RU" sz="2800" baseline="-25000" dirty="0"/>
              <a:t>1</a:t>
            </a:r>
            <a:r>
              <a:rPr lang="ru-RU" sz="2800" dirty="0"/>
              <a:t>: </a:t>
            </a:r>
            <a:r>
              <a:rPr lang="ru-RU" sz="2800" b="1" dirty="0"/>
              <a:t>ЕСЛИ </a:t>
            </a:r>
            <a:r>
              <a:rPr lang="ru-RU" sz="2800" dirty="0"/>
              <a:t>давление </a:t>
            </a:r>
            <a:r>
              <a:rPr lang="en-US" sz="2800" i="1" dirty="0"/>
              <a:t>x</a:t>
            </a:r>
            <a:r>
              <a:rPr lang="ru-RU" sz="2800" baseline="-25000" dirty="0"/>
              <a:t>1 </a:t>
            </a:r>
            <a:r>
              <a:rPr lang="ru-RU" sz="2800" dirty="0"/>
              <a:t>=</a:t>
            </a:r>
            <a:r>
              <a:rPr lang="ru-RU" sz="2800" baseline="-25000" dirty="0"/>
              <a:t> </a:t>
            </a:r>
            <a:r>
              <a:rPr lang="ru-RU" sz="2800" dirty="0"/>
              <a:t>2,5 Па есть </a:t>
            </a:r>
            <a:r>
              <a:rPr lang="en-US" sz="2800" i="1" dirty="0"/>
              <a:t>A</a:t>
            </a:r>
            <a:r>
              <a:rPr lang="ru-RU" sz="2800" baseline="-25000" dirty="0"/>
              <a:t>11</a:t>
            </a:r>
            <a:r>
              <a:rPr lang="ru-RU" sz="2800" dirty="0"/>
              <a:t> = µ = 0,5 и температура </a:t>
            </a:r>
            <a:r>
              <a:rPr lang="en-US" sz="2800" i="1" dirty="0"/>
              <a:t>x</a:t>
            </a:r>
            <a:r>
              <a:rPr lang="ru-RU" sz="2800" baseline="-25000" dirty="0"/>
              <a:t>2</a:t>
            </a:r>
            <a:r>
              <a:rPr lang="ru-RU" sz="2800" dirty="0"/>
              <a:t> = 17</a:t>
            </a:r>
            <a:r>
              <a:rPr lang="ru-RU" sz="2800" dirty="0">
                <a:sym typeface="Symbol" panose="05050102010706020507" pitchFamily="18" charset="2"/>
              </a:rPr>
              <a:t></a:t>
            </a:r>
            <a:r>
              <a:rPr lang="en-US" sz="2800" dirty="0"/>
              <a:t>C</a:t>
            </a:r>
            <a:r>
              <a:rPr lang="ru-RU" sz="2800" dirty="0"/>
              <a:t> есть </a:t>
            </a:r>
            <a:r>
              <a:rPr lang="en-US" sz="2800" i="1" dirty="0"/>
              <a:t>A</a:t>
            </a:r>
            <a:r>
              <a:rPr lang="ru-RU" sz="2800" baseline="-25000" dirty="0"/>
              <a:t>12</a:t>
            </a:r>
            <a:r>
              <a:rPr lang="ru-RU" sz="2800" dirty="0"/>
              <a:t> = µ = 0,3,   </a:t>
            </a:r>
            <a:r>
              <a:rPr lang="ru-RU" sz="2800" b="1" dirty="0"/>
              <a:t>ТО</a:t>
            </a:r>
            <a:r>
              <a:rPr lang="ru-RU" sz="2800" dirty="0"/>
              <a:t> клапан открывается широко, </a:t>
            </a:r>
            <a:r>
              <a:rPr lang="en-US" sz="2800" i="1" dirty="0"/>
              <a:t>y</a:t>
            </a:r>
            <a:r>
              <a:rPr lang="ru-RU" sz="2800" dirty="0"/>
              <a:t> есть </a:t>
            </a:r>
            <a:r>
              <a:rPr lang="en-US" sz="2800" i="1" dirty="0"/>
              <a:t>B</a:t>
            </a:r>
            <a:r>
              <a:rPr lang="ru-RU" sz="2800" baseline="-25000" dirty="0"/>
              <a:t>1</a:t>
            </a:r>
            <a:r>
              <a:rPr lang="ru-RU" sz="2800" dirty="0"/>
              <a:t> = µ = 0,3 </a:t>
            </a:r>
          </a:p>
        </p:txBody>
      </p:sp>
    </p:spTree>
    <p:extLst>
      <p:ext uri="{BB962C8B-B14F-4D97-AF65-F5344CB8AC3E}">
        <p14:creationId xmlns:p14="http://schemas.microsoft.com/office/powerpoint/2010/main" val="95783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1"/>
          <p:cNvPicPr>
            <a:picLocks noChangeAspect="1" noChangeArrowheads="1"/>
          </p:cNvPicPr>
          <p:nvPr/>
        </p:nvPicPr>
        <p:blipFill>
          <a:blip r:embed="rId2" cstate="print">
            <a:lum bright="-20000" contrast="40000"/>
            <a:extLst>
              <a:ext uri="{28A0092B-C50C-407E-A947-70E740481C1C}">
                <a14:useLocalDpi xmlns:a14="http://schemas.microsoft.com/office/drawing/2010/main" val="0"/>
              </a:ext>
            </a:extLst>
          </a:blip>
          <a:srcRect l="25014" t="44730" r="12292" b="18803"/>
          <a:stretch>
            <a:fillRect/>
          </a:stretch>
        </p:blipFill>
        <p:spPr bwMode="auto">
          <a:xfrm>
            <a:off x="0" y="0"/>
            <a:ext cx="9144000" cy="29923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0" y="2333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4" name="TextBox 3"/>
          <p:cNvSpPr txBox="1"/>
          <p:nvPr/>
        </p:nvSpPr>
        <p:spPr>
          <a:xfrm>
            <a:off x="79828" y="3060036"/>
            <a:ext cx="8984343" cy="523220"/>
          </a:xfrm>
          <a:prstGeom prst="rect">
            <a:avLst/>
          </a:prstGeom>
          <a:noFill/>
        </p:spPr>
        <p:txBody>
          <a:bodyPr wrap="square" rtlCol="0">
            <a:spAutoFit/>
          </a:bodyPr>
          <a:lstStyle/>
          <a:p>
            <a:pPr algn="ctr"/>
            <a:r>
              <a:rPr lang="ru-RU" sz="2800" b="1" dirty="0"/>
              <a:t>Принятие решения по первому правилу</a:t>
            </a:r>
            <a:endParaRPr lang="ru-RU" sz="2800" i="1" dirty="0"/>
          </a:p>
        </p:txBody>
      </p:sp>
      <p:sp>
        <p:nvSpPr>
          <p:cNvPr id="5" name="TextBox 4"/>
          <p:cNvSpPr txBox="1"/>
          <p:nvPr/>
        </p:nvSpPr>
        <p:spPr>
          <a:xfrm>
            <a:off x="0" y="3788229"/>
            <a:ext cx="9144000" cy="1384995"/>
          </a:xfrm>
          <a:prstGeom prst="rect">
            <a:avLst/>
          </a:prstGeom>
          <a:noFill/>
        </p:spPr>
        <p:txBody>
          <a:bodyPr wrap="square" rtlCol="0">
            <a:spAutoFit/>
          </a:bodyPr>
          <a:lstStyle/>
          <a:p>
            <a:r>
              <a:rPr lang="ru-RU" sz="2800" dirty="0"/>
              <a:t>Второе правилу </a:t>
            </a:r>
            <a:r>
              <a:rPr lang="en-US" sz="2800" i="1" dirty="0"/>
              <a:t>R</a:t>
            </a:r>
            <a:r>
              <a:rPr lang="ru-RU" sz="2800" baseline="-25000" dirty="0"/>
              <a:t>2</a:t>
            </a:r>
            <a:r>
              <a:rPr lang="ru-RU" sz="2800" dirty="0"/>
              <a:t>: ЕСЛИ давление </a:t>
            </a:r>
            <a:r>
              <a:rPr lang="en-US" sz="2800" i="1" dirty="0"/>
              <a:t>x</a:t>
            </a:r>
            <a:r>
              <a:rPr lang="ru-RU" sz="2800" baseline="-25000" dirty="0"/>
              <a:t>1 </a:t>
            </a:r>
            <a:r>
              <a:rPr lang="ru-RU" sz="2800" dirty="0"/>
              <a:t>=</a:t>
            </a:r>
            <a:r>
              <a:rPr lang="ru-RU" sz="2800" baseline="-25000" dirty="0"/>
              <a:t> </a:t>
            </a:r>
            <a:r>
              <a:rPr lang="ru-RU" sz="2800" dirty="0"/>
              <a:t>2,5 Па есть </a:t>
            </a:r>
            <a:r>
              <a:rPr lang="en-US" sz="2800" i="1" dirty="0"/>
              <a:t>A</a:t>
            </a:r>
            <a:r>
              <a:rPr lang="ru-RU" sz="2800" baseline="-25000" dirty="0"/>
              <a:t>11</a:t>
            </a:r>
            <a:r>
              <a:rPr lang="ru-RU" sz="2800" dirty="0"/>
              <a:t> = µ = 0,2 и температура </a:t>
            </a:r>
            <a:r>
              <a:rPr lang="en-US" sz="2800" i="1" dirty="0"/>
              <a:t>x</a:t>
            </a:r>
            <a:r>
              <a:rPr lang="ru-RU" sz="2800" baseline="-25000" dirty="0"/>
              <a:t>2</a:t>
            </a:r>
            <a:r>
              <a:rPr lang="ru-RU" sz="2800" dirty="0"/>
              <a:t> = 17</a:t>
            </a:r>
            <a:r>
              <a:rPr lang="ru-RU" sz="2800" dirty="0">
                <a:sym typeface="Symbol" panose="05050102010706020507" pitchFamily="18" charset="2"/>
              </a:rPr>
              <a:t></a:t>
            </a:r>
            <a:r>
              <a:rPr lang="en-US" sz="2800" dirty="0"/>
              <a:t>C </a:t>
            </a:r>
            <a:r>
              <a:rPr lang="ru-RU" sz="2800" dirty="0"/>
              <a:t>есть </a:t>
            </a:r>
            <a:r>
              <a:rPr lang="en-US" sz="2800" i="1" dirty="0"/>
              <a:t>A</a:t>
            </a:r>
            <a:r>
              <a:rPr lang="ru-RU" sz="2800" baseline="-25000" dirty="0"/>
              <a:t>12</a:t>
            </a:r>
            <a:r>
              <a:rPr lang="ru-RU" sz="2800" dirty="0"/>
              <a:t> = µ = 0,5, ТО клапан открывается по среднему графику, </a:t>
            </a:r>
            <a:r>
              <a:rPr lang="en-US" sz="2800" i="1" dirty="0"/>
              <a:t>y</a:t>
            </a:r>
            <a:r>
              <a:rPr lang="ru-RU" sz="2800" dirty="0"/>
              <a:t> есть </a:t>
            </a:r>
            <a:r>
              <a:rPr lang="en-US" sz="2800" i="1" dirty="0"/>
              <a:t>B</a:t>
            </a:r>
            <a:r>
              <a:rPr lang="ru-RU" sz="2800" baseline="-25000" dirty="0"/>
              <a:t>1</a:t>
            </a:r>
            <a:r>
              <a:rPr lang="ru-RU" sz="2800" dirty="0"/>
              <a:t> = µ = 0,2. </a:t>
            </a:r>
          </a:p>
        </p:txBody>
      </p:sp>
    </p:spTree>
    <p:extLst>
      <p:ext uri="{BB962C8B-B14F-4D97-AF65-F5344CB8AC3E}">
        <p14:creationId xmlns:p14="http://schemas.microsoft.com/office/powerpoint/2010/main" val="119801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l="24371" t="16524" r="13416" b="46606"/>
          <a:stretch>
            <a:fillRect/>
          </a:stretch>
        </p:blipFill>
        <p:spPr bwMode="auto">
          <a:xfrm>
            <a:off x="0" y="0"/>
            <a:ext cx="8948058" cy="2982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0" y="2982686"/>
            <a:ext cx="9027886" cy="523220"/>
          </a:xfrm>
          <a:prstGeom prst="rect">
            <a:avLst/>
          </a:prstGeom>
          <a:noFill/>
        </p:spPr>
        <p:txBody>
          <a:bodyPr wrap="square" rtlCol="0">
            <a:spAutoFit/>
          </a:bodyPr>
          <a:lstStyle/>
          <a:p>
            <a:pPr algn="ctr"/>
            <a:r>
              <a:rPr lang="ru-RU" sz="2800" b="1" i="1" dirty="0"/>
              <a:t>Принятие решения по второму правилу</a:t>
            </a:r>
            <a:endParaRPr lang="ru-RU" sz="2800" dirty="0"/>
          </a:p>
        </p:txBody>
      </p:sp>
      <p:pic>
        <p:nvPicPr>
          <p:cNvPr id="286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l="67026" t="54832" r="13416" b="15385"/>
          <a:stretch>
            <a:fillRect/>
          </a:stretch>
        </p:blipFill>
        <p:spPr bwMode="auto">
          <a:xfrm>
            <a:off x="904648" y="3505906"/>
            <a:ext cx="3944445" cy="3352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4849093" y="5965372"/>
            <a:ext cx="3889829" cy="523220"/>
          </a:xfrm>
          <a:prstGeom prst="rect">
            <a:avLst/>
          </a:prstGeom>
          <a:noFill/>
        </p:spPr>
        <p:txBody>
          <a:bodyPr wrap="square" rtlCol="0">
            <a:spAutoFit/>
          </a:bodyPr>
          <a:lstStyle/>
          <a:p>
            <a:r>
              <a:rPr lang="ru-RU" sz="2800" b="1" i="1" dirty="0"/>
              <a:t>Объединение правил</a:t>
            </a:r>
            <a:endParaRPr lang="ru-RU" sz="2800" dirty="0"/>
          </a:p>
        </p:txBody>
      </p:sp>
    </p:spTree>
    <p:extLst>
      <p:ext uri="{BB962C8B-B14F-4D97-AF65-F5344CB8AC3E}">
        <p14:creationId xmlns:p14="http://schemas.microsoft.com/office/powerpoint/2010/main" val="223798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fade">
                                      <p:cBhvr>
                                        <p:cTn id="7" dur="1000"/>
                                        <p:tgtEl>
                                          <p:spTgt spid="28675"/>
                                        </p:tgtEl>
                                      </p:cBhvr>
                                    </p:animEffect>
                                    <p:anim calcmode="lin" valueType="num">
                                      <p:cBhvr>
                                        <p:cTn id="8" dur="1000" fill="hold"/>
                                        <p:tgtEl>
                                          <p:spTgt spid="28675"/>
                                        </p:tgtEl>
                                        <p:attrNameLst>
                                          <p:attrName>ppt_x</p:attrName>
                                        </p:attrNameLst>
                                      </p:cBhvr>
                                      <p:tavLst>
                                        <p:tav tm="0">
                                          <p:val>
                                            <p:strVal val="#ppt_x"/>
                                          </p:val>
                                        </p:tav>
                                        <p:tav tm="100000">
                                          <p:val>
                                            <p:strVal val="#ppt_x"/>
                                          </p:val>
                                        </p:tav>
                                      </p:tavLst>
                                    </p:anim>
                                    <p:anim calcmode="lin" valueType="num">
                                      <p:cBhvr>
                                        <p:cTn id="9" dur="1000" fill="hold"/>
                                        <p:tgtEl>
                                          <p:spTgt spid="2867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17317" t="46153" r="50935" b="30199"/>
          <a:stretch>
            <a:fillRect/>
          </a:stretch>
        </p:blipFill>
        <p:spPr bwMode="auto">
          <a:xfrm>
            <a:off x="1311048" y="104775"/>
            <a:ext cx="6235006" cy="2493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17714" y="2699657"/>
            <a:ext cx="8752115" cy="523220"/>
          </a:xfrm>
          <a:prstGeom prst="rect">
            <a:avLst/>
          </a:prstGeom>
          <a:noFill/>
        </p:spPr>
        <p:txBody>
          <a:bodyPr wrap="square" rtlCol="0">
            <a:spAutoFit/>
          </a:bodyPr>
          <a:lstStyle/>
          <a:p>
            <a:pPr algn="ctr"/>
            <a:r>
              <a:rPr lang="ru-RU" sz="2800" b="1" i="1" dirty="0"/>
              <a:t>Центр тяжести нечеткого множества</a:t>
            </a:r>
            <a:endParaRPr lang="ru-RU" sz="2800" dirty="0"/>
          </a:p>
        </p:txBody>
      </p:sp>
      <p:sp>
        <p:nvSpPr>
          <p:cNvPr id="3" name="TextBox 2"/>
          <p:cNvSpPr txBox="1"/>
          <p:nvPr/>
        </p:nvSpPr>
        <p:spPr>
          <a:xfrm>
            <a:off x="-1" y="3303769"/>
            <a:ext cx="9144000" cy="523220"/>
          </a:xfrm>
          <a:prstGeom prst="rect">
            <a:avLst/>
          </a:prstGeom>
          <a:noFill/>
        </p:spPr>
        <p:txBody>
          <a:bodyPr wrap="square" rtlCol="0">
            <a:spAutoFit/>
          </a:bodyPr>
          <a:lstStyle/>
          <a:p>
            <a:pPr algn="ctr"/>
            <a:r>
              <a:rPr lang="ru-RU" sz="2800" b="1" dirty="0">
                <a:solidFill>
                  <a:srgbClr val="FF0000"/>
                </a:solidFill>
              </a:rPr>
              <a:t>Практическое применение нечеткой логики</a:t>
            </a:r>
          </a:p>
        </p:txBody>
      </p:sp>
      <p:sp>
        <p:nvSpPr>
          <p:cNvPr id="9" name="Rectangle 6"/>
          <p:cNvSpPr>
            <a:spLocks noChangeArrowheads="1"/>
          </p:cNvSpPr>
          <p:nvPr/>
        </p:nvSpPr>
        <p:spPr bwMode="auto">
          <a:xfrm>
            <a:off x="21771" y="3855534"/>
            <a:ext cx="9144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В 1994 г. Б. </a:t>
            </a:r>
            <a:r>
              <a:rPr kumimoji="0" lang="ru-RU" altLang="ru-RU" sz="2800" b="0" i="0" u="none" strike="noStrike" cap="none" normalizeH="0" baseline="0" dirty="0" err="1">
                <a:ln>
                  <a:noFill/>
                </a:ln>
                <a:solidFill>
                  <a:schemeClr val="tx1"/>
                </a:solidFill>
                <a:effectLst/>
                <a:ea typeface="Times New Roman" panose="02020603050405020304" pitchFamily="18" charset="0"/>
              </a:rPr>
              <a:t>Коско</a:t>
            </a:r>
            <a:r>
              <a:rPr kumimoji="0" lang="ru-RU" altLang="ru-RU" sz="2800" b="0" i="0" u="none" strike="noStrike" cap="none" normalizeH="0" baseline="0" dirty="0">
                <a:ln>
                  <a:noFill/>
                </a:ln>
                <a:solidFill>
                  <a:schemeClr val="tx1"/>
                </a:solidFill>
                <a:effectLst/>
                <a:ea typeface="Times New Roman" panose="02020603050405020304" pitchFamily="18" charset="0"/>
              </a:rPr>
              <a:t> доказал теорему о нечеткой </a:t>
            </a:r>
            <a:r>
              <a:rPr kumimoji="0" lang="ru-RU" altLang="ru-RU" sz="2800" b="0" i="0" u="none" strike="noStrike" cap="none" normalizeH="0" baseline="0" dirty="0" err="1">
                <a:ln>
                  <a:noFill/>
                </a:ln>
                <a:solidFill>
                  <a:schemeClr val="tx1"/>
                </a:solidFill>
                <a:effectLst/>
                <a:ea typeface="Times New Roman" panose="02020603050405020304" pitchFamily="18" charset="0"/>
              </a:rPr>
              <a:t>аппрокси-мации</a:t>
            </a:r>
            <a:r>
              <a:rPr kumimoji="0" lang="ru-RU" altLang="ru-RU" sz="2800" b="0" i="0" u="none" strike="noStrike" cap="none" normalizeH="0" baseline="0" dirty="0">
                <a:ln>
                  <a:noFill/>
                </a:ln>
                <a:solidFill>
                  <a:schemeClr val="tx1"/>
                </a:solidFill>
                <a:effectLst/>
                <a:ea typeface="Times New Roman" panose="02020603050405020304" pitchFamily="18" charset="0"/>
              </a:rPr>
              <a:t>, согласно которой любая математическая система может быть представлена средствами нечеткой логики.</a:t>
            </a:r>
            <a:endParaRPr lang="ru-RU" altLang="ru-RU" sz="2800" dirty="0"/>
          </a:p>
          <a:p>
            <a:pPr marR="0" lvl="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Нечеткое управление, реализованное с помощью нечет-кой логики, позволяет получить конкретные результаты там, где процессы не поддаются математическому моделированию.</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90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
          <p:cNvSpPr>
            <a:spLocks noChangeArrowheads="1"/>
          </p:cNvSpPr>
          <p:nvPr/>
        </p:nvSpPr>
        <p:spPr bwMode="auto">
          <a:xfrm>
            <a:off x="0" y="0"/>
            <a:ext cx="9144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В 1975 г. Э. </a:t>
            </a:r>
            <a:r>
              <a:rPr kumimoji="0" lang="ru-RU" altLang="ru-RU" sz="2800" b="0" i="0" u="none" strike="noStrike" cap="none" normalizeH="0" baseline="0" dirty="0" err="1">
                <a:ln>
                  <a:noFill/>
                </a:ln>
                <a:solidFill>
                  <a:schemeClr val="tx1"/>
                </a:solidFill>
                <a:effectLst/>
                <a:ea typeface="Times New Roman" panose="02020603050405020304" pitchFamily="18" charset="0"/>
              </a:rPr>
              <a:t>Мамдани</a:t>
            </a:r>
            <a:r>
              <a:rPr kumimoji="0" lang="ru-RU" altLang="ru-RU" sz="2800" b="0" i="0" u="none" strike="noStrike" cap="none" normalizeH="0" baseline="0" dirty="0">
                <a:ln>
                  <a:noFill/>
                </a:ln>
                <a:solidFill>
                  <a:schemeClr val="tx1"/>
                </a:solidFill>
                <a:effectLst/>
                <a:ea typeface="Times New Roman" panose="02020603050405020304" pitchFamily="18" charset="0"/>
              </a:rPr>
              <a:t>  предложил нечеткий контроллер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для подачи воздуха в камеру внутреннего сгорания.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В 1982 г. О. </a:t>
            </a:r>
            <a:r>
              <a:rPr kumimoji="0" lang="ru-RU" altLang="ru-RU" sz="2800" b="0" i="0" u="none" strike="noStrike" cap="none" normalizeH="0" baseline="0" dirty="0" err="1">
                <a:ln>
                  <a:noFill/>
                </a:ln>
                <a:solidFill>
                  <a:schemeClr val="tx1"/>
                </a:solidFill>
                <a:effectLst/>
                <a:ea typeface="Times New Roman" panose="02020603050405020304" pitchFamily="18" charset="0"/>
              </a:rPr>
              <a:t>Холмблад</a:t>
            </a:r>
            <a:r>
              <a:rPr kumimoji="0" lang="ru-RU" altLang="ru-RU" sz="2800" b="0" i="0" u="none" strike="noStrike" cap="none" normalizeH="0" baseline="0" dirty="0">
                <a:ln>
                  <a:noFill/>
                </a:ln>
                <a:solidFill>
                  <a:schemeClr val="tx1"/>
                </a:solidFill>
                <a:effectLst/>
                <a:ea typeface="Times New Roman" panose="02020603050405020304" pitchFamily="18" charset="0"/>
              </a:rPr>
              <a:t> и Н. </a:t>
            </a:r>
            <a:r>
              <a:rPr kumimoji="0" lang="ru-RU" altLang="ru-RU" sz="2800" b="0" i="0" u="none" strike="noStrike" cap="none" normalizeH="0" baseline="0" dirty="0" err="1">
                <a:ln>
                  <a:noFill/>
                </a:ln>
                <a:solidFill>
                  <a:schemeClr val="tx1"/>
                </a:solidFill>
                <a:effectLst/>
                <a:ea typeface="Times New Roman" panose="02020603050405020304" pitchFamily="18" charset="0"/>
              </a:rPr>
              <a:t>Остергад</a:t>
            </a:r>
            <a:r>
              <a:rPr kumimoji="0" lang="ru-RU" altLang="ru-RU" sz="2800" b="0" i="0" u="none" strike="noStrike" cap="none" normalizeH="0" baseline="0" dirty="0">
                <a:ln>
                  <a:noFill/>
                </a:ln>
                <a:solidFill>
                  <a:schemeClr val="tx1"/>
                </a:solidFill>
                <a:effectLst/>
                <a:ea typeface="Times New Roman" panose="02020603050405020304" pitchFamily="18" charset="0"/>
              </a:rPr>
              <a:t> разрабатывают первый промышленный нечеткий контроллер обжига цемента. </a:t>
            </a:r>
            <a:endParaRPr kumimoji="0" lang="ru-RU" altLang="ru-RU" sz="2800" b="0" i="0" u="none" strike="noStrike" cap="none" normalizeH="0" baseline="0" dirty="0">
              <a:ln>
                <a:noFill/>
              </a:ln>
              <a:solidFill>
                <a:schemeClr val="tx1"/>
              </a:solidFill>
              <a:effectLst/>
            </a:endParaRPr>
          </a:p>
        </p:txBody>
      </p:sp>
      <p:sp>
        <p:nvSpPr>
          <p:cNvPr id="14" name="Rectangle 8"/>
          <p:cNvSpPr>
            <a:spLocks noChangeArrowheads="1"/>
          </p:cNvSpPr>
          <p:nvPr/>
        </p:nvSpPr>
        <p:spPr bwMode="auto">
          <a:xfrm>
            <a:off x="0" y="2110711"/>
            <a:ext cx="898434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Появились и другие успешные применения. </a:t>
            </a:r>
          </a:p>
          <a:p>
            <a:pPr marR="0" lvl="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В 1990 г. правительство Японии профинансировало </a:t>
            </a:r>
          </a:p>
          <a:p>
            <a:pPr marR="0" lvl="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5-летнюю программу по нечеткой логике, включающую </a:t>
            </a:r>
          </a:p>
          <a:p>
            <a:pPr marR="0" lvl="0" algn="just" defTabSz="914400" rtl="0" eaLnBrk="0" fontAlgn="base" latinLnBrk="0" hangingPunct="0">
              <a:lnSpc>
                <a:spcPct val="100000"/>
              </a:lnSpc>
              <a:spcBef>
                <a:spcPct val="0"/>
              </a:spcBef>
              <a:spcAft>
                <a:spcPct val="0"/>
              </a:spcAft>
              <a:buClrTx/>
              <a:buSzTx/>
              <a:buFontTx/>
              <a:buNone/>
              <a:tabLst/>
            </a:pPr>
            <a:r>
              <a:rPr kumimoji="0" lang="ru-RU" altLang="ru-RU" sz="2800" b="0" i="0" u="none" strike="noStrike" cap="none" normalizeH="0" baseline="0" dirty="0">
                <a:ln>
                  <a:noFill/>
                </a:ln>
                <a:solidFill>
                  <a:schemeClr val="tx1"/>
                </a:solidFill>
                <a:effectLst/>
                <a:ea typeface="Times New Roman" panose="02020603050405020304" pitchFamily="18" charset="0"/>
              </a:rPr>
              <a:t>разные проекты — от экологии и предсказания земле-трясений до автоматизированных систем управления технологическим процессом. </a:t>
            </a:r>
            <a:r>
              <a:rPr kumimoji="0" lang="en-US" altLang="ru-RU" sz="2800" b="0" i="0" u="none" strike="noStrike" cap="none" normalizeH="0" baseline="0" dirty="0">
                <a:ln>
                  <a:noFill/>
                </a:ln>
                <a:solidFill>
                  <a:schemeClr val="tx1"/>
                </a:solidFill>
                <a:effectLst/>
                <a:ea typeface="Times New Roman" panose="02020603050405020304" pitchFamily="18" charset="0"/>
              </a:rPr>
              <a:t>48 </a:t>
            </a:r>
            <a:r>
              <a:rPr kumimoji="0" lang="ru-RU" altLang="ru-RU" sz="2800" b="0" i="0" u="none" strike="noStrike" cap="none" normalizeH="0" baseline="0" dirty="0">
                <a:ln>
                  <a:noFill/>
                </a:ln>
                <a:solidFill>
                  <a:schemeClr val="tx1"/>
                </a:solidFill>
                <a:effectLst/>
                <a:ea typeface="Times New Roman" panose="02020603050405020304" pitchFamily="18" charset="0"/>
              </a:rPr>
              <a:t>компаний</a:t>
            </a:r>
            <a:r>
              <a:rPr kumimoji="0" lang="en-US" altLang="ru-RU" sz="2800" b="0" i="0" u="none" strike="noStrike" cap="none" normalizeH="0" baseline="0" dirty="0">
                <a:ln>
                  <a:noFill/>
                </a:ln>
                <a:solidFill>
                  <a:schemeClr val="tx1"/>
                </a:solidFill>
                <a:effectLst/>
                <a:ea typeface="Times New Roman" panose="02020603050405020304" pitchFamily="18" charset="0"/>
              </a:rPr>
              <a:t> </a:t>
            </a:r>
            <a:r>
              <a:rPr kumimoji="0" lang="ru-RU" altLang="ru-RU" sz="2800" b="0" i="0" u="none" strike="noStrike" cap="none" normalizeH="0" baseline="0" dirty="0">
                <a:ln>
                  <a:noFill/>
                </a:ln>
                <a:solidFill>
                  <a:schemeClr val="tx1"/>
                </a:solidFill>
                <a:effectLst/>
                <a:ea typeface="Times New Roman" panose="02020603050405020304" pitchFamily="18" charset="0"/>
              </a:rPr>
              <a:t>объединен-</a:t>
            </a:r>
            <a:r>
              <a:rPr kumimoji="0" lang="ru-RU" altLang="ru-RU" sz="2800" b="0" i="0" u="none" strike="noStrike" cap="none" normalizeH="0" baseline="0" dirty="0" err="1">
                <a:ln>
                  <a:noFill/>
                </a:ln>
                <a:solidFill>
                  <a:schemeClr val="tx1"/>
                </a:solidFill>
                <a:effectLst/>
                <a:ea typeface="Times New Roman" panose="02020603050405020304" pitchFamily="18" charset="0"/>
              </a:rPr>
              <a:t>ными</a:t>
            </a:r>
            <a:r>
              <a:rPr kumimoji="0" lang="en-US" altLang="ru-RU" sz="2800" b="0" i="0" u="none" strike="noStrike" cap="none" normalizeH="0" baseline="0" dirty="0">
                <a:ln>
                  <a:noFill/>
                </a:ln>
                <a:solidFill>
                  <a:schemeClr val="tx1"/>
                </a:solidFill>
                <a:effectLst/>
                <a:ea typeface="Times New Roman" panose="02020603050405020304" pitchFamily="18" charset="0"/>
              </a:rPr>
              <a:t> </a:t>
            </a:r>
            <a:r>
              <a:rPr kumimoji="0" lang="ru-RU" altLang="ru-RU" sz="2800" b="0" i="0" u="none" strike="noStrike" cap="none" normalizeH="0" baseline="0" dirty="0">
                <a:ln>
                  <a:noFill/>
                </a:ln>
                <a:solidFill>
                  <a:schemeClr val="tx1"/>
                </a:solidFill>
                <a:effectLst/>
                <a:ea typeface="Times New Roman" panose="02020603050405020304" pitchFamily="18" charset="0"/>
              </a:rPr>
              <a:t>усилиями</a:t>
            </a:r>
            <a:r>
              <a:rPr kumimoji="0" lang="en-US" altLang="ru-RU" sz="2800" b="0" i="0" u="none" strike="noStrike" cap="none" normalizeH="0" baseline="0" dirty="0">
                <a:ln>
                  <a:noFill/>
                </a:ln>
                <a:solidFill>
                  <a:schemeClr val="tx1"/>
                </a:solidFill>
                <a:effectLst/>
                <a:ea typeface="Times New Roman" panose="02020603050405020304" pitchFamily="18" charset="0"/>
              </a:rPr>
              <a:t> </a:t>
            </a:r>
            <a:r>
              <a:rPr kumimoji="0" lang="ru-RU" altLang="ru-RU" sz="2800" b="0" i="0" u="none" strike="noStrike" cap="none" normalizeH="0" baseline="0" dirty="0">
                <a:ln>
                  <a:noFill/>
                </a:ln>
                <a:solidFill>
                  <a:schemeClr val="tx1"/>
                </a:solidFill>
                <a:effectLst/>
                <a:ea typeface="Times New Roman" panose="02020603050405020304" pitchFamily="18" charset="0"/>
              </a:rPr>
              <a:t>создали</a:t>
            </a:r>
            <a:r>
              <a:rPr kumimoji="0" lang="en-US" altLang="ru-RU" sz="2800" b="0" i="0" u="none" strike="noStrike" cap="none" normalizeH="0" baseline="0" dirty="0">
                <a:ln>
                  <a:noFill/>
                </a:ln>
                <a:solidFill>
                  <a:schemeClr val="tx1"/>
                </a:solidFill>
                <a:effectLst/>
                <a:ea typeface="Times New Roman" panose="020206030504050203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rPr>
              <a:t>LIFE</a:t>
            </a:r>
            <a:r>
              <a:rPr kumimoji="0" lang="en-US" altLang="ru-RU" sz="2800" b="0" i="0" u="none" strike="noStrike" cap="none" normalizeH="0" baseline="0" dirty="0">
                <a:ln>
                  <a:noFill/>
                </a:ln>
                <a:solidFill>
                  <a:schemeClr val="tx1"/>
                </a:solidFill>
                <a:effectLst/>
                <a:ea typeface="Times New Roman" panose="02020603050405020304" pitchFamily="18" charset="0"/>
              </a:rPr>
              <a:t> (</a:t>
            </a:r>
            <a:r>
              <a:rPr kumimoji="0" lang="en-US" altLang="ru-RU" sz="2800" b="0" i="1" u="none" strike="noStrike" cap="none" normalizeH="0" baseline="0" dirty="0">
                <a:ln>
                  <a:noFill/>
                </a:ln>
                <a:solidFill>
                  <a:schemeClr val="tx1"/>
                </a:solidFill>
                <a:effectLst/>
                <a:ea typeface="Times New Roman" panose="02020603050405020304" pitchFamily="18" charset="0"/>
              </a:rPr>
              <a:t>Laboratory for international fuzzy engineering</a:t>
            </a:r>
            <a:r>
              <a:rPr kumimoji="0" lang="en-US" altLang="ru-RU" sz="2800" b="0" i="0" u="none" strike="noStrike" cap="none" normalizeH="0" baseline="0" dirty="0">
                <a:ln>
                  <a:noFill/>
                </a:ln>
                <a:solidFill>
                  <a:schemeClr val="tx1"/>
                </a:solidFill>
                <a:effectLst/>
                <a:ea typeface="Times New Roman" panose="02020603050405020304" pitchFamily="18" charset="0"/>
              </a:rPr>
              <a:t>).</a:t>
            </a:r>
            <a:endParaRPr kumimoji="0" lang="en-US" altLang="ru-RU" sz="2800" b="0" i="0" u="none" strike="noStrike" cap="none" normalizeH="0" baseline="0" dirty="0">
              <a:ln>
                <a:noFill/>
              </a:ln>
              <a:solidFill>
                <a:schemeClr val="tx1"/>
              </a:solidFill>
              <a:effectLst/>
            </a:endParaRPr>
          </a:p>
        </p:txBody>
      </p:sp>
      <p:sp>
        <p:nvSpPr>
          <p:cNvPr id="15" name="TextBox 14"/>
          <p:cNvSpPr txBox="1"/>
          <p:nvPr/>
        </p:nvSpPr>
        <p:spPr>
          <a:xfrm>
            <a:off x="0" y="5473005"/>
            <a:ext cx="8853714" cy="1384995"/>
          </a:xfrm>
          <a:prstGeom prst="rect">
            <a:avLst/>
          </a:prstGeom>
          <a:noFill/>
        </p:spPr>
        <p:txBody>
          <a:bodyPr wrap="square" rtlCol="0">
            <a:spAutoFit/>
          </a:bodyPr>
          <a:lstStyle/>
          <a:p>
            <a:r>
              <a:rPr lang="ru-RU" sz="2800" dirty="0"/>
              <a:t>Сейчас Япония по-прежнему лидирует в области использования нечеткой логики и имеет более 5000 «нечетких» патентов (США — менее 2000). </a:t>
            </a:r>
          </a:p>
        </p:txBody>
      </p:sp>
    </p:spTree>
    <p:extLst>
      <p:ext uri="{BB962C8B-B14F-4D97-AF65-F5344CB8AC3E}">
        <p14:creationId xmlns:p14="http://schemas.microsoft.com/office/powerpoint/2010/main" val="151553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954107"/>
          </a:xfrm>
          <a:prstGeom prst="rect">
            <a:avLst/>
          </a:prstGeom>
          <a:noFill/>
        </p:spPr>
        <p:txBody>
          <a:bodyPr wrap="square" rtlCol="0">
            <a:spAutoFit/>
          </a:bodyPr>
          <a:lstStyle/>
          <a:p>
            <a:r>
              <a:rPr lang="ru-RU" sz="2800" dirty="0"/>
              <a:t>В США развитие нечеткой логики в основном пошло по пути создания систем для большого бизнеса и военных.</a:t>
            </a:r>
          </a:p>
        </p:txBody>
      </p:sp>
      <p:sp>
        <p:nvSpPr>
          <p:cNvPr id="3" name="TextBox 2"/>
          <p:cNvSpPr txBox="1"/>
          <p:nvPr/>
        </p:nvSpPr>
        <p:spPr>
          <a:xfrm>
            <a:off x="0" y="954107"/>
            <a:ext cx="9144000" cy="954107"/>
          </a:xfrm>
          <a:prstGeom prst="rect">
            <a:avLst/>
          </a:prstGeom>
          <a:noFill/>
        </p:spPr>
        <p:txBody>
          <a:bodyPr wrap="square" rtlCol="0">
            <a:spAutoFit/>
          </a:bodyPr>
          <a:lstStyle/>
          <a:p>
            <a:pPr hangingPunct="0"/>
            <a:r>
              <a:rPr lang="ru-RU" sz="2800" dirty="0"/>
              <a:t>Примеры использования нечеткой логики в системах управления и в экспертных системах: </a:t>
            </a:r>
          </a:p>
        </p:txBody>
      </p:sp>
      <p:sp>
        <p:nvSpPr>
          <p:cNvPr id="4" name="TextBox 3"/>
          <p:cNvSpPr txBox="1"/>
          <p:nvPr/>
        </p:nvSpPr>
        <p:spPr>
          <a:xfrm>
            <a:off x="0" y="1908214"/>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автоматическое управление воротами плотины на гидроэлектростанциях (</a:t>
            </a:r>
            <a:r>
              <a:rPr lang="ru-RU" sz="2800" i="1" dirty="0" err="1"/>
              <a:t>Tokio</a:t>
            </a:r>
            <a:r>
              <a:rPr lang="ru-RU" sz="2800" i="1" dirty="0"/>
              <a:t> </a:t>
            </a:r>
            <a:r>
              <a:rPr lang="ru-RU" sz="2800" i="1" dirty="0" err="1"/>
              <a:t>Electric</a:t>
            </a:r>
            <a:r>
              <a:rPr lang="ru-RU" sz="2800" i="1" dirty="0"/>
              <a:t> </a:t>
            </a:r>
            <a:r>
              <a:rPr lang="ru-RU" sz="2800" i="1" dirty="0" err="1"/>
              <a:t>Pow</a:t>
            </a:r>
            <a:r>
              <a:rPr lang="ru-RU" sz="2800" dirty="0"/>
              <a:t>.);</a:t>
            </a:r>
          </a:p>
        </p:txBody>
      </p:sp>
      <p:sp>
        <p:nvSpPr>
          <p:cNvPr id="5" name="TextBox 4"/>
          <p:cNvSpPr txBox="1"/>
          <p:nvPr/>
        </p:nvSpPr>
        <p:spPr>
          <a:xfrm>
            <a:off x="0" y="2862321"/>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роботами (</a:t>
            </a:r>
            <a:r>
              <a:rPr lang="ru-RU" sz="2800" i="1" dirty="0" err="1"/>
              <a:t>Hirota</a:t>
            </a:r>
            <a:r>
              <a:rPr lang="ru-RU" sz="2800" i="1" dirty="0"/>
              <a:t>, </a:t>
            </a:r>
            <a:r>
              <a:rPr lang="ru-RU" sz="2800" i="1" dirty="0" err="1"/>
              <a:t>Fuji</a:t>
            </a:r>
            <a:r>
              <a:rPr lang="ru-RU" sz="2800" i="1" dirty="0"/>
              <a:t> </a:t>
            </a:r>
            <a:r>
              <a:rPr lang="ru-RU" sz="2800" i="1" dirty="0" err="1"/>
              <a:t>Electric</a:t>
            </a:r>
            <a:r>
              <a:rPr lang="ru-RU" sz="2800" i="1" dirty="0"/>
              <a:t>, </a:t>
            </a:r>
            <a:r>
              <a:rPr lang="ru-RU" sz="2800" i="1" dirty="0" err="1"/>
              <a:t>Toshiba</a:t>
            </a:r>
            <a:r>
              <a:rPr lang="ru-RU" sz="2800" i="1" dirty="0"/>
              <a:t>, </a:t>
            </a:r>
            <a:r>
              <a:rPr lang="ru-RU" sz="2800" i="1" dirty="0" err="1"/>
              <a:t>Omron</a:t>
            </a:r>
            <a:r>
              <a:rPr lang="ru-RU" sz="2800" dirty="0"/>
              <a:t>); </a:t>
            </a:r>
          </a:p>
        </p:txBody>
      </p:sp>
      <p:sp>
        <p:nvSpPr>
          <p:cNvPr id="6" name="TextBox 5"/>
          <p:cNvSpPr txBox="1"/>
          <p:nvPr/>
        </p:nvSpPr>
        <p:spPr>
          <a:xfrm>
            <a:off x="0" y="3816428"/>
            <a:ext cx="8940800" cy="523220"/>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телекамерами при трансляции (</a:t>
            </a:r>
            <a:r>
              <a:rPr lang="ru-RU" sz="2800" i="1" dirty="0" err="1"/>
              <a:t>Omron</a:t>
            </a:r>
            <a:r>
              <a:rPr lang="ru-RU" sz="2800" dirty="0"/>
              <a:t>); </a:t>
            </a:r>
          </a:p>
        </p:txBody>
      </p:sp>
      <p:sp>
        <p:nvSpPr>
          <p:cNvPr id="7" name="TextBox 6"/>
          <p:cNvSpPr txBox="1"/>
          <p:nvPr/>
        </p:nvSpPr>
        <p:spPr>
          <a:xfrm>
            <a:off x="0" y="4339648"/>
            <a:ext cx="90424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замена экспертов при анализе работы биржи (</a:t>
            </a:r>
            <a:r>
              <a:rPr lang="ru-RU" sz="2800" i="1" dirty="0" err="1"/>
              <a:t>Yamaichi</a:t>
            </a:r>
            <a:r>
              <a:rPr lang="ru-RU" sz="2800" i="1" dirty="0"/>
              <a:t>, </a:t>
            </a:r>
            <a:r>
              <a:rPr lang="ru-RU" sz="2800" i="1" dirty="0" err="1"/>
              <a:t>Hitachi</a:t>
            </a:r>
            <a:r>
              <a:rPr lang="ru-RU" sz="2800" dirty="0"/>
              <a:t>);</a:t>
            </a:r>
          </a:p>
        </p:txBody>
      </p:sp>
      <p:sp>
        <p:nvSpPr>
          <p:cNvPr id="9" name="TextBox 8"/>
          <p:cNvSpPr txBox="1"/>
          <p:nvPr/>
        </p:nvSpPr>
        <p:spPr>
          <a:xfrm>
            <a:off x="101600" y="6179126"/>
            <a:ext cx="9042400" cy="523220"/>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автомобильными двигателями (</a:t>
            </a:r>
            <a:r>
              <a:rPr lang="ru-RU" sz="2800" i="1" dirty="0" err="1"/>
              <a:t>Nissan</a:t>
            </a:r>
            <a:r>
              <a:rPr lang="ru-RU" sz="2800" dirty="0"/>
              <a:t>); </a:t>
            </a:r>
          </a:p>
        </p:txBody>
      </p:sp>
      <p:sp>
        <p:nvSpPr>
          <p:cNvPr id="10" name="TextBox 9"/>
          <p:cNvSpPr txBox="1"/>
          <p:nvPr/>
        </p:nvSpPr>
        <p:spPr>
          <a:xfrm>
            <a:off x="101600" y="5293755"/>
            <a:ext cx="90424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Предотвращение температурных флуктуаций в </a:t>
            </a:r>
            <a:r>
              <a:rPr lang="ru-RU" sz="2800" dirty="0" err="1"/>
              <a:t>систе</a:t>
            </a:r>
            <a:r>
              <a:rPr lang="ru-RU" sz="2800" dirty="0"/>
              <a:t>-мах кондиционирования воздуха </a:t>
            </a:r>
            <a:r>
              <a:rPr lang="ru-RU" sz="2800" i="1" dirty="0" err="1"/>
              <a:t>Mitsubishi</a:t>
            </a:r>
            <a:r>
              <a:rPr lang="ru-RU" sz="2800" i="1" dirty="0"/>
              <a:t>, </a:t>
            </a:r>
            <a:r>
              <a:rPr lang="ru-RU" sz="2800" dirty="0" err="1"/>
              <a:t>Sharp</a:t>
            </a:r>
            <a:r>
              <a:rPr lang="ru-RU" sz="2800" dirty="0"/>
              <a:t>);</a:t>
            </a:r>
          </a:p>
        </p:txBody>
      </p:sp>
    </p:spTree>
    <p:extLst>
      <p:ext uri="{BB962C8B-B14F-4D97-AF65-F5344CB8AC3E}">
        <p14:creationId xmlns:p14="http://schemas.microsoft.com/office/powerpoint/2010/main" val="376522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9" grpId="0"/>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911771" cy="1384995"/>
          </a:xfrm>
          <a:prstGeom prst="rect">
            <a:avLst/>
          </a:prstGeom>
          <a:noFill/>
        </p:spPr>
        <p:txBody>
          <a:bodyPr wrap="square" rtlCol="0">
            <a:spAutoFit/>
          </a:bodyPr>
          <a:lstStyle/>
          <a:p>
            <a:pPr marL="457200" indent="-457200">
              <a:buFont typeface="Arial" panose="020B0604020202020204" pitchFamily="34" charset="0"/>
              <a:buChar char="•"/>
            </a:pPr>
            <a:r>
              <a:rPr lang="ru-RU" sz="2800" dirty="0"/>
              <a:t>оптимизация промышленных систем управления (</a:t>
            </a:r>
            <a:r>
              <a:rPr lang="ru-RU" sz="2800" i="1" dirty="0" err="1"/>
              <a:t>Aptronix</a:t>
            </a:r>
            <a:r>
              <a:rPr lang="ru-RU" sz="2800" i="1" dirty="0"/>
              <a:t>, </a:t>
            </a:r>
            <a:r>
              <a:rPr lang="ru-RU" sz="2800" i="1" dirty="0" err="1"/>
              <a:t>Omron</a:t>
            </a:r>
            <a:r>
              <a:rPr lang="ru-RU" sz="2800" i="1" dirty="0"/>
              <a:t>, </a:t>
            </a:r>
            <a:r>
              <a:rPr lang="ru-RU" sz="2800" i="1" dirty="0" err="1"/>
              <a:t>Meiden</a:t>
            </a:r>
            <a:r>
              <a:rPr lang="ru-RU" sz="2800" i="1" dirty="0"/>
              <a:t>, </a:t>
            </a:r>
            <a:r>
              <a:rPr lang="ru-RU" sz="2800" i="1" dirty="0" err="1"/>
              <a:t>Sha</a:t>
            </a:r>
            <a:r>
              <a:rPr lang="ru-RU" sz="2800" i="1" dirty="0"/>
              <a:t>, </a:t>
            </a:r>
            <a:r>
              <a:rPr lang="ru-RU" sz="2800" i="1" dirty="0" err="1"/>
              <a:t>Micom</a:t>
            </a:r>
            <a:r>
              <a:rPr lang="ru-RU" sz="2800" i="1" dirty="0"/>
              <a:t>, </a:t>
            </a:r>
            <a:r>
              <a:rPr lang="ru-RU" sz="2800" i="1" dirty="0" err="1"/>
              <a:t>Mitsubishi</a:t>
            </a:r>
            <a:r>
              <a:rPr lang="ru-RU" sz="2800" i="1" dirty="0"/>
              <a:t>, </a:t>
            </a:r>
            <a:r>
              <a:rPr lang="ru-RU" sz="2800" i="1" dirty="0" err="1"/>
              <a:t>Nisshin-Denki</a:t>
            </a:r>
            <a:r>
              <a:rPr lang="ru-RU" sz="2800" i="1" dirty="0"/>
              <a:t>, </a:t>
            </a:r>
            <a:r>
              <a:rPr lang="ru-RU" sz="2800" i="1" dirty="0" err="1"/>
              <a:t>Oku-Electronics</a:t>
            </a:r>
            <a:r>
              <a:rPr lang="ru-RU" sz="2800" dirty="0"/>
              <a:t>);</a:t>
            </a:r>
          </a:p>
        </p:txBody>
      </p:sp>
      <p:sp>
        <p:nvSpPr>
          <p:cNvPr id="3" name="TextBox 2"/>
          <p:cNvSpPr txBox="1"/>
          <p:nvPr/>
        </p:nvSpPr>
        <p:spPr>
          <a:xfrm>
            <a:off x="0" y="1312425"/>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приводом в производстве полупроводников </a:t>
            </a:r>
            <a:r>
              <a:rPr lang="ru-RU" sz="2800" dirty="0" err="1"/>
              <a:t>wafer-steppers</a:t>
            </a:r>
            <a:r>
              <a:rPr lang="ru-RU" sz="2800" dirty="0"/>
              <a:t> (</a:t>
            </a:r>
            <a:r>
              <a:rPr lang="ru-RU" sz="2800" i="1" dirty="0" err="1"/>
              <a:t>Canon</a:t>
            </a:r>
            <a:r>
              <a:rPr lang="ru-RU" sz="2800" dirty="0"/>
              <a:t>);</a:t>
            </a:r>
          </a:p>
        </p:txBody>
      </p:sp>
      <p:sp>
        <p:nvSpPr>
          <p:cNvPr id="4" name="TextBox 3"/>
          <p:cNvSpPr txBox="1"/>
          <p:nvPr/>
        </p:nvSpPr>
        <p:spPr>
          <a:xfrm>
            <a:off x="0" y="2220366"/>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планирование автобусных расписаний (</a:t>
            </a:r>
            <a:r>
              <a:rPr lang="ru-RU" sz="2800" i="1" dirty="0" err="1"/>
              <a:t>Toshiba</a:t>
            </a:r>
            <a:r>
              <a:rPr lang="ru-RU" sz="2800" i="1" dirty="0"/>
              <a:t>, </a:t>
            </a:r>
            <a:r>
              <a:rPr lang="ru-RU" sz="2800" i="1" dirty="0" err="1"/>
              <a:t>Nippon-System</a:t>
            </a:r>
            <a:r>
              <a:rPr lang="ru-RU" sz="2800" i="1" dirty="0"/>
              <a:t>, </a:t>
            </a:r>
            <a:r>
              <a:rPr lang="ru-RU" sz="2800" i="1" dirty="0" err="1"/>
              <a:t>Keihan-Express</a:t>
            </a:r>
            <a:r>
              <a:rPr lang="ru-RU" sz="2800" dirty="0"/>
              <a:t>); </a:t>
            </a:r>
          </a:p>
        </p:txBody>
      </p:sp>
      <p:sp>
        <p:nvSpPr>
          <p:cNvPr id="5" name="TextBox 4"/>
          <p:cNvSpPr txBox="1"/>
          <p:nvPr/>
        </p:nvSpPr>
        <p:spPr>
          <a:xfrm>
            <a:off x="0" y="3174473"/>
            <a:ext cx="9144000" cy="523220"/>
          </a:xfrm>
          <a:prstGeom prst="rect">
            <a:avLst/>
          </a:prstGeom>
          <a:noFill/>
        </p:spPr>
        <p:txBody>
          <a:bodyPr wrap="square" rtlCol="0">
            <a:spAutoFit/>
          </a:bodyPr>
          <a:lstStyle/>
          <a:p>
            <a:pPr marL="457200" indent="-457200">
              <a:buFont typeface="Arial" panose="020B0604020202020204" pitchFamily="34" charset="0"/>
              <a:buChar char="•"/>
            </a:pPr>
            <a:r>
              <a:rPr lang="ru-RU" sz="2800" dirty="0"/>
              <a:t>системы архивации документов (</a:t>
            </a:r>
            <a:r>
              <a:rPr lang="ru-RU" sz="2800" i="1" dirty="0" err="1"/>
              <a:t>Mitsubishi</a:t>
            </a:r>
            <a:r>
              <a:rPr lang="ru-RU" sz="2800" i="1" dirty="0"/>
              <a:t> </a:t>
            </a:r>
            <a:r>
              <a:rPr lang="ru-RU" sz="2800" i="1" dirty="0" err="1"/>
              <a:t>Elec</a:t>
            </a:r>
            <a:r>
              <a:rPr lang="ru-RU" sz="2800" i="1" dirty="0"/>
              <a:t>.</a:t>
            </a:r>
            <a:r>
              <a:rPr lang="ru-RU" sz="2800" dirty="0"/>
              <a:t>);</a:t>
            </a:r>
          </a:p>
        </p:txBody>
      </p:sp>
      <p:sp>
        <p:nvSpPr>
          <p:cNvPr id="6" name="TextBox 5"/>
          <p:cNvSpPr txBox="1"/>
          <p:nvPr/>
        </p:nvSpPr>
        <p:spPr>
          <a:xfrm>
            <a:off x="0" y="3697693"/>
            <a:ext cx="90424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системы прогнозирования землетрясений </a:t>
            </a:r>
            <a:r>
              <a:rPr lang="en-US" sz="2800" dirty="0"/>
              <a:t>(</a:t>
            </a:r>
            <a:r>
              <a:rPr lang="en-US" sz="2800" i="1" dirty="0"/>
              <a:t>Inst. of Seismology Bureau of Metrology, Japan</a:t>
            </a:r>
            <a:r>
              <a:rPr lang="en-US" sz="2800" dirty="0"/>
              <a:t>);</a:t>
            </a:r>
            <a:endParaRPr lang="ru-RU" sz="2800" dirty="0"/>
          </a:p>
        </p:txBody>
      </p:sp>
      <p:sp>
        <p:nvSpPr>
          <p:cNvPr id="7" name="TextBox 6"/>
          <p:cNvSpPr txBox="1"/>
          <p:nvPr/>
        </p:nvSpPr>
        <p:spPr>
          <a:xfrm>
            <a:off x="0" y="4651800"/>
            <a:ext cx="9144000" cy="523220"/>
          </a:xfrm>
          <a:prstGeom prst="rect">
            <a:avLst/>
          </a:prstGeom>
          <a:noFill/>
        </p:spPr>
        <p:txBody>
          <a:bodyPr wrap="square" rtlCol="0">
            <a:spAutoFit/>
          </a:bodyPr>
          <a:lstStyle/>
          <a:p>
            <a:pPr marL="285750" indent="-285750">
              <a:buFont typeface="Arial" panose="020B0604020202020204" pitchFamily="34" charset="0"/>
              <a:buChar char="•"/>
            </a:pPr>
            <a:r>
              <a:rPr lang="ru-RU" sz="2800" dirty="0"/>
              <a:t>  диагностика онкологии (</a:t>
            </a:r>
            <a:r>
              <a:rPr lang="ru-RU" sz="2800" i="1" dirty="0" err="1"/>
              <a:t>Kawasaki</a:t>
            </a:r>
            <a:r>
              <a:rPr lang="ru-RU" sz="2800" i="1" dirty="0"/>
              <a:t> </a:t>
            </a:r>
            <a:r>
              <a:rPr lang="ru-RU" sz="2800" i="1" dirty="0" err="1"/>
              <a:t>Medical</a:t>
            </a:r>
            <a:r>
              <a:rPr lang="ru-RU" sz="2800" i="1" dirty="0"/>
              <a:t> </a:t>
            </a:r>
            <a:r>
              <a:rPr lang="ru-RU" sz="2800" i="1" dirty="0" err="1"/>
              <a:t>School</a:t>
            </a:r>
            <a:r>
              <a:rPr lang="ru-RU" sz="2800" dirty="0"/>
              <a:t>);</a:t>
            </a:r>
          </a:p>
        </p:txBody>
      </p:sp>
      <p:sp>
        <p:nvSpPr>
          <p:cNvPr id="8" name="TextBox 7"/>
          <p:cNvSpPr txBox="1"/>
          <p:nvPr/>
        </p:nvSpPr>
        <p:spPr>
          <a:xfrm>
            <a:off x="0" y="5283203"/>
            <a:ext cx="9144000" cy="523220"/>
          </a:xfrm>
          <a:prstGeom prst="rect">
            <a:avLst/>
          </a:prstGeom>
          <a:noFill/>
        </p:spPr>
        <p:txBody>
          <a:bodyPr wrap="square" rtlCol="0">
            <a:spAutoFit/>
          </a:bodyPr>
          <a:lstStyle/>
          <a:p>
            <a:pPr marL="457200" indent="-457200">
              <a:buFont typeface="Arial" panose="020B0604020202020204" pitchFamily="34" charset="0"/>
              <a:buChar char="•"/>
            </a:pPr>
            <a:r>
              <a:rPr lang="ru-RU" sz="2800" dirty="0"/>
              <a:t>распознавание рукописных символов (</a:t>
            </a:r>
            <a:r>
              <a:rPr lang="ru-RU" sz="2800" i="1" dirty="0" err="1"/>
              <a:t>Sony</a:t>
            </a:r>
            <a:r>
              <a:rPr lang="ru-RU" sz="2800" dirty="0"/>
              <a:t>);</a:t>
            </a:r>
          </a:p>
        </p:txBody>
      </p:sp>
      <p:sp>
        <p:nvSpPr>
          <p:cNvPr id="9" name="TextBox 8"/>
          <p:cNvSpPr txBox="1"/>
          <p:nvPr/>
        </p:nvSpPr>
        <p:spPr>
          <a:xfrm>
            <a:off x="14514" y="5956868"/>
            <a:ext cx="9129486"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моделирование судебных процессов (</a:t>
            </a:r>
            <a:r>
              <a:rPr lang="ru-RU" sz="2800" i="1" dirty="0" err="1"/>
              <a:t>Meihi</a:t>
            </a:r>
            <a:r>
              <a:rPr lang="ru-RU" sz="2800" i="1" dirty="0"/>
              <a:t> </a:t>
            </a:r>
            <a:r>
              <a:rPr lang="ru-RU" sz="2800" i="1" dirty="0" err="1"/>
              <a:t>Gakuin</a:t>
            </a:r>
            <a:r>
              <a:rPr lang="ru-RU" sz="2800" i="1" dirty="0"/>
              <a:t> </a:t>
            </a:r>
            <a:r>
              <a:rPr lang="ru-RU" sz="2800" i="1" dirty="0" err="1"/>
              <a:t>Univ</a:t>
            </a:r>
            <a:r>
              <a:rPr lang="ru-RU" sz="2800" i="1" dirty="0"/>
              <a:t>, </a:t>
            </a:r>
            <a:r>
              <a:rPr lang="ru-RU" sz="2800" i="1" dirty="0" err="1"/>
              <a:t>Nagoy</a:t>
            </a:r>
            <a:r>
              <a:rPr lang="ru-RU" sz="2800" i="1" dirty="0"/>
              <a:t> </a:t>
            </a:r>
            <a:r>
              <a:rPr lang="ru-RU" sz="2800" i="1" dirty="0" err="1"/>
              <a:t>Univ</a:t>
            </a:r>
            <a:r>
              <a:rPr lang="ru-RU" sz="2800" dirty="0"/>
              <a:t>.);</a:t>
            </a:r>
          </a:p>
        </p:txBody>
      </p:sp>
    </p:spTree>
    <p:extLst>
      <p:ext uri="{BB962C8B-B14F-4D97-AF65-F5344CB8AC3E}">
        <p14:creationId xmlns:p14="http://schemas.microsoft.com/office/powerpoint/2010/main" val="411083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pPr marL="457200" indent="-457200">
              <a:buFont typeface="Arial" panose="020B0604020202020204" pitchFamily="34" charset="0"/>
              <a:buChar char="•"/>
            </a:pPr>
            <a:r>
              <a:rPr lang="ru-RU" sz="2800" dirty="0"/>
              <a:t>системы автоматизированного проектирования производственных процессов (</a:t>
            </a:r>
            <a:r>
              <a:rPr lang="ru-RU" sz="2800" i="1" dirty="0" err="1"/>
              <a:t>Aptronix</a:t>
            </a:r>
            <a:r>
              <a:rPr lang="ru-RU" sz="2800" i="1" dirty="0"/>
              <a:t>, </a:t>
            </a:r>
            <a:r>
              <a:rPr lang="ru-RU" sz="2800" i="1" dirty="0" err="1"/>
              <a:t>Harima</a:t>
            </a:r>
            <a:r>
              <a:rPr lang="ru-RU" sz="2800" i="1" dirty="0"/>
              <a:t>, </a:t>
            </a:r>
            <a:r>
              <a:rPr lang="ru-RU" sz="2800" i="1" dirty="0" err="1"/>
              <a:t>Ishikawajima</a:t>
            </a:r>
            <a:r>
              <a:rPr lang="ru-RU" sz="2800" i="1" dirty="0"/>
              <a:t>-OC </a:t>
            </a:r>
            <a:r>
              <a:rPr lang="ru-RU" sz="2800" i="1" dirty="0" err="1"/>
              <a:t>Engeneering</a:t>
            </a:r>
            <a:r>
              <a:rPr lang="ru-RU" sz="2800" dirty="0"/>
              <a:t>);</a:t>
            </a:r>
          </a:p>
        </p:txBody>
      </p:sp>
      <p:sp>
        <p:nvSpPr>
          <p:cNvPr id="3" name="TextBox 2"/>
          <p:cNvSpPr txBox="1"/>
          <p:nvPr/>
        </p:nvSpPr>
        <p:spPr>
          <a:xfrm>
            <a:off x="0" y="1318561"/>
            <a:ext cx="9144000" cy="1384995"/>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скоростью линий и температурой при производстве стали (</a:t>
            </a:r>
            <a:r>
              <a:rPr lang="ru-RU" sz="2800" i="1" dirty="0" err="1"/>
              <a:t>Kawasaki</a:t>
            </a:r>
            <a:r>
              <a:rPr lang="ru-RU" sz="2800" i="1" dirty="0"/>
              <a:t> </a:t>
            </a:r>
            <a:r>
              <a:rPr lang="ru-RU" sz="2800" i="1" dirty="0" err="1"/>
              <a:t>Steel</a:t>
            </a:r>
            <a:r>
              <a:rPr lang="ru-RU" sz="2800" i="1" dirty="0"/>
              <a:t>, </a:t>
            </a:r>
            <a:r>
              <a:rPr lang="ru-RU" sz="2800" i="1" dirty="0" err="1"/>
              <a:t>New-Nippon</a:t>
            </a:r>
            <a:r>
              <a:rPr lang="ru-RU" sz="2800" i="1" dirty="0"/>
              <a:t> </a:t>
            </a:r>
            <a:r>
              <a:rPr lang="ru-RU" sz="2800" i="1" dirty="0" err="1"/>
              <a:t>Steel</a:t>
            </a:r>
            <a:r>
              <a:rPr lang="ru-RU" sz="2800" i="1" dirty="0"/>
              <a:t>, NKK</a:t>
            </a:r>
            <a:r>
              <a:rPr lang="ru-RU" sz="2800" dirty="0"/>
              <a:t>);</a:t>
            </a:r>
          </a:p>
        </p:txBody>
      </p:sp>
      <p:sp>
        <p:nvSpPr>
          <p:cNvPr id="4" name="TextBox 3"/>
          <p:cNvSpPr txBox="1"/>
          <p:nvPr/>
        </p:nvSpPr>
        <p:spPr>
          <a:xfrm>
            <a:off x="0" y="2660014"/>
            <a:ext cx="9144000" cy="1384995"/>
          </a:xfrm>
          <a:prstGeom prst="rect">
            <a:avLst/>
          </a:prstGeom>
          <a:noFill/>
        </p:spPr>
        <p:txBody>
          <a:bodyPr wrap="square" rtlCol="0">
            <a:spAutoFit/>
          </a:bodyPr>
          <a:lstStyle/>
          <a:p>
            <a:pPr marL="457200" indent="-457200">
              <a:buFont typeface="Arial" panose="020B0604020202020204" pitchFamily="34" charset="0"/>
              <a:buChar char="•"/>
            </a:pPr>
            <a:r>
              <a:rPr lang="ru-RU" sz="2800" dirty="0"/>
              <a:t>управление метрополитенами для повышения удобства вождения, точности остановки и экономии энергии (</a:t>
            </a:r>
            <a:r>
              <a:rPr lang="ru-RU" sz="2800" i="1" dirty="0" err="1"/>
              <a:t>Hitachi</a:t>
            </a:r>
            <a:r>
              <a:rPr lang="ru-RU" sz="2800" dirty="0"/>
              <a:t>);</a:t>
            </a:r>
          </a:p>
        </p:txBody>
      </p:sp>
      <p:sp>
        <p:nvSpPr>
          <p:cNvPr id="5" name="TextBox 4"/>
          <p:cNvSpPr txBox="1"/>
          <p:nvPr/>
        </p:nvSpPr>
        <p:spPr>
          <a:xfrm>
            <a:off x="0" y="4001467"/>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оптимизация потребления бензина в автомобилях (</a:t>
            </a:r>
            <a:r>
              <a:rPr lang="ru-RU" sz="2800" i="1" dirty="0"/>
              <a:t>NOK, </a:t>
            </a:r>
            <a:r>
              <a:rPr lang="ru-RU" sz="2800" i="1" dirty="0" err="1"/>
              <a:t>Nippon</a:t>
            </a:r>
            <a:r>
              <a:rPr lang="ru-RU" sz="2800" i="1" dirty="0"/>
              <a:t> </a:t>
            </a:r>
            <a:r>
              <a:rPr lang="ru-RU" sz="2800" i="1" dirty="0" err="1"/>
              <a:t>Denki</a:t>
            </a:r>
            <a:r>
              <a:rPr lang="ru-RU" sz="2800" i="1" dirty="0"/>
              <a:t> </a:t>
            </a:r>
            <a:r>
              <a:rPr lang="ru-RU" sz="2800" i="1" dirty="0" err="1"/>
              <a:t>Tools</a:t>
            </a:r>
            <a:r>
              <a:rPr lang="ru-RU" sz="2800" dirty="0"/>
              <a:t>);</a:t>
            </a:r>
          </a:p>
        </p:txBody>
      </p:sp>
      <p:sp>
        <p:nvSpPr>
          <p:cNvPr id="6" name="TextBox 5"/>
          <p:cNvSpPr txBox="1"/>
          <p:nvPr/>
        </p:nvSpPr>
        <p:spPr>
          <a:xfrm>
            <a:off x="0" y="4955574"/>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повышение чувствительности и эффективности управления лифтами (</a:t>
            </a:r>
            <a:r>
              <a:rPr lang="ru-RU" sz="2800" i="1" dirty="0" err="1"/>
              <a:t>Fujitec</a:t>
            </a:r>
            <a:r>
              <a:rPr lang="ru-RU" sz="2800" i="1" dirty="0"/>
              <a:t>, </a:t>
            </a:r>
            <a:r>
              <a:rPr lang="ru-RU" sz="2800" i="1" dirty="0" err="1"/>
              <a:t>Hitachi</a:t>
            </a:r>
            <a:r>
              <a:rPr lang="ru-RU" sz="2800" i="1" dirty="0"/>
              <a:t>, </a:t>
            </a:r>
            <a:r>
              <a:rPr lang="ru-RU" sz="2800" i="1" dirty="0" err="1"/>
              <a:t>Toshiba</a:t>
            </a:r>
            <a:r>
              <a:rPr lang="ru-RU" sz="2800" dirty="0"/>
              <a:t>);</a:t>
            </a:r>
          </a:p>
        </p:txBody>
      </p:sp>
      <p:sp>
        <p:nvSpPr>
          <p:cNvPr id="7" name="TextBox 6"/>
          <p:cNvSpPr txBox="1"/>
          <p:nvPr/>
        </p:nvSpPr>
        <p:spPr>
          <a:xfrm>
            <a:off x="0" y="5984616"/>
            <a:ext cx="8955314"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повышение безопасности ядерных реакторов (</a:t>
            </a:r>
            <a:r>
              <a:rPr lang="ru-RU" sz="2800" i="1" dirty="0" err="1"/>
              <a:t>Hitachi</a:t>
            </a:r>
            <a:r>
              <a:rPr lang="ru-RU" sz="2800" i="1" dirty="0"/>
              <a:t>, </a:t>
            </a:r>
            <a:r>
              <a:rPr lang="ru-RU" sz="2800" i="1" dirty="0" err="1"/>
              <a:t>Bernard</a:t>
            </a:r>
            <a:r>
              <a:rPr lang="ru-RU" sz="2800" i="1" dirty="0"/>
              <a:t>, </a:t>
            </a:r>
            <a:r>
              <a:rPr lang="ru-RU" sz="2800" i="1" dirty="0" err="1"/>
              <a:t>Nuclear</a:t>
            </a:r>
            <a:r>
              <a:rPr lang="ru-RU" sz="2800" i="1" dirty="0"/>
              <a:t> </a:t>
            </a:r>
            <a:r>
              <a:rPr lang="ru-RU" sz="2800" i="1" dirty="0" err="1"/>
              <a:t>Fuel</a:t>
            </a:r>
            <a:r>
              <a:rPr lang="ru-RU" sz="2800" i="1" dirty="0"/>
              <a:t> </a:t>
            </a:r>
            <a:r>
              <a:rPr lang="ru-RU" sz="2800" i="1" dirty="0" err="1"/>
              <a:t>div</a:t>
            </a:r>
            <a:r>
              <a:rPr lang="ru-RU" sz="2800" dirty="0"/>
              <a:t>.).</a:t>
            </a:r>
          </a:p>
        </p:txBody>
      </p:sp>
    </p:spTree>
    <p:extLst>
      <p:ext uri="{BB962C8B-B14F-4D97-AF65-F5344CB8AC3E}">
        <p14:creationId xmlns:p14="http://schemas.microsoft.com/office/powerpoint/2010/main" val="241503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384995"/>
          </a:xfrm>
          <a:prstGeom prst="rect">
            <a:avLst/>
          </a:prstGeom>
          <a:noFill/>
        </p:spPr>
        <p:txBody>
          <a:bodyPr wrap="square" rtlCol="0">
            <a:spAutoFit/>
          </a:bodyPr>
          <a:lstStyle/>
          <a:p>
            <a:r>
              <a:rPr lang="ru-RU" sz="2800" dirty="0"/>
              <a:t>Для реализации нечеткого моделирования в среде </a:t>
            </a:r>
            <a:r>
              <a:rPr lang="ru-RU" sz="2800" i="1" u="sng" dirty="0">
                <a:hlinkClick r:id="rId2"/>
              </a:rPr>
              <a:t>MATLAB</a:t>
            </a:r>
            <a:r>
              <a:rPr lang="ru-RU" sz="2800" i="1" dirty="0"/>
              <a:t> </a:t>
            </a:r>
            <a:r>
              <a:rPr lang="ru-RU" sz="2800" dirty="0"/>
              <a:t>используется пакет расширения </a:t>
            </a:r>
            <a:r>
              <a:rPr lang="ru-RU" sz="2800" i="1" dirty="0" err="1"/>
              <a:t>Fuzzy</a:t>
            </a:r>
            <a:r>
              <a:rPr lang="ru-RU" sz="2800" i="1" dirty="0"/>
              <a:t> </a:t>
            </a:r>
            <a:r>
              <a:rPr lang="ru-RU" sz="2800" i="1" dirty="0" err="1"/>
              <a:t>Logic</a:t>
            </a:r>
            <a:r>
              <a:rPr lang="ru-RU" sz="2800" i="1" dirty="0"/>
              <a:t> </a:t>
            </a:r>
            <a:r>
              <a:rPr lang="ru-RU" sz="2800" i="1" dirty="0" err="1"/>
              <a:t>Toolbox</a:t>
            </a:r>
            <a:endParaRPr lang="ru-RU" sz="2800" dirty="0"/>
          </a:p>
        </p:txBody>
      </p:sp>
      <p:sp>
        <p:nvSpPr>
          <p:cNvPr id="3" name="TextBox 2"/>
          <p:cNvSpPr txBox="1"/>
          <p:nvPr/>
        </p:nvSpPr>
        <p:spPr>
          <a:xfrm>
            <a:off x="0" y="1248229"/>
            <a:ext cx="9144000" cy="2246769"/>
          </a:xfrm>
          <a:prstGeom prst="rect">
            <a:avLst/>
          </a:prstGeom>
          <a:noFill/>
        </p:spPr>
        <p:txBody>
          <a:bodyPr wrap="square" rtlCol="0">
            <a:spAutoFit/>
          </a:bodyPr>
          <a:lstStyle/>
          <a:p>
            <a:r>
              <a:rPr lang="ru-RU" sz="2800" dirty="0"/>
              <a:t>Пакет содержит инструменты для проектирования систем нечеткой логики. Он включает графический интерфейс для интерактивного пошагового проектирования нечетких систем, блоки для моделирования работы систем нечеткой логики в </a:t>
            </a:r>
            <a:r>
              <a:rPr lang="ru-RU" sz="2800" i="1" u="sng" dirty="0" err="1">
                <a:hlinkClick r:id="rId3"/>
              </a:rPr>
              <a:t>Simulink</a:t>
            </a:r>
            <a:r>
              <a:rPr lang="ru-RU" sz="2800" dirty="0"/>
              <a:t>.</a:t>
            </a:r>
          </a:p>
        </p:txBody>
      </p:sp>
      <p:sp>
        <p:nvSpPr>
          <p:cNvPr id="4" name="TextBox 3"/>
          <p:cNvSpPr txBox="1"/>
          <p:nvPr/>
        </p:nvSpPr>
        <p:spPr>
          <a:xfrm>
            <a:off x="0" y="3494998"/>
            <a:ext cx="9144000" cy="523220"/>
          </a:xfrm>
          <a:prstGeom prst="rect">
            <a:avLst/>
          </a:prstGeom>
          <a:noFill/>
        </p:spPr>
        <p:txBody>
          <a:bodyPr wrap="square" rtlCol="0">
            <a:spAutoFit/>
          </a:bodyPr>
          <a:lstStyle/>
          <a:p>
            <a:r>
              <a:rPr lang="ru-RU" sz="2800" dirty="0"/>
              <a:t>Основные возможности системы: </a:t>
            </a:r>
          </a:p>
        </p:txBody>
      </p:sp>
      <p:sp>
        <p:nvSpPr>
          <p:cNvPr id="5" name="TextBox 4"/>
          <p:cNvSpPr txBox="1"/>
          <p:nvPr/>
        </p:nvSpPr>
        <p:spPr>
          <a:xfrm>
            <a:off x="65314" y="4018218"/>
            <a:ext cx="9013371" cy="954107"/>
          </a:xfrm>
          <a:prstGeom prst="rect">
            <a:avLst/>
          </a:prstGeom>
          <a:noFill/>
        </p:spPr>
        <p:txBody>
          <a:bodyPr wrap="square" rtlCol="0">
            <a:spAutoFit/>
          </a:bodyPr>
          <a:lstStyle/>
          <a:p>
            <a:pPr marL="457200" lvl="0" indent="-457200" hangingPunct="0">
              <a:buFont typeface="Arial" panose="020B0604020202020204" pitchFamily="34" charset="0"/>
              <a:buChar char="•"/>
            </a:pPr>
            <a:r>
              <a:rPr lang="ru-RU" sz="2800" dirty="0"/>
              <a:t>определение переменных, нечетких правил и функций принадлежности; </a:t>
            </a:r>
          </a:p>
        </p:txBody>
      </p:sp>
      <p:sp>
        <p:nvSpPr>
          <p:cNvPr id="6" name="Прямоугольник 5"/>
          <p:cNvSpPr/>
          <p:nvPr/>
        </p:nvSpPr>
        <p:spPr>
          <a:xfrm>
            <a:off x="90715" y="4972325"/>
            <a:ext cx="8987970" cy="954107"/>
          </a:xfrm>
          <a:prstGeom prst="rect">
            <a:avLst/>
          </a:prstGeom>
        </p:spPr>
        <p:txBody>
          <a:bodyPr wrap="square">
            <a:spAutoFit/>
          </a:bodyPr>
          <a:lstStyle/>
          <a:p>
            <a:pPr marL="457200" lvl="0" indent="-457200" hangingPunct="0">
              <a:buFont typeface="Arial" panose="020B0604020202020204" pitchFamily="34" charset="0"/>
              <a:buChar char="•"/>
            </a:pPr>
            <a:r>
              <a:rPr lang="ru-RU" sz="2800" dirty="0"/>
              <a:t>интерактивный просмотр нечеткого логического вывода; </a:t>
            </a:r>
          </a:p>
        </p:txBody>
      </p:sp>
    </p:spTree>
    <p:extLst>
      <p:ext uri="{BB962C8B-B14F-4D97-AF65-F5344CB8AC3E}">
        <p14:creationId xmlns:p14="http://schemas.microsoft.com/office/powerpoint/2010/main" val="61807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32229"/>
            <a:ext cx="9144000" cy="1384995"/>
          </a:xfrm>
          <a:prstGeom prst="rect">
            <a:avLst/>
          </a:prstGeom>
          <a:noFill/>
        </p:spPr>
        <p:txBody>
          <a:bodyPr wrap="square" rtlCol="0">
            <a:spAutoFit/>
          </a:bodyPr>
          <a:lstStyle/>
          <a:p>
            <a:pPr marL="457200" lvl="0" indent="-457200" hangingPunct="0">
              <a:buFont typeface="Arial" panose="020B0604020202020204" pitchFamily="34" charset="0"/>
              <a:buChar char="•"/>
            </a:pPr>
            <a:r>
              <a:rPr lang="ru-RU" sz="2800" dirty="0"/>
              <a:t>современные методы: адаптивный нечеткий вывод с использованием нейронных сетей, нечеткая кластеризация; </a:t>
            </a:r>
          </a:p>
        </p:txBody>
      </p:sp>
      <p:sp>
        <p:nvSpPr>
          <p:cNvPr id="3" name="TextBox 2"/>
          <p:cNvSpPr txBox="1"/>
          <p:nvPr/>
        </p:nvSpPr>
        <p:spPr>
          <a:xfrm>
            <a:off x="0" y="1727200"/>
            <a:ext cx="9027886" cy="954107"/>
          </a:xfrm>
          <a:prstGeom prst="rect">
            <a:avLst/>
          </a:prstGeom>
          <a:noFill/>
        </p:spPr>
        <p:txBody>
          <a:bodyPr wrap="square" rtlCol="0">
            <a:spAutoFit/>
          </a:bodyPr>
          <a:lstStyle/>
          <a:p>
            <a:pPr marL="457200" lvl="0" indent="-457200" hangingPunct="0">
              <a:buFont typeface="Arial" panose="020B0604020202020204" pitchFamily="34" charset="0"/>
              <a:buChar char="•"/>
            </a:pPr>
            <a:r>
              <a:rPr lang="ru-RU" sz="2800" dirty="0"/>
              <a:t>интерактивное динамическое моделирование в </a:t>
            </a:r>
            <a:r>
              <a:rPr lang="ru-RU" sz="2800" i="1" dirty="0" err="1"/>
              <a:t>Simulink</a:t>
            </a:r>
            <a:r>
              <a:rPr lang="ru-RU" sz="2800" dirty="0"/>
              <a:t>;</a:t>
            </a:r>
          </a:p>
        </p:txBody>
      </p:sp>
      <p:sp>
        <p:nvSpPr>
          <p:cNvPr id="4" name="TextBox 3"/>
          <p:cNvSpPr txBox="1"/>
          <p:nvPr/>
        </p:nvSpPr>
        <p:spPr>
          <a:xfrm>
            <a:off x="0" y="2791283"/>
            <a:ext cx="9144000" cy="954107"/>
          </a:xfrm>
          <a:prstGeom prst="rect">
            <a:avLst/>
          </a:prstGeom>
          <a:noFill/>
        </p:spPr>
        <p:txBody>
          <a:bodyPr wrap="square" rtlCol="0">
            <a:spAutoFit/>
          </a:bodyPr>
          <a:lstStyle/>
          <a:p>
            <a:pPr marL="457200" indent="-457200">
              <a:buFont typeface="Arial" panose="020B0604020202020204" pitchFamily="34" charset="0"/>
              <a:buChar char="•"/>
            </a:pPr>
            <a:r>
              <a:rPr lang="ru-RU" sz="2800" dirty="0"/>
              <a:t>генерация переносимого кода языка С++ с помощью </a:t>
            </a:r>
            <a:r>
              <a:rPr lang="ru-RU" sz="2800" i="1" dirty="0" err="1"/>
              <a:t>Real-Time</a:t>
            </a:r>
            <a:r>
              <a:rPr lang="ru-RU" sz="2800" i="1" dirty="0"/>
              <a:t> </a:t>
            </a:r>
            <a:r>
              <a:rPr lang="ru-RU" sz="2800" i="1" dirty="0" err="1"/>
              <a:t>Workshop</a:t>
            </a:r>
            <a:r>
              <a:rPr lang="ru-RU" sz="2800" dirty="0"/>
              <a:t>. </a:t>
            </a:r>
          </a:p>
        </p:txBody>
      </p:sp>
    </p:spTree>
    <p:extLst>
      <p:ext uri="{BB962C8B-B14F-4D97-AF65-F5344CB8AC3E}">
        <p14:creationId xmlns:p14="http://schemas.microsoft.com/office/powerpoint/2010/main" val="424985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925</TotalTime>
  <Words>4937</Words>
  <Application>Microsoft Office PowerPoint</Application>
  <PresentationFormat>Экран (4:3)</PresentationFormat>
  <Paragraphs>285</Paragraphs>
  <Slides>57</Slides>
  <Notes>1</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57</vt:i4>
      </vt:variant>
    </vt:vector>
  </HeadingPairs>
  <TitlesOfParts>
    <vt:vector size="65" baseType="lpstr">
      <vt:lpstr>Arial</vt:lpstr>
      <vt:lpstr>Calibri</vt:lpstr>
      <vt:lpstr>Calibri Light</vt:lpstr>
      <vt:lpstr>Cambria Math</vt:lpstr>
      <vt:lpstr>Symbol</vt:lpstr>
      <vt:lpstr>Times New Roman</vt:lpstr>
      <vt:lpstr>Тема Office</vt:lpstr>
      <vt:lpstr>Уравнение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Home</dc:creator>
  <cp:lastModifiedBy>Home</cp:lastModifiedBy>
  <cp:revision>71</cp:revision>
  <dcterms:created xsi:type="dcterms:W3CDTF">2017-03-18T06:54:15Z</dcterms:created>
  <dcterms:modified xsi:type="dcterms:W3CDTF">2024-03-10T15:52:12Z</dcterms:modified>
</cp:coreProperties>
</file>